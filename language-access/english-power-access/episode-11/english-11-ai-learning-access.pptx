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502aa8c77c4ba9" /><Relationship Type="http://schemas.openxmlformats.org/officeDocument/2006/relationships/extended-properties" Target="/docProps/app.xml" Id="R17029a4ec81d4993" /><Relationship Type="http://schemas.openxmlformats.org/officeDocument/2006/relationships/officeDocument" Target="/ppt/presentation.xml" Id="R0b88189adf9f43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8f1f8ea2594ace"/>
  </p:sldMasterIdLst>
  <p:notesMasterIdLst>
    <p:notesMasterId xmlns:r="http://schemas.openxmlformats.org/officeDocument/2006/relationships" r:id="Ra27c443066dc4d3a"/>
  </p:notesMasterIdLst>
  <p:sldIdLst>
    <p:sldId xmlns:r="http://schemas.openxmlformats.org/officeDocument/2006/relationships" id="256" r:id="Ra81d8fc406524d3d"/>
    <p:sldId xmlns:r="http://schemas.openxmlformats.org/officeDocument/2006/relationships" id="257" r:id="Rc08f33a1fec94546"/>
    <p:sldId xmlns:r="http://schemas.openxmlformats.org/officeDocument/2006/relationships" id="258" r:id="R9efb7a613cfa4e1d"/>
    <p:sldId xmlns:r="http://schemas.openxmlformats.org/officeDocument/2006/relationships" id="259" r:id="Rdf9b1fcded574904"/>
    <p:sldId xmlns:r="http://schemas.openxmlformats.org/officeDocument/2006/relationships" id="260" r:id="R78364e5de1ec4d31"/>
    <p:sldId xmlns:r="http://schemas.openxmlformats.org/officeDocument/2006/relationships" id="261" r:id="R8367d8494290406f"/>
    <p:sldId xmlns:r="http://schemas.openxmlformats.org/officeDocument/2006/relationships" id="262" r:id="R07d9ceb11e0a499f"/>
    <p:sldId xmlns:r="http://schemas.openxmlformats.org/officeDocument/2006/relationships" id="263" r:id="R60b13bea083049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f572ec808743f5" /><Relationship Type="http://schemas.openxmlformats.org/officeDocument/2006/relationships/slideMaster" Target="/ppt/slideMasters/slideMaster1.xml" Id="Rae8f1f8ea2594ace" /><Relationship Type="http://schemas.openxmlformats.org/officeDocument/2006/relationships/notesMaster" Target="/ppt/notesMasters/notesMaster1.xml" Id="Ra27c443066dc4d3a" /><Relationship Type="http://schemas.openxmlformats.org/officeDocument/2006/relationships/presProps" Target="/ppt/presProps.xml" Id="R8880316fa09a4f06" /><Relationship Type="http://schemas.openxmlformats.org/officeDocument/2006/relationships/tableStyles" Target="/ppt/tableStyles.xml" Id="R9b2c8adbbeda475f" /><Relationship Type="http://schemas.openxmlformats.org/officeDocument/2006/relationships/slide" Target="/ppt/slides/slide1.xml" Id="Ra81d8fc406524d3d" /><Relationship Type="http://schemas.openxmlformats.org/officeDocument/2006/relationships/slide" Target="/ppt/slides/slide2.xml" Id="Rc08f33a1fec94546" /><Relationship Type="http://schemas.openxmlformats.org/officeDocument/2006/relationships/slide" Target="/ppt/slides/slide3.xml" Id="R9efb7a613cfa4e1d" /><Relationship Type="http://schemas.openxmlformats.org/officeDocument/2006/relationships/slide" Target="/ppt/slides/slide4.xml" Id="Rdf9b1fcded574904" /><Relationship Type="http://schemas.openxmlformats.org/officeDocument/2006/relationships/slide" Target="/ppt/slides/slide5.xml" Id="R78364e5de1ec4d31" /><Relationship Type="http://schemas.openxmlformats.org/officeDocument/2006/relationships/slide" Target="/ppt/slides/slide6.xml" Id="R8367d8494290406f" /><Relationship Type="http://schemas.openxmlformats.org/officeDocument/2006/relationships/slide" Target="/ppt/slides/slide7.xml" Id="R07d9ceb11e0a499f" /><Relationship Type="http://schemas.openxmlformats.org/officeDocument/2006/relationships/slide" Target="/ppt/slides/slide8.xml" Id="R60b13bea083049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96ddd1af2246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d09d800c0d4f0c" /><Relationship Type="http://schemas.openxmlformats.org/officeDocument/2006/relationships/notesMaster" Target="/ppt/notesMasters/notesMaster1.xml" Id="R5011fa2649314d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46569ca4684f33" /><Relationship Type="http://schemas.openxmlformats.org/officeDocument/2006/relationships/notesMaster" Target="/ppt/notesMasters/notesMaster1.xml" Id="Rb7d3eda977a842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e02ddeafeb4b95" /><Relationship Type="http://schemas.openxmlformats.org/officeDocument/2006/relationships/notesMaster" Target="/ppt/notesMasters/notesMaster1.xml" Id="Rd387460d91a44f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1f2636ee234848" /><Relationship Type="http://schemas.openxmlformats.org/officeDocument/2006/relationships/notesMaster" Target="/ppt/notesMasters/notesMaster1.xml" Id="Rf36b9fc63b8541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cd349f7bdb44f5" /><Relationship Type="http://schemas.openxmlformats.org/officeDocument/2006/relationships/notesMaster" Target="/ppt/notesMasters/notesMaster1.xml" Id="R06e9cc4dee0b45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f0f8658edb46fd" /><Relationship Type="http://schemas.openxmlformats.org/officeDocument/2006/relationships/notesMaster" Target="/ppt/notesMasters/notesMaster1.xml" Id="R1eb8c171b3884d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c607f7fd2d442d" /><Relationship Type="http://schemas.openxmlformats.org/officeDocument/2006/relationships/notesMaster" Target="/ppt/notesMasters/notesMaster1.xml" Id="R55f4fb81682942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32cdb79a2646e5" /><Relationship Type="http://schemas.openxmlformats.org/officeDocument/2006/relationships/notesMaster" Target="/ppt/notesMasters/notesMaster1.xml" Id="R7a6e1963b3c645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AI can support learning.</a:t>
            </a:r>
          </a:p>
          <a:p xmlns:a="http://schemas.openxmlformats.org/drawingml/2006/main">
            <a:r>
              <a:t>Evidence: Outcomes vary by design.</a:t>
            </a:r>
          </a:p>
          <a:p xmlns:a="http://schemas.openxmlformats.org/drawingml/2006/main">
            <a:r>
              <a:t>Inference: Access needs guardrails.</a:t>
            </a:r>
          </a:p>
          <a:p xmlns:a="http://schemas.openxmlformats.org/drawingml/2006/main">
            <a:r>
              <a:t>Unproven: AI democratises everything.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https://www.unesco.org/en/articles/guidance-generative-ai-education-and-research</a:t>
            </a:r>
          </a:p>
          <a:p xmlns:a="http://schemas.openxmlformats.org/drawingml/2006/main">
            <a:r>
              <a:t>https://doi.org/10.1038/s41598-025-97652-6</a:t>
            </a:r>
          </a:p>
          <a:p xmlns:a="http://schemas.openxmlformats.org/drawingml/2006/main">
            <a:r>
              <a:t>https://doi.org/10.1073/pnas.2422633122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GenAI offers learning uses.</a:t>
            </a:r>
          </a:p>
          <a:p xmlns:a="http://schemas.openxmlformats.org/drawingml/2006/main">
            <a:r>
              <a:t>Evidence: Access remains unequal.</a:t>
            </a:r>
          </a:p>
          <a:p xmlns:a="http://schemas.openxmlformats.org/drawingml/2006/main">
            <a:r>
              <a:t>Evidence: Language coverage varies.</a:t>
            </a:r>
          </a:p>
          <a:p xmlns:a="http://schemas.openxmlformats.org/drawingml/2006/main">
            <a:r>
              <a:t>Inference: Cheap practice may expand.</a:t>
            </a:r>
          </a:p>
          <a:p xmlns:a="http://schemas.openxmlformats.org/drawingml/2006/main">
            <a:r>
              <a:t>Unproven: Access ensures achievement.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https://www.unesco.org/en/articles/guidance-generative-ai-education-and-research</a:t>
            </a:r>
          </a:p>
          <a:p xmlns:a="http://schemas.openxmlformats.org/drawingml/2006/main">
            <a:r>
              <a:t>https://unesdoc.unesco.org/ark:/48223/pf0000386693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Hints can protect learning.</a:t>
            </a:r>
          </a:p>
          <a:p xmlns:a="http://schemas.openxmlformats.org/drawingml/2006/main">
            <a:r>
              <a:t>Evidence: Human agency matters.</a:t>
            </a:r>
          </a:p>
          <a:p xmlns:a="http://schemas.openxmlformats.org/drawingml/2006/main">
            <a:r>
              <a:t>Inference: Attempts reveal misconceptions.</a:t>
            </a:r>
          </a:p>
          <a:p xmlns:a="http://schemas.openxmlformats.org/drawingml/2006/main">
            <a:r>
              <a:t>Inference: Explanation tests independence.</a:t>
            </a:r>
          </a:p>
          <a:p xmlns:a="http://schemas.openxmlformats.org/drawingml/2006/main">
            <a:r>
              <a:t>Unproven: One loop fits everyone.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https://doi.org/10.1073/pnas.2422633122</a:t>
            </a:r>
          </a:p>
          <a:p xmlns:a="http://schemas.openxmlformats.org/drawingml/2006/main">
            <a:r>
              <a:t>https://www.unesco.org/en/articles/guidance-generative-ai-education-and-research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Researchers ran an RCT.</a:t>
            </a:r>
          </a:p>
          <a:p xmlns:a="http://schemas.openxmlformats.org/drawingml/2006/main">
            <a:r>
              <a:t>Evidence: Students learned more.</a:t>
            </a:r>
          </a:p>
          <a:p xmlns:a="http://schemas.openxmlformats.org/drawingml/2006/main">
            <a:r>
              <a:t>Evidence: Students used less time.</a:t>
            </a:r>
          </a:p>
          <a:p xmlns:a="http://schemas.openxmlformats.org/drawingml/2006/main">
            <a:r>
              <a:t>Evidence: Engagement also improved.</a:t>
            </a:r>
          </a:p>
          <a:p xmlns:a="http://schemas.openxmlformats.org/drawingml/2006/main">
            <a:r>
              <a:t>Limit: One college physics course.</a:t>
            </a:r>
          </a:p>
          <a:p xmlns:a="http://schemas.openxmlformats.org/drawingml/2006/main">
            <a:r>
              <a:t>Unproven: Results generalise everywhere.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https://doi.org/10.1038/s41598-025-97652-6</a:t>
            </a:r>
          </a:p>
          <a:p xmlns:a="http://schemas.openxmlformats.org/drawingml/2006/main">
            <a:r>
              <a:t>https://serl.fas.harvard.edu/publication/ai-tutoring-outperforms-class-active-learning-rct-introducing-novel-research-based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Nearly 1,000 students participated.</a:t>
            </a:r>
          </a:p>
          <a:p xmlns:a="http://schemas.openxmlformats.org/drawingml/2006/main">
            <a:r>
              <a:t>Evidence: Practice grades rose.</a:t>
            </a:r>
          </a:p>
          <a:p xmlns:a="http://schemas.openxmlformats.org/drawingml/2006/main">
            <a:r>
              <a:t>Evidence: Open-chat exams fell 17%.</a:t>
            </a:r>
          </a:p>
          <a:p xmlns:a="http://schemas.openxmlformats.org/drawingml/2006/main">
            <a:r>
              <a:t>Evidence: Guardrails removed this harm.</a:t>
            </a:r>
          </a:p>
          <a:p xmlns:a="http://schemas.openxmlformats.org/drawingml/2006/main">
            <a:r>
              <a:t>Limit: No positive exam gain.</a:t>
            </a:r>
          </a:p>
          <a:p xmlns:a="http://schemas.openxmlformats.org/drawingml/2006/main">
            <a:r>
              <a:t>Unproven: All chatbots harm learning.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https://doi.org/10.1073/pnas.2422633122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Models can hallucinate.</a:t>
            </a:r>
          </a:p>
          <a:p xmlns:a="http://schemas.openxmlformats.org/drawingml/2006/main">
            <a:r>
              <a:t>Evidence: Training data carries bias.</a:t>
            </a:r>
          </a:p>
          <a:p xmlns:a="http://schemas.openxmlformats.org/drawingml/2006/main">
            <a:r>
              <a:t>Evidence: Languages remain unevenly represented.</a:t>
            </a:r>
          </a:p>
          <a:p xmlns:a="http://schemas.openxmlformats.org/drawingml/2006/main">
            <a:r>
              <a:t>Inference: Local examples need review.</a:t>
            </a:r>
          </a:p>
          <a:p xmlns:a="http://schemas.openxmlformats.org/drawingml/2006/main">
            <a:r>
              <a:t>Unproven: Fluency signals accuracy.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https://www.unesco.org/en/articles/guidance-generative-ai-education-and-research</a:t>
            </a:r>
          </a:p>
          <a:p xmlns:a="http://schemas.openxmlformats.org/drawingml/2006/main">
            <a:r>
              <a:t>https://unesdoc.unesco.org/ark:/48223/pf0000386693</a:t>
            </a:r>
          </a:p>
          <a:p xmlns:a="http://schemas.openxmlformats.org/drawingml/2006/main">
            <a:r>
              <a:t>https://doi.org/10.1073/pnas.2422633122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UNESCO prioritises privacy.</a:t>
            </a:r>
          </a:p>
          <a:p xmlns:a="http://schemas.openxmlformats.org/drawingml/2006/main">
            <a:r>
              <a:t>Evidence: Consent needs protection.</a:t>
            </a:r>
          </a:p>
          <a:p xmlns:a="http://schemas.openxmlformats.org/drawingml/2006/main">
            <a:r>
              <a:t>Evidence: Access gaps persist.</a:t>
            </a:r>
          </a:p>
          <a:p xmlns:a="http://schemas.openxmlformats.org/drawingml/2006/main">
            <a:r>
              <a:t>Evidence: EU transparency rules apply.</a:t>
            </a:r>
          </a:p>
          <a:p xmlns:a="http://schemas.openxmlformats.org/drawingml/2006/main">
            <a:r>
              <a:t>Inference: Disclosure supports informed choice.</a:t>
            </a:r>
          </a:p>
          <a:p xmlns:a="http://schemas.openxmlformats.org/drawingml/2006/main">
            <a:r>
              <a:t>Unproven: Policies remove every risk.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https://www.unesco.org/en/articles/guidance-generative-ai-education-and-research</a:t>
            </a:r>
          </a:p>
          <a:p xmlns:a="http://schemas.openxmlformats.org/drawingml/2006/main">
            <a:r>
              <a:t>https://digital-strategy.ec.europa.eu/en/policies/regulatory-framework-ai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Design changes outcomes.</a:t>
            </a:r>
          </a:p>
          <a:p xmlns:a="http://schemas.openxmlformats.org/drawingml/2006/main">
            <a:r>
              <a:t>Evidence: Privacy requires protection.</a:t>
            </a:r>
          </a:p>
          <a:p xmlns:a="http://schemas.openxmlformats.org/drawingml/2006/main">
            <a:r>
              <a:t>Inference: Visible attempts preserve agency.</a:t>
            </a:r>
          </a:p>
          <a:p xmlns:a="http://schemas.openxmlformats.org/drawingml/2006/main">
            <a:r>
              <a:t>Unproven: AI equalises education alone.</a:t>
            </a:r>
          </a:p>
          <a:p xmlns:a="http://schemas.openxmlformats.org/drawingml/2006/main">
            <a:r>
              <a:t>Action: Demonstrate independent performance.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https://www.unesco.org/en/articles/guidance-generative-ai-education-and-research</a:t>
            </a:r>
          </a:p>
          <a:p xmlns:a="http://schemas.openxmlformats.org/drawingml/2006/main">
            <a:r>
              <a:t>https://doi.org/10.1038/s41598-025-97652-6</a:t>
            </a:r>
          </a:p>
          <a:p xmlns:a="http://schemas.openxmlformats.org/drawingml/2006/main">
            <a:r>
              <a:t>https://doi.org/10.1073/pnas.2422633122</a:t>
            </a:r>
          </a:p>
          <a:p xmlns:a="http://schemas.openxmlformats.org/drawingml/2006/main">
            <a:r>
              <a:t>https://digital-strategy.ec.europa.eu/en/policies/regulatory-framework-ai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9a370c49049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033d2c73694970" /><Relationship Type="http://schemas.openxmlformats.org/officeDocument/2006/relationships/slideLayout" Target="/ppt/slideLayouts/slideLayout1.xml" Id="R018b3b24b4ed45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8b3b24b4ed45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cd5fa2a3e4d63" /><Relationship Type="http://schemas.openxmlformats.org/officeDocument/2006/relationships/image" Target="/ppt/media/image.png" Id="R5e8a250f7e1e41e5" /><Relationship Type="http://schemas.openxmlformats.org/officeDocument/2006/relationships/notesSlide" Target="/ppt/notesSlides/notesSlide1.xml" Id="R895a1aeef3da41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f89668b77452d" /><Relationship Type="http://schemas.openxmlformats.org/officeDocument/2006/relationships/notesSlide" Target="/ppt/notesSlides/notesSlide2.xml" Id="R546b09babf6641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17f0175b84065" /><Relationship Type="http://schemas.openxmlformats.org/officeDocument/2006/relationships/notesSlide" Target="/ppt/notesSlides/notesSlide3.xml" Id="R624037cc84354c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22280783840bc" /><Relationship Type="http://schemas.openxmlformats.org/officeDocument/2006/relationships/notesSlide" Target="/ppt/notesSlides/notesSlide4.xml" Id="R2554b5c9774541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15f8b01894a24" /><Relationship Type="http://schemas.openxmlformats.org/officeDocument/2006/relationships/notesSlide" Target="/ppt/notesSlides/notesSlide5.xml" Id="R99de439f04f24a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cecdd25574d99" /><Relationship Type="http://schemas.openxmlformats.org/officeDocument/2006/relationships/notesSlide" Target="/ppt/notesSlides/notesSlide6.xml" Id="R4a725ba54fca4d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7a87bfd5f475c" /><Relationship Type="http://schemas.openxmlformats.org/officeDocument/2006/relationships/notesSlide" Target="/ppt/notesSlides/notesSlide7.xml" Id="Racd03db3cf1f49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490eb111e4a8c" /><Relationship Type="http://schemas.openxmlformats.org/officeDocument/2006/relationships/notesSlide" Target="/ppt/notesSlides/notesSlide8.xml" Id="Ra8d1a43f0db24d1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a250f7e1e41e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AB158A91-8080-4DE4-8879-10AB0E7C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00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ENGLISH, POWER, ACCESS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CFAE29-B257-4F40-8479-22C18C12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AI And</a:t>
            </a:r>
          </a:p>
          <a:p xmlns:a="http://schemas.openxmlformats.org/drawingml/2006/main">
            <a:pPr algn="l">
              <a:def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Learning</a:t>
            </a:r>
          </a:p>
          <a:p xmlns:a="http://schemas.openxmlformats.org/drawingml/2006/main">
            <a:pPr algn="l">
              <a:def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Access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7EE71902-6C49-4631-A20C-063D0603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ACCESS GROWS. LEARNING VARIES.</a:t>
            </a:r>
          </a:p>
        </p:txBody>
      </p:sp>
      <p:sp>
        <p:nvSpPr>
          <p:cNvPr id="5" name="tag">
            <a:extLst xmlns:a="http://schemas.openxmlformats.org/drawingml/2006/main">
              <a:ext uri="{FF2B5EF4-FFF2-40B4-BE49-F238E27FC236}">
                <a16:creationId xmlns:a16="http://schemas.microsoft.com/office/drawing/2014/main" id="{28FBE182-CC79-4006-ADDE-4DDB93F5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200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331"/>
          </a:solidFill>
          <a:ln xmlns:a="http://schemas.openxmlformats.org/drawingml/2006/main" w="0">
            <a:noFill/>
          </a:ln>
        </p:spPr>
      </p:sp>
      <p:sp>
        <p:nvSpPr>
          <p:cNvPr id="6" name="series">
            <a:extLst xmlns:a="http://schemas.openxmlformats.org/drawingml/2006/main">
              <a:ext uri="{FF2B5EF4-FFF2-40B4-BE49-F238E27FC236}">
                <a16:creationId xmlns:a16="http://schemas.microsoft.com/office/drawing/2014/main" id="{D84F7C85-E1A6-44A2-B2EE-7E7AD5C1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7594625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">
            <a:extLst xmlns:a="http://schemas.openxmlformats.org/drawingml/2006/main">
              <a:ext uri="{FF2B5EF4-FFF2-40B4-BE49-F238E27FC236}">
                <a16:creationId xmlns:a16="http://schemas.microsoft.com/office/drawing/2014/main" id="{6935EB7A-85E8-4677-8B9A-4D3D3EDA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AI can widen practice access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1CD6DA2C-9017-4318-AD55-34DC5ACE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286CAC16-271D-4BA7-ADED-174EC542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11 / 02</a:t>
            </a:r>
          </a:p>
        </p:txBody>
      </p:sp>
      <p:sp>
        <p:nvSpPr>
          <p:cNvPr id="4" name="card-0">
            <a:extLst xmlns:a="http://schemas.openxmlformats.org/drawingml/2006/main">
              <a:ext uri="{FF2B5EF4-FFF2-40B4-BE49-F238E27FC236}">
                <a16:creationId xmlns:a16="http://schemas.microsoft.com/office/drawing/2014/main" id="{BED3D533-FE6D-470C-B1C6-DE15373F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38400" cy="28575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band-0">
            <a:extLst xmlns:a="http://schemas.openxmlformats.org/drawingml/2006/main">
              <a:ext uri="{FF2B5EF4-FFF2-40B4-BE49-F238E27FC236}">
                <a16:creationId xmlns:a16="http://schemas.microsoft.com/office/drawing/2014/main" id="{BBC68B50-C290-4304-AA0E-0DB9CE22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6" name="k-0">
            <a:extLst xmlns:a="http://schemas.openxmlformats.org/drawingml/2006/main">
              <a:ext uri="{FF2B5EF4-FFF2-40B4-BE49-F238E27FC236}">
                <a16:creationId xmlns:a16="http://schemas.microsoft.com/office/drawing/2014/main" id="{7148A04A-D013-4C80-B8A7-766F49EC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TUTOR TIME</a:t>
            </a:r>
          </a:p>
        </p:txBody>
      </p:sp>
      <p:sp>
        <p:nvSpPr>
          <p:cNvPr id="7" name="big-0">
            <a:extLst xmlns:a="http://schemas.openxmlformats.org/drawingml/2006/main">
              <a:ext uri="{FF2B5EF4-FFF2-40B4-BE49-F238E27FC236}">
                <a16:creationId xmlns:a16="http://schemas.microsoft.com/office/drawing/2014/main" id="{2FCF19DD-7B4A-4D71-A7F6-7A0676B7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955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Faster help</a:t>
            </a:r>
          </a:p>
        </p:txBody>
      </p:sp>
      <p:sp>
        <p:nvSpPr>
          <p:cNvPr id="8" name="rule-0">
            <a:extLst xmlns:a="http://schemas.openxmlformats.org/drawingml/2006/main">
              <a:ext uri="{FF2B5EF4-FFF2-40B4-BE49-F238E27FC236}">
                <a16:creationId xmlns:a16="http://schemas.microsoft.com/office/drawing/2014/main" id="{A14D1646-B7E9-4710-A57B-18638580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9" name="small-0">
            <a:extLst xmlns:a="http://schemas.openxmlformats.org/drawingml/2006/main">
              <a:ext uri="{FF2B5EF4-FFF2-40B4-BE49-F238E27FC236}">
                <a16:creationId xmlns:a16="http://schemas.microsoft.com/office/drawing/2014/main" id="{41D6D206-88F7-48F9-8D16-98856CC7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Waiting can shrink.</a:t>
            </a:r>
          </a:p>
        </p:txBody>
      </p:sp>
      <p:sp>
        <p:nvSpPr>
          <p:cNvPr id="10" name="card-1">
            <a:extLst xmlns:a="http://schemas.openxmlformats.org/drawingml/2006/main">
              <a:ext uri="{FF2B5EF4-FFF2-40B4-BE49-F238E27FC236}">
                <a16:creationId xmlns:a16="http://schemas.microsoft.com/office/drawing/2014/main" id="{CED2C6BA-0DB9-4509-9319-4C003E28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2438400" cy="28575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1" name="band-1">
            <a:extLst xmlns:a="http://schemas.openxmlformats.org/drawingml/2006/main">
              <a:ext uri="{FF2B5EF4-FFF2-40B4-BE49-F238E27FC236}">
                <a16:creationId xmlns:a16="http://schemas.microsoft.com/office/drawing/2014/main" id="{838594FA-14B8-4CFF-BE96-E0E7DFA0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2" name="k-1">
            <a:extLst xmlns:a="http://schemas.openxmlformats.org/drawingml/2006/main">
              <a:ext uri="{FF2B5EF4-FFF2-40B4-BE49-F238E27FC236}">
                <a16:creationId xmlns:a16="http://schemas.microsoft.com/office/drawing/2014/main" id="{01906279-F8B1-4229-B2B8-CF9A7106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43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FORMATS</a:t>
            </a:r>
          </a:p>
        </p:txBody>
      </p:sp>
      <p:sp>
        <p:nvSpPr>
          <p:cNvPr id="13" name="big-1">
            <a:extLst xmlns:a="http://schemas.openxmlformats.org/drawingml/2006/main">
              <a:ext uri="{FF2B5EF4-FFF2-40B4-BE49-F238E27FC236}">
                <a16:creationId xmlns:a16="http://schemas.microsoft.com/office/drawing/2014/main" id="{B0D04E4B-3F05-46D4-890C-011E7253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955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More explanations</a:t>
            </a:r>
          </a:p>
        </p:txBody>
      </p:sp>
      <p:sp>
        <p:nvSpPr>
          <p:cNvPr id="14" name="rule-1">
            <a:extLst xmlns:a="http://schemas.openxmlformats.org/drawingml/2006/main">
              <a:ext uri="{FF2B5EF4-FFF2-40B4-BE49-F238E27FC236}">
                <a16:creationId xmlns:a16="http://schemas.microsoft.com/office/drawing/2014/main" id="{DF131915-73EF-4CF4-A9A2-47BC1714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7662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5" name="small-1">
            <a:extLst xmlns:a="http://schemas.openxmlformats.org/drawingml/2006/main">
              <a:ext uri="{FF2B5EF4-FFF2-40B4-BE49-F238E27FC236}">
                <a16:creationId xmlns:a16="http://schemas.microsoft.com/office/drawing/2014/main" id="{10437556-007E-4D6F-8DEA-37822605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19525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Examples can change.</a:t>
            </a:r>
          </a:p>
        </p:txBody>
      </p:sp>
      <p:sp>
        <p:nvSpPr>
          <p:cNvPr id="16" name="card-2">
            <a:extLst xmlns:a="http://schemas.openxmlformats.org/drawingml/2006/main">
              <a:ext uri="{FF2B5EF4-FFF2-40B4-BE49-F238E27FC236}">
                <a16:creationId xmlns:a16="http://schemas.microsoft.com/office/drawing/2014/main" id="{983F7D13-B09E-43CF-9B4F-884F57AC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438400" cy="28575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7" name="band-2">
            <a:extLst xmlns:a="http://schemas.openxmlformats.org/drawingml/2006/main">
              <a:ext uri="{FF2B5EF4-FFF2-40B4-BE49-F238E27FC236}">
                <a16:creationId xmlns:a16="http://schemas.microsoft.com/office/drawing/2014/main" id="{F7D6699C-E44A-4AC0-91F1-968068C3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8" name="k-2">
            <a:extLst xmlns:a="http://schemas.openxmlformats.org/drawingml/2006/main">
              <a:ext uri="{FF2B5EF4-FFF2-40B4-BE49-F238E27FC236}">
                <a16:creationId xmlns:a16="http://schemas.microsoft.com/office/drawing/2014/main" id="{164751DA-73A7-4466-9AFB-FF11B128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43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PRACTICE</a:t>
            </a:r>
          </a:p>
        </p:txBody>
      </p:sp>
      <p:sp>
        <p:nvSpPr>
          <p:cNvPr id="19" name="big-2">
            <a:extLst xmlns:a="http://schemas.openxmlformats.org/drawingml/2006/main">
              <a:ext uri="{FF2B5EF4-FFF2-40B4-BE49-F238E27FC236}">
                <a16:creationId xmlns:a16="http://schemas.microsoft.com/office/drawing/2014/main" id="{93A1C29A-A6EA-4CDA-A4EA-3694D82A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955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More attempts</a:t>
            </a:r>
          </a:p>
        </p:txBody>
      </p:sp>
      <p:sp>
        <p:nvSpPr>
          <p:cNvPr id="20" name="rule-2">
            <a:extLst xmlns:a="http://schemas.openxmlformats.org/drawingml/2006/main">
              <a:ext uri="{FF2B5EF4-FFF2-40B4-BE49-F238E27FC236}">
                <a16:creationId xmlns:a16="http://schemas.microsoft.com/office/drawing/2014/main" id="{01115899-FD70-4EE1-B822-921B9942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7662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21" name="small-2">
            <a:extLst xmlns:a="http://schemas.openxmlformats.org/drawingml/2006/main">
              <a:ext uri="{FF2B5EF4-FFF2-40B4-BE49-F238E27FC236}">
                <a16:creationId xmlns:a16="http://schemas.microsoft.com/office/drawing/2014/main" id="{0B686035-B44E-4BC0-B894-8A7DE4C4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9525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Feedback can repeat.</a:t>
            </a:r>
          </a:p>
        </p:txBody>
      </p:sp>
      <p:sp>
        <p:nvSpPr>
          <p:cNvPr id="22" name="card-3">
            <a:extLst xmlns:a="http://schemas.openxmlformats.org/drawingml/2006/main">
              <a:ext uri="{FF2B5EF4-FFF2-40B4-BE49-F238E27FC236}">
                <a16:creationId xmlns:a16="http://schemas.microsoft.com/office/drawing/2014/main" id="{E40C0D93-32C4-409B-9182-34FF1474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438400" cy="28575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23" name="band-3">
            <a:extLst xmlns:a="http://schemas.openxmlformats.org/drawingml/2006/main">
              <a:ext uri="{FF2B5EF4-FFF2-40B4-BE49-F238E27FC236}">
                <a16:creationId xmlns:a16="http://schemas.microsoft.com/office/drawing/2014/main" id="{3187F1D1-9C3B-4001-ABAB-5D1AF648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438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24" name="k-3">
            <a:extLst xmlns:a="http://schemas.openxmlformats.org/drawingml/2006/main">
              <a:ext uri="{FF2B5EF4-FFF2-40B4-BE49-F238E27FC236}">
                <a16:creationId xmlns:a16="http://schemas.microsoft.com/office/drawing/2014/main" id="{9FB1BE32-E83E-4C8C-ABC4-6C7E1BAD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43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LANGUAGE</a:t>
            </a:r>
          </a:p>
        </p:txBody>
      </p:sp>
      <p:sp>
        <p:nvSpPr>
          <p:cNvPr id="25" name="big-3">
            <a:extLst xmlns:a="http://schemas.openxmlformats.org/drawingml/2006/main">
              <a:ext uri="{FF2B5EF4-FFF2-40B4-BE49-F238E27FC236}">
                <a16:creationId xmlns:a16="http://schemas.microsoft.com/office/drawing/2014/main" id="{09B042C2-DB93-4F78-A84E-C2251D86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955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Translation support</a:t>
            </a:r>
          </a:p>
        </p:txBody>
      </p:sp>
      <p:sp>
        <p:nvSpPr>
          <p:cNvPr id="26" name="rule-3">
            <a:extLst xmlns:a="http://schemas.openxmlformats.org/drawingml/2006/main">
              <a:ext uri="{FF2B5EF4-FFF2-40B4-BE49-F238E27FC236}">
                <a16:creationId xmlns:a16="http://schemas.microsoft.com/office/drawing/2014/main" id="{D7A9BAF4-BDC4-47FF-85F6-18224C99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7662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27" name="small-3">
            <a:extLst xmlns:a="http://schemas.openxmlformats.org/drawingml/2006/main">
              <a:ext uri="{FF2B5EF4-FFF2-40B4-BE49-F238E27FC236}">
                <a16:creationId xmlns:a16="http://schemas.microsoft.com/office/drawing/2014/main" id="{3BC83255-941E-4E2C-953C-5467C3AD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19525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Coverage still varies.</a:t>
            </a:r>
          </a:p>
        </p:txBody>
      </p:sp>
      <p:sp>
        <p:nvSpPr>
          <p:cNvPr id="28" name="takeaway">
            <a:extLst xmlns:a="http://schemas.openxmlformats.org/drawingml/2006/main">
              <a:ext uri="{FF2B5EF4-FFF2-40B4-BE49-F238E27FC236}">
                <a16:creationId xmlns:a16="http://schemas.microsoft.com/office/drawing/2014/main" id="{1CAA77E7-B86B-4640-94AD-9F4536E2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673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Access is not equal learning.</a:t>
            </a:r>
          </a:p>
        </p:txBody>
      </p:sp>
    </p:spTree>
    <p:extLst>
      <p:ext uri="{BB962C8B-B14F-4D97-AF65-F5344CB8AC3E}">
        <p14:creationId xmlns:p14="http://schemas.microsoft.com/office/powerpoint/2010/main" val="12133947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">
            <a:extLst xmlns:a="http://schemas.openxmlformats.org/drawingml/2006/main">
              <a:ext uri="{FF2B5EF4-FFF2-40B4-BE49-F238E27FC236}">
                <a16:creationId xmlns:a16="http://schemas.microsoft.com/office/drawing/2014/main" id="{B65CE282-829F-4693-AC95-D4ABDDBE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Use AI as a scaffold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1B68BF61-20A5-4746-8910-81320F1D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078FA1B2-DED2-4B02-AAE0-C54D7FEB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/ 11 / 03</a:t>
            </a:r>
          </a:p>
        </p:txBody>
      </p:sp>
      <p:sp>
        <p:nvSpPr>
          <p:cNvPr id="4" name="line">
            <a:extLst xmlns:a="http://schemas.openxmlformats.org/drawingml/2006/main">
              <a:ext uri="{FF2B5EF4-FFF2-40B4-BE49-F238E27FC236}">
                <a16:creationId xmlns:a16="http://schemas.microsoft.com/office/drawing/2014/main" id="{BA4C988A-392B-474B-B3AC-ED792F29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47975"/>
            <a:ext cx="990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472"/>
          </a:solidFill>
          <a:ln xmlns:a="http://schemas.openxmlformats.org/drawingml/2006/main" w="0">
            <a:noFill/>
          </a:ln>
        </p:spPr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8B65E806-DEDC-418F-90DF-F987F687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57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47625">
            <a:solidFill>
              <a:srgbClr val="132331"/>
            </a:solidFill>
          </a:ln>
        </p:spPr>
      </p:sp>
      <p:sp>
        <p:nvSpPr>
          <p:cNvPr id="6" name="num-0">
            <a:extLst xmlns:a="http://schemas.openxmlformats.org/drawingml/2006/main">
              <a:ext uri="{FF2B5EF4-FFF2-40B4-BE49-F238E27FC236}">
                <a16:creationId xmlns:a16="http://schemas.microsoft.com/office/drawing/2014/main" id="{801E4726-CA86-40F7-8547-9D7D3F50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5745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7" name="k-0">
            <a:extLst xmlns:a="http://schemas.openxmlformats.org/drawingml/2006/main">
              <a:ext uri="{FF2B5EF4-FFF2-40B4-BE49-F238E27FC236}">
                <a16:creationId xmlns:a16="http://schemas.microsoft.com/office/drawing/2014/main" id="{4AD65571-7233-4B3E-9FAB-1E59FD2A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ATTEMPT</a:t>
            </a:r>
          </a:p>
        </p:txBody>
      </p:sp>
      <p:sp>
        <p:nvSpPr>
          <p:cNvPr id="8" name="v-0">
            <a:extLst xmlns:a="http://schemas.openxmlformats.org/drawingml/2006/main">
              <a:ext uri="{FF2B5EF4-FFF2-40B4-BE49-F238E27FC236}">
                <a16:creationId xmlns:a16="http://schemas.microsoft.com/office/drawing/2014/main" id="{7CBC7096-1278-40BF-9559-364F4D85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Work before asking.</a:t>
            </a:r>
          </a:p>
        </p:txBody>
      </p:sp>
      <p:sp>
        <p:nvSpPr>
          <p:cNvPr id="9" name="dot-1">
            <a:extLst xmlns:a="http://schemas.openxmlformats.org/drawingml/2006/main">
              <a:ext uri="{FF2B5EF4-FFF2-40B4-BE49-F238E27FC236}">
                <a16:creationId xmlns:a16="http://schemas.microsoft.com/office/drawing/2014/main" id="{20E5DFB2-FE8F-4366-9873-03E33314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57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47625">
            <a:solidFill>
              <a:srgbClr val="132331"/>
            </a:solidFill>
          </a:ln>
        </p:spPr>
      </p:sp>
      <p:sp>
        <p:nvSpPr>
          <p:cNvPr id="10" name="num-1">
            <a:extLst xmlns:a="http://schemas.openxmlformats.org/drawingml/2006/main">
              <a:ext uri="{FF2B5EF4-FFF2-40B4-BE49-F238E27FC236}">
                <a16:creationId xmlns:a16="http://schemas.microsoft.com/office/drawing/2014/main" id="{519291BD-0B42-4212-8CF9-482705D3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5745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1" name="k-1">
            <a:extLst xmlns:a="http://schemas.openxmlformats.org/drawingml/2006/main">
              <a:ext uri="{FF2B5EF4-FFF2-40B4-BE49-F238E27FC236}">
                <a16:creationId xmlns:a16="http://schemas.microsoft.com/office/drawing/2014/main" id="{0756BDC2-43EE-4C31-8FF1-1050A523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49567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ASK</a:t>
            </a:r>
          </a:p>
        </p:txBody>
      </p:sp>
      <p:sp>
        <p:nvSpPr>
          <p:cNvPr id="12" name="v-1">
            <a:extLst xmlns:a="http://schemas.openxmlformats.org/drawingml/2006/main">
              <a:ext uri="{FF2B5EF4-FFF2-40B4-BE49-F238E27FC236}">
                <a16:creationId xmlns:a16="http://schemas.microsoft.com/office/drawing/2014/main" id="{71F28C5E-3AEA-4588-93F7-7F6EC60E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0050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Request one hint.</a:t>
            </a:r>
          </a:p>
        </p:txBody>
      </p:sp>
      <p:sp>
        <p:nvSpPr>
          <p:cNvPr id="13" name="dot-2">
            <a:extLst xmlns:a="http://schemas.openxmlformats.org/drawingml/2006/main">
              <a:ext uri="{FF2B5EF4-FFF2-40B4-BE49-F238E27FC236}">
                <a16:creationId xmlns:a16="http://schemas.microsoft.com/office/drawing/2014/main" id="{4476AF9D-A4DE-490B-AB7D-3127B55E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457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47625">
            <a:solidFill>
              <a:srgbClr val="132331"/>
            </a:solidFill>
          </a:ln>
        </p:spPr>
      </p:sp>
      <p:sp>
        <p:nvSpPr>
          <p:cNvPr id="14" name="num-2">
            <a:extLst xmlns:a="http://schemas.openxmlformats.org/drawingml/2006/main">
              <a:ext uri="{FF2B5EF4-FFF2-40B4-BE49-F238E27FC236}">
                <a16:creationId xmlns:a16="http://schemas.microsoft.com/office/drawing/2014/main" id="{3094AF8A-FAB4-4D21-9F77-1A570700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45745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5" name="k-2">
            <a:extLst xmlns:a="http://schemas.openxmlformats.org/drawingml/2006/main">
              <a:ext uri="{FF2B5EF4-FFF2-40B4-BE49-F238E27FC236}">
                <a16:creationId xmlns:a16="http://schemas.microsoft.com/office/drawing/2014/main" id="{03FF768F-8C6A-4B10-BE2B-1BF2BDF1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9567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COMPARE</a:t>
            </a:r>
          </a:p>
        </p:txBody>
      </p:sp>
      <p:sp>
        <p:nvSpPr>
          <p:cNvPr id="16" name="v-2">
            <a:extLst xmlns:a="http://schemas.openxmlformats.org/drawingml/2006/main">
              <a:ext uri="{FF2B5EF4-FFF2-40B4-BE49-F238E27FC236}">
                <a16:creationId xmlns:a16="http://schemas.microsoft.com/office/drawing/2014/main" id="{96EF859C-AEC5-42D1-BA56-8783F583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0050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Find reasoning gaps.</a:t>
            </a:r>
          </a:p>
        </p:txBody>
      </p:sp>
      <p:sp>
        <p:nvSpPr>
          <p:cNvPr id="17" name="dot-3">
            <a:extLst xmlns:a="http://schemas.openxmlformats.org/drawingml/2006/main">
              <a:ext uri="{FF2B5EF4-FFF2-40B4-BE49-F238E27FC236}">
                <a16:creationId xmlns:a16="http://schemas.microsoft.com/office/drawing/2014/main" id="{D4B71F27-03C3-4BBB-8A06-F8ED125C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47625">
            <a:solidFill>
              <a:srgbClr val="132331"/>
            </a:solidFill>
          </a:ln>
        </p:spPr>
      </p:sp>
      <p:sp>
        <p:nvSpPr>
          <p:cNvPr id="18" name="num-3">
            <a:extLst xmlns:a="http://schemas.openxmlformats.org/drawingml/2006/main">
              <a:ext uri="{FF2B5EF4-FFF2-40B4-BE49-F238E27FC236}">
                <a16:creationId xmlns:a16="http://schemas.microsoft.com/office/drawing/2014/main" id="{7FFF3031-4FE1-4061-9E4E-3D005882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9" name="k-3">
            <a:extLst xmlns:a="http://schemas.openxmlformats.org/drawingml/2006/main">
              <a:ext uri="{FF2B5EF4-FFF2-40B4-BE49-F238E27FC236}">
                <a16:creationId xmlns:a16="http://schemas.microsoft.com/office/drawing/2014/main" id="{C5AFAFA5-BD3D-42EB-8019-5ACAD146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49567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VERIFY</a:t>
            </a:r>
          </a:p>
        </p:txBody>
      </p:sp>
      <p:sp>
        <p:nvSpPr>
          <p:cNvPr id="20" name="v-3">
            <a:extLst xmlns:a="http://schemas.openxmlformats.org/drawingml/2006/main">
              <a:ext uri="{FF2B5EF4-FFF2-40B4-BE49-F238E27FC236}">
                <a16:creationId xmlns:a16="http://schemas.microsoft.com/office/drawing/2014/main" id="{FE338A53-E19B-470D-BD49-33C60FDD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00050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Check trusted sources.</a:t>
            </a:r>
          </a:p>
        </p:txBody>
      </p:sp>
      <p:sp>
        <p:nvSpPr>
          <p:cNvPr id="21" name="dot-4">
            <a:extLst xmlns:a="http://schemas.openxmlformats.org/drawingml/2006/main">
              <a:ext uri="{FF2B5EF4-FFF2-40B4-BE49-F238E27FC236}">
                <a16:creationId xmlns:a16="http://schemas.microsoft.com/office/drawing/2014/main" id="{BCB04D33-A124-44E0-956E-9BCEBC77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4574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47625">
            <a:solidFill>
              <a:srgbClr val="132331"/>
            </a:solidFill>
          </a:ln>
        </p:spPr>
      </p:sp>
      <p:sp>
        <p:nvSpPr>
          <p:cNvPr id="22" name="num-4">
            <a:extLst xmlns:a="http://schemas.openxmlformats.org/drawingml/2006/main">
              <a:ext uri="{FF2B5EF4-FFF2-40B4-BE49-F238E27FC236}">
                <a16:creationId xmlns:a16="http://schemas.microsoft.com/office/drawing/2014/main" id="{BB76B4D9-FDDF-458C-B855-A4BCBDAE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45745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5</a:t>
            </a:r>
          </a:p>
        </p:txBody>
      </p:sp>
      <p:sp>
        <p:nvSpPr>
          <p:cNvPr id="23" name="k-4">
            <a:extLst xmlns:a="http://schemas.openxmlformats.org/drawingml/2006/main">
              <a:ext uri="{FF2B5EF4-FFF2-40B4-BE49-F238E27FC236}">
                <a16:creationId xmlns:a16="http://schemas.microsoft.com/office/drawing/2014/main" id="{67109830-4EAC-4563-ACC9-3CBCF912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95675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EXPLAIN</a:t>
            </a:r>
          </a:p>
        </p:txBody>
      </p:sp>
      <p:sp>
        <p:nvSpPr>
          <p:cNvPr id="24" name="v-4">
            <a:extLst xmlns:a="http://schemas.openxmlformats.org/drawingml/2006/main">
              <a:ext uri="{FF2B5EF4-FFF2-40B4-BE49-F238E27FC236}">
                <a16:creationId xmlns:a16="http://schemas.microsoft.com/office/drawing/2014/main" id="{B7396FB3-E271-4603-B146-4AAA8C6A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00500"/>
            <a:ext cx="167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Perform without AI.</a:t>
            </a:r>
          </a:p>
        </p:txBody>
      </p:sp>
      <p:sp>
        <p:nvSpPr>
          <p:cNvPr id="25" name="benefit">
            <a:extLst xmlns:a="http://schemas.openxmlformats.org/drawingml/2006/main">
              <a:ext uri="{FF2B5EF4-FFF2-40B4-BE49-F238E27FC236}">
                <a16:creationId xmlns:a16="http://schemas.microsoft.com/office/drawing/2014/main" id="{41F526BC-7556-4865-B763-C9A32C59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24425"/>
            <a:ext cx="500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Hints preserve useful struggle.</a:t>
            </a:r>
          </a:p>
        </p:txBody>
      </p:sp>
      <p:sp>
        <p:nvSpPr>
          <p:cNvPr id="26" name="risk">
            <a:extLst xmlns:a="http://schemas.openxmlformats.org/drawingml/2006/main">
              <a:ext uri="{FF2B5EF4-FFF2-40B4-BE49-F238E27FC236}">
                <a16:creationId xmlns:a16="http://schemas.microsoft.com/office/drawing/2014/main" id="{C5D60A5A-1E55-4D55-9D97-5F9A22F4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24425"/>
            <a:ext cx="500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Answers can replace practice.</a:t>
            </a:r>
          </a:p>
        </p:txBody>
      </p:sp>
      <p:sp>
        <p:nvSpPr>
          <p:cNvPr id="27" name="takeaway">
            <a:extLst xmlns:a="http://schemas.openxmlformats.org/drawingml/2006/main">
              <a:ext uri="{FF2B5EF4-FFF2-40B4-BE49-F238E27FC236}">
                <a16:creationId xmlns:a16="http://schemas.microsoft.com/office/drawing/2014/main" id="{0456F297-67EA-4082-B790-32F10796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The learner stays responsible.</a:t>
            </a:r>
          </a:p>
        </p:txBody>
      </p:sp>
    </p:spTree>
    <p:extLst>
      <p:ext uri="{BB962C8B-B14F-4D97-AF65-F5344CB8AC3E}">
        <p14:creationId xmlns:p14="http://schemas.microsoft.com/office/powerpoint/2010/main" val="1048758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">
            <a:extLst xmlns:a="http://schemas.openxmlformats.org/drawingml/2006/main">
              <a:ext uri="{FF2B5EF4-FFF2-40B4-BE49-F238E27FC236}">
                <a16:creationId xmlns:a16="http://schemas.microsoft.com/office/drawing/2014/main" id="{D554C86C-E422-4EAD-8234-1BED9700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Structured tutors can help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DB09AA93-42A9-4A23-815E-DAE58379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77763C91-44C3-482A-9497-FF4DCF43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11 / 04</a:t>
            </a:r>
          </a:p>
        </p:txBody>
      </p:sp>
      <p:sp>
        <p:nvSpPr>
          <p:cNvPr id="4" name="card-0">
            <a:extLst xmlns:a="http://schemas.openxmlformats.org/drawingml/2006/main">
              <a:ext uri="{FF2B5EF4-FFF2-40B4-BE49-F238E27FC236}">
                <a16:creationId xmlns:a16="http://schemas.microsoft.com/office/drawing/2014/main" id="{786D8C4F-664C-43A1-A393-A4F5A13E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30861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n-0">
            <a:extLst xmlns:a="http://schemas.openxmlformats.org/drawingml/2006/main">
              <a:ext uri="{FF2B5EF4-FFF2-40B4-BE49-F238E27FC236}">
                <a16:creationId xmlns:a16="http://schemas.microsoft.com/office/drawing/2014/main" id="{E1DB49EE-7BD3-474E-955C-BDE603C8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4050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RCT</a:t>
            </a:r>
          </a:p>
        </p:txBody>
      </p:sp>
      <p:sp>
        <p:nvSpPr>
          <p:cNvPr id="6" name="rule-0">
            <a:extLst xmlns:a="http://schemas.openxmlformats.org/drawingml/2006/main">
              <a:ext uri="{FF2B5EF4-FFF2-40B4-BE49-F238E27FC236}">
                <a16:creationId xmlns:a16="http://schemas.microsoft.com/office/drawing/2014/main" id="{3D5AA693-A853-47CE-815E-943FE30E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037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7" name="k-0">
            <a:extLst xmlns:a="http://schemas.openxmlformats.org/drawingml/2006/main">
              <a:ext uri="{FF2B5EF4-FFF2-40B4-BE49-F238E27FC236}">
                <a16:creationId xmlns:a16="http://schemas.microsoft.com/office/drawing/2014/main" id="{4AA387F3-A2B8-421B-9A1B-234DD72B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METHOD</a:t>
            </a:r>
          </a:p>
        </p:txBody>
      </p:sp>
      <p:sp>
        <p:nvSpPr>
          <p:cNvPr id="8" name="v-0">
            <a:extLst xmlns:a="http://schemas.openxmlformats.org/drawingml/2006/main">
              <a:ext uri="{FF2B5EF4-FFF2-40B4-BE49-F238E27FC236}">
                <a16:creationId xmlns:a16="http://schemas.microsoft.com/office/drawing/2014/main" id="{B4641087-5428-4DA6-9512-BC51E4CA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7667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Random assignment used.</a:t>
            </a:r>
          </a:p>
        </p:txBody>
      </p:sp>
      <p:sp>
        <p:nvSpPr>
          <p:cNvPr id="9" name="card-1">
            <a:extLst xmlns:a="http://schemas.openxmlformats.org/drawingml/2006/main">
              <a:ext uri="{FF2B5EF4-FFF2-40B4-BE49-F238E27FC236}">
                <a16:creationId xmlns:a16="http://schemas.microsoft.com/office/drawing/2014/main" id="{66543BDC-3E21-46E5-A906-CD4B66BF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14500"/>
            <a:ext cx="2286000" cy="30861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0" name="n-1">
            <a:extLst xmlns:a="http://schemas.openxmlformats.org/drawingml/2006/main">
              <a:ext uri="{FF2B5EF4-FFF2-40B4-BE49-F238E27FC236}">
                <a16:creationId xmlns:a16="http://schemas.microsoft.com/office/drawing/2014/main" id="{882E1D84-48BA-4A56-A4E0-48351D7A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28825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405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1" name="rule-1">
            <a:extLst xmlns:a="http://schemas.openxmlformats.org/drawingml/2006/main">
              <a:ext uri="{FF2B5EF4-FFF2-40B4-BE49-F238E27FC236}">
                <a16:creationId xmlns:a16="http://schemas.microsoft.com/office/drawing/2014/main" id="{B80F799F-91BB-4749-8026-F9BB127B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0037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2" name="k-1">
            <a:extLst xmlns:a="http://schemas.openxmlformats.org/drawingml/2006/main">
              <a:ext uri="{FF2B5EF4-FFF2-40B4-BE49-F238E27FC236}">
                <a16:creationId xmlns:a16="http://schemas.microsoft.com/office/drawing/2014/main" id="{D3D487C4-71B4-4029-A50D-93C4E134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289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COURSE</a:t>
            </a:r>
          </a:p>
        </p:txBody>
      </p:sp>
      <p:sp>
        <p:nvSpPr>
          <p:cNvPr id="13" name="v-1">
            <a:extLst xmlns:a="http://schemas.openxmlformats.org/drawingml/2006/main">
              <a:ext uri="{FF2B5EF4-FFF2-40B4-BE49-F238E27FC236}">
                <a16:creationId xmlns:a16="http://schemas.microsoft.com/office/drawing/2014/main" id="{D04FCDE4-DCDA-4FE4-8A56-26B8E53B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7667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College physics tested.</a:t>
            </a:r>
          </a:p>
        </p:txBody>
      </p:sp>
      <p:sp>
        <p:nvSpPr>
          <p:cNvPr id="14" name="card-2">
            <a:extLst xmlns:a="http://schemas.openxmlformats.org/drawingml/2006/main">
              <a:ext uri="{FF2B5EF4-FFF2-40B4-BE49-F238E27FC236}">
                <a16:creationId xmlns:a16="http://schemas.microsoft.com/office/drawing/2014/main" id="{AA1DA946-73F8-483E-9C61-756F3214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14500"/>
            <a:ext cx="2286000" cy="30861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5" name="n-2">
            <a:extLst xmlns:a="http://schemas.openxmlformats.org/drawingml/2006/main">
              <a:ext uri="{FF2B5EF4-FFF2-40B4-BE49-F238E27FC236}">
                <a16:creationId xmlns:a16="http://schemas.microsoft.com/office/drawing/2014/main" id="{66E4831A-046D-45D2-BAF2-270BB889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28825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4050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↑</a:t>
            </a:r>
          </a:p>
        </p:txBody>
      </p:sp>
      <p:sp>
        <p:nvSpPr>
          <p:cNvPr id="16" name="rule-2">
            <a:extLst xmlns:a="http://schemas.openxmlformats.org/drawingml/2006/main">
              <a:ext uri="{FF2B5EF4-FFF2-40B4-BE49-F238E27FC236}">
                <a16:creationId xmlns:a16="http://schemas.microsoft.com/office/drawing/2014/main" id="{45EE1EEC-C0BD-44C3-9EDC-5D004A8A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037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7" name="k-2">
            <a:extLst xmlns:a="http://schemas.openxmlformats.org/drawingml/2006/main">
              <a:ext uri="{FF2B5EF4-FFF2-40B4-BE49-F238E27FC236}">
                <a16:creationId xmlns:a16="http://schemas.microsoft.com/office/drawing/2014/main" id="{BA9C7ADB-E7A9-4C67-9A73-8D005A7D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289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LEARNING</a:t>
            </a:r>
          </a:p>
        </p:txBody>
      </p:sp>
      <p:sp>
        <p:nvSpPr>
          <p:cNvPr id="18" name="v-2">
            <a:extLst xmlns:a="http://schemas.openxmlformats.org/drawingml/2006/main">
              <a:ext uri="{FF2B5EF4-FFF2-40B4-BE49-F238E27FC236}">
                <a16:creationId xmlns:a16="http://schemas.microsoft.com/office/drawing/2014/main" id="{3FACD023-DA3A-4BDC-B97F-9B39122A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7667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Tutor group learned more.</a:t>
            </a:r>
          </a:p>
        </p:txBody>
      </p:sp>
      <p:sp>
        <p:nvSpPr>
          <p:cNvPr id="19" name="card-3">
            <a:extLst xmlns:a="http://schemas.openxmlformats.org/drawingml/2006/main">
              <a:ext uri="{FF2B5EF4-FFF2-40B4-BE49-F238E27FC236}">
                <a16:creationId xmlns:a16="http://schemas.microsoft.com/office/drawing/2014/main" id="{FDA22031-AECF-4FBA-A54F-87D2C3EA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286000" cy="30861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20" name="n-3">
            <a:extLst xmlns:a="http://schemas.openxmlformats.org/drawingml/2006/main">
              <a:ext uri="{FF2B5EF4-FFF2-40B4-BE49-F238E27FC236}">
                <a16:creationId xmlns:a16="http://schemas.microsoft.com/office/drawing/2014/main" id="{3D0D4E88-8BDC-4630-AFFB-8D8E4CC9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28825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4050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↓</a:t>
            </a:r>
          </a:p>
        </p:txBody>
      </p:sp>
      <p:sp>
        <p:nvSpPr>
          <p:cNvPr id="21" name="rule-3">
            <a:extLst xmlns:a="http://schemas.openxmlformats.org/drawingml/2006/main">
              <a:ext uri="{FF2B5EF4-FFF2-40B4-BE49-F238E27FC236}">
                <a16:creationId xmlns:a16="http://schemas.microsoft.com/office/drawing/2014/main" id="{DC3ADEE6-C520-4CD3-9416-ABA61AE7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00375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22" name="k-3">
            <a:extLst xmlns:a="http://schemas.openxmlformats.org/drawingml/2006/main">
              <a:ext uri="{FF2B5EF4-FFF2-40B4-BE49-F238E27FC236}">
                <a16:creationId xmlns:a16="http://schemas.microsoft.com/office/drawing/2014/main" id="{866B8EDA-3D1A-45AA-B3CB-014E3FD6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289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TIME</a:t>
            </a:r>
          </a:p>
        </p:txBody>
      </p:sp>
      <p:sp>
        <p:nvSpPr>
          <p:cNvPr id="23" name="v-3">
            <a:extLst xmlns:a="http://schemas.openxmlformats.org/drawingml/2006/main">
              <a:ext uri="{FF2B5EF4-FFF2-40B4-BE49-F238E27FC236}">
                <a16:creationId xmlns:a16="http://schemas.microsoft.com/office/drawing/2014/main" id="{2344A8BA-04EC-4061-804D-F307B312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76675"/>
            <a:ext cx="1866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Tutor group used less.</a:t>
            </a:r>
          </a:p>
        </p:txBody>
      </p:sp>
      <p:sp>
        <p:nvSpPr>
          <p:cNvPr id="24" name="proof">
            <a:extLst xmlns:a="http://schemas.openxmlformats.org/drawingml/2006/main">
              <a:ext uri="{FF2B5EF4-FFF2-40B4-BE49-F238E27FC236}">
                <a16:creationId xmlns:a16="http://schemas.microsoft.com/office/drawing/2014/main" id="{F5AE51CE-0D5C-4252-8323-6485C721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006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Evidence: designed tutoring helped.</a:t>
            </a:r>
          </a:p>
        </p:txBody>
      </p:sp>
      <p:sp>
        <p:nvSpPr>
          <p:cNvPr id="25" name="limit">
            <a:extLst xmlns:a="http://schemas.openxmlformats.org/drawingml/2006/main">
              <a:ext uri="{FF2B5EF4-FFF2-40B4-BE49-F238E27FC236}">
                <a16:creationId xmlns:a16="http://schemas.microsoft.com/office/drawing/2014/main" id="{EC19FE11-DD44-4FC5-8AA7-A03F5299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Limit: one narrow setting.</a:t>
            </a:r>
          </a:p>
        </p:txBody>
      </p:sp>
    </p:spTree>
    <p:extLst>
      <p:ext uri="{BB962C8B-B14F-4D97-AF65-F5344CB8AC3E}">
        <p14:creationId xmlns:p14="http://schemas.microsoft.com/office/powerpoint/2010/main" val="7099793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">
            <a:extLst xmlns:a="http://schemas.openxmlformats.org/drawingml/2006/main">
              <a:ext uri="{FF2B5EF4-FFF2-40B4-BE49-F238E27FC236}">
                <a16:creationId xmlns:a16="http://schemas.microsoft.com/office/drawing/2014/main" id="{6860213F-FC91-47D9-9E2E-34802957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Performance can hide learning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3E1A8E5E-B16B-4D58-B021-2BC4B20C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09F97D49-EEC4-4A71-BE9E-D0CC6709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11 / 05</a:t>
            </a:r>
          </a:p>
        </p:txBody>
      </p:sp>
      <p:sp>
        <p:nvSpPr>
          <p:cNvPr id="4" name="row-0">
            <a:extLst xmlns:a="http://schemas.openxmlformats.org/drawingml/2006/main">
              <a:ext uri="{FF2B5EF4-FFF2-40B4-BE49-F238E27FC236}">
                <a16:creationId xmlns:a16="http://schemas.microsoft.com/office/drawing/2014/main" id="{B1961868-BD89-46BD-9F7E-125C7108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6667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92ECE188-48FA-4E42-9F71-BEC2EF58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2095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6" name="k-0">
            <a:extLst xmlns:a="http://schemas.openxmlformats.org/drawingml/2006/main">
              <a:ext uri="{FF2B5EF4-FFF2-40B4-BE49-F238E27FC236}">
                <a16:creationId xmlns:a16="http://schemas.microsoft.com/office/drawing/2014/main" id="{2F02C2AB-1F75-4609-9E78-CB3C4B05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+48%</a:t>
            </a:r>
          </a:p>
        </p:txBody>
      </p:sp>
      <p:sp>
        <p:nvSpPr>
          <p:cNvPr id="7" name="v-0">
            <a:extLst xmlns:a="http://schemas.openxmlformats.org/drawingml/2006/main">
              <a:ext uri="{FF2B5EF4-FFF2-40B4-BE49-F238E27FC236}">
                <a16:creationId xmlns:a16="http://schemas.microsoft.com/office/drawing/2014/main" id="{D51B3154-8BFE-490B-93B2-699CDA3B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7640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Open chat practice</a:t>
            </a:r>
          </a:p>
        </p:txBody>
      </p:sp>
      <p:sp>
        <p:nvSpPr>
          <p:cNvPr id="8" name="row-1">
            <a:extLst xmlns:a="http://schemas.openxmlformats.org/drawingml/2006/main">
              <a:ext uri="{FF2B5EF4-FFF2-40B4-BE49-F238E27FC236}">
                <a16:creationId xmlns:a16="http://schemas.microsoft.com/office/drawing/2014/main" id="{9AACADA1-DFFC-4CEE-981C-E246C94F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6667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9" name="label-1">
            <a:extLst xmlns:a="http://schemas.openxmlformats.org/drawingml/2006/main">
              <a:ext uri="{FF2B5EF4-FFF2-40B4-BE49-F238E27FC236}">
                <a16:creationId xmlns:a16="http://schemas.microsoft.com/office/drawing/2014/main" id="{25D8FDD1-A55E-4F1B-B6B9-3EA5EF7F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2095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0" name="k-1">
            <a:extLst xmlns:a="http://schemas.openxmlformats.org/drawingml/2006/main">
              <a:ext uri="{FF2B5EF4-FFF2-40B4-BE49-F238E27FC236}">
                <a16:creationId xmlns:a16="http://schemas.microsoft.com/office/drawing/2014/main" id="{B9E583BB-64C4-4EA2-9891-A0B4B130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669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+127%</a:t>
            </a:r>
          </a:p>
        </p:txBody>
      </p:sp>
      <p:sp>
        <p:nvSpPr>
          <p:cNvPr id="11" name="v-1">
            <a:extLst xmlns:a="http://schemas.openxmlformats.org/drawingml/2006/main">
              <a:ext uri="{FF2B5EF4-FFF2-40B4-BE49-F238E27FC236}">
                <a16:creationId xmlns:a16="http://schemas.microsoft.com/office/drawing/2014/main" id="{1D8AF602-122A-4CEE-92FB-63C076E7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669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Guarded tutor practice</a:t>
            </a:r>
          </a:p>
        </p:txBody>
      </p:sp>
      <p:sp>
        <p:nvSpPr>
          <p:cNvPr id="12" name="row-2">
            <a:extLst xmlns:a="http://schemas.openxmlformats.org/drawingml/2006/main">
              <a:ext uri="{FF2B5EF4-FFF2-40B4-BE49-F238E27FC236}">
                <a16:creationId xmlns:a16="http://schemas.microsoft.com/office/drawing/2014/main" id="{69515A20-ABD4-4024-97A4-B5884D4A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6667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3" name="label-2">
            <a:extLst xmlns:a="http://schemas.openxmlformats.org/drawingml/2006/main">
              <a:ext uri="{FF2B5EF4-FFF2-40B4-BE49-F238E27FC236}">
                <a16:creationId xmlns:a16="http://schemas.microsoft.com/office/drawing/2014/main" id="{7AC693F3-051F-49F1-843B-D0650091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2095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14" name="k-2">
            <a:extLst xmlns:a="http://schemas.openxmlformats.org/drawingml/2006/main">
              <a:ext uri="{FF2B5EF4-FFF2-40B4-BE49-F238E27FC236}">
                <a16:creationId xmlns:a16="http://schemas.microsoft.com/office/drawing/2014/main" id="{AD2953A4-1DD2-41D6-B7BB-842584CD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−17%</a:t>
            </a:r>
          </a:p>
        </p:txBody>
      </p:sp>
      <p:sp>
        <p:nvSpPr>
          <p:cNvPr id="15" name="v-2">
            <a:extLst xmlns:a="http://schemas.openxmlformats.org/drawingml/2006/main">
              <a:ext uri="{FF2B5EF4-FFF2-40B4-BE49-F238E27FC236}">
                <a16:creationId xmlns:a16="http://schemas.microsoft.com/office/drawing/2014/main" id="{8E5196BD-4DF8-489A-9DB4-985B0531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Open chat exam</a:t>
            </a:r>
          </a:p>
        </p:txBody>
      </p:sp>
      <p:sp>
        <p:nvSpPr>
          <p:cNvPr id="16" name="row-3">
            <a:extLst xmlns:a="http://schemas.openxmlformats.org/drawingml/2006/main">
              <a:ext uri="{FF2B5EF4-FFF2-40B4-BE49-F238E27FC236}">
                <a16:creationId xmlns:a16="http://schemas.microsoft.com/office/drawing/2014/main" id="{20897492-89A7-44FE-B621-AD8E8B76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6667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7" name="label-3">
            <a:extLst xmlns:a="http://schemas.openxmlformats.org/drawingml/2006/main">
              <a:ext uri="{FF2B5EF4-FFF2-40B4-BE49-F238E27FC236}">
                <a16:creationId xmlns:a16="http://schemas.microsoft.com/office/drawing/2014/main" id="{E35CE4B9-4913-440A-9AFD-5D0BB566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2095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8" name="k-3">
            <a:extLst xmlns:a="http://schemas.openxmlformats.org/drawingml/2006/main">
              <a:ext uri="{FF2B5EF4-FFF2-40B4-BE49-F238E27FC236}">
                <a16:creationId xmlns:a16="http://schemas.microsoft.com/office/drawing/2014/main" id="{E904FA1C-17EA-4251-954E-C3E87076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NO HARM</a:t>
            </a:r>
          </a:p>
        </p:txBody>
      </p:sp>
      <p:sp>
        <p:nvSpPr>
          <p:cNvPr id="19" name="v-3">
            <a:extLst xmlns:a="http://schemas.openxmlformats.org/drawingml/2006/main">
              <a:ext uri="{FF2B5EF4-FFF2-40B4-BE49-F238E27FC236}">
                <a16:creationId xmlns:a16="http://schemas.microsoft.com/office/drawing/2014/main" id="{5E9DD088-F85B-4190-A279-28C3EFF3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4812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Guarded tutor exam</a:t>
            </a:r>
          </a:p>
        </p:txBody>
      </p:sp>
      <p:sp>
        <p:nvSpPr>
          <p:cNvPr id="20" name="tradeoff">
            <a:extLst xmlns:a="http://schemas.openxmlformats.org/drawingml/2006/main">
              <a:ext uri="{FF2B5EF4-FFF2-40B4-BE49-F238E27FC236}">
                <a16:creationId xmlns:a16="http://schemas.microsoft.com/office/drawing/2014/main" id="{DAA53B1C-ECA2-4B4F-8B0E-57747674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76400"/>
            <a:ext cx="363855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EEE5D7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21" name="trade-k">
            <a:extLst xmlns:a="http://schemas.openxmlformats.org/drawingml/2006/main">
              <a:ext uri="{FF2B5EF4-FFF2-40B4-BE49-F238E27FC236}">
                <a16:creationId xmlns:a16="http://schemas.microsoft.com/office/drawing/2014/main" id="{202281B3-2D9A-403D-959C-DFBAAFE9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5262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HIGH SCHOOL MATH</a:t>
            </a:r>
          </a:p>
        </p:txBody>
      </p:sp>
      <p:sp>
        <p:nvSpPr>
          <p:cNvPr id="22" name="trade-one">
            <a:extLst xmlns:a="http://schemas.openxmlformats.org/drawingml/2006/main">
              <a:ext uri="{FF2B5EF4-FFF2-40B4-BE49-F238E27FC236}">
                <a16:creationId xmlns:a16="http://schemas.microsoft.com/office/drawing/2014/main" id="{0FC81F3B-5456-4A71-9718-42844B15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Practice scores improved.</a:t>
            </a:r>
          </a:p>
        </p:txBody>
      </p:sp>
      <p:sp>
        <p:nvSpPr>
          <p:cNvPr id="23" name="trade-two">
            <a:extLst xmlns:a="http://schemas.openxmlformats.org/drawingml/2006/main">
              <a:ext uri="{FF2B5EF4-FFF2-40B4-BE49-F238E27FC236}">
                <a16:creationId xmlns:a16="http://schemas.microsoft.com/office/drawing/2014/main" id="{12DAEE9B-51FD-475C-A8B2-0C142D4C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Independent learning suffered.</a:t>
            </a:r>
          </a:p>
        </p:txBody>
      </p:sp>
      <p:sp>
        <p:nvSpPr>
          <p:cNvPr id="24" name="trade-three">
            <a:extLst xmlns:a="http://schemas.openxmlformats.org/drawingml/2006/main">
              <a:ext uri="{FF2B5EF4-FFF2-40B4-BE49-F238E27FC236}">
                <a16:creationId xmlns:a16="http://schemas.microsoft.com/office/drawing/2014/main" id="{E124BD12-9049-4F9E-8385-E469E56F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433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Guardrails reduced harm.</a:t>
            </a:r>
          </a:p>
        </p:txBody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B2606F7D-EA04-4804-A39C-1B637CD5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97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Better answers may hide learning.</a:t>
            </a:r>
          </a:p>
        </p:txBody>
      </p:sp>
    </p:spTree>
    <p:extLst>
      <p:ext uri="{BB962C8B-B14F-4D97-AF65-F5344CB8AC3E}">
        <p14:creationId xmlns:p14="http://schemas.microsoft.com/office/powerpoint/2010/main" val="18525125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3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">
            <a:extLst xmlns:a="http://schemas.openxmlformats.org/drawingml/2006/main">
              <a:ext uri="{FF2B5EF4-FFF2-40B4-BE49-F238E27FC236}">
                <a16:creationId xmlns:a16="http://schemas.microsoft.com/office/drawing/2014/main" id="{7F94CF37-EF53-4FA8-851B-FE73FFBA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Fluent text can mislead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D2E28920-2511-4EF0-AA19-FF4FEE1D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EE04F058-301A-4C98-9478-20F478A8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/ 11 / 06</a:t>
            </a:r>
          </a:p>
        </p:txBody>
      </p:sp>
      <p:sp>
        <p:nvSpPr>
          <p:cNvPr id="4" name="card-0">
            <a:extLst xmlns:a="http://schemas.openxmlformats.org/drawingml/2006/main">
              <a:ext uri="{FF2B5EF4-FFF2-40B4-BE49-F238E27FC236}">
                <a16:creationId xmlns:a16="http://schemas.microsoft.com/office/drawing/2014/main" id="{D37D88E1-3FE3-4A98-8903-284DED52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30861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772CAFF5-973A-4CA4-8450-105E577B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764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38100">
            <a:solidFill>
              <a:srgbClr val="132331"/>
            </a:solidFill>
          </a:ln>
        </p:spPr>
      </p:sp>
      <p:sp>
        <p:nvSpPr>
          <p:cNvPr id="6" name="num-0">
            <a:extLst xmlns:a="http://schemas.openxmlformats.org/drawingml/2006/main">
              <a:ext uri="{FF2B5EF4-FFF2-40B4-BE49-F238E27FC236}">
                <a16:creationId xmlns:a16="http://schemas.microsoft.com/office/drawing/2014/main" id="{6A21935A-1A20-437C-BD0A-B1AAA205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7645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!</a:t>
            </a:r>
          </a:p>
        </p:txBody>
      </p:sp>
      <p:sp>
        <p:nvSpPr>
          <p:cNvPr id="7" name="k-0">
            <a:extLst xmlns:a="http://schemas.openxmlformats.org/drawingml/2006/main">
              <a:ext uri="{FF2B5EF4-FFF2-40B4-BE49-F238E27FC236}">
                <a16:creationId xmlns:a16="http://schemas.microsoft.com/office/drawing/2014/main" id="{AF35E95B-2AB2-4B5B-96E8-71DE0405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FALSE FACTS</a:t>
            </a:r>
          </a:p>
        </p:txBody>
      </p:sp>
      <p:sp>
        <p:nvSpPr>
          <p:cNvPr id="8" name="v-0">
            <a:extLst xmlns:a="http://schemas.openxmlformats.org/drawingml/2006/main">
              <a:ext uri="{FF2B5EF4-FFF2-40B4-BE49-F238E27FC236}">
                <a16:creationId xmlns:a16="http://schemas.microsoft.com/office/drawing/2014/main" id="{5E19773B-199C-4A0A-B564-6ABA353C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76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Confidence can hide errors.</a:t>
            </a:r>
          </a:p>
        </p:txBody>
      </p:sp>
      <p:sp>
        <p:nvSpPr>
          <p:cNvPr id="9" name="card-1">
            <a:extLst xmlns:a="http://schemas.openxmlformats.org/drawingml/2006/main">
              <a:ext uri="{FF2B5EF4-FFF2-40B4-BE49-F238E27FC236}">
                <a16:creationId xmlns:a16="http://schemas.microsoft.com/office/drawing/2014/main" id="{4319DCB0-FC16-4AE9-8F2A-EAA988BB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14500"/>
            <a:ext cx="2286000" cy="30861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10" name="dot-1">
            <a:extLst xmlns:a="http://schemas.openxmlformats.org/drawingml/2006/main">
              <a:ext uri="{FF2B5EF4-FFF2-40B4-BE49-F238E27FC236}">
                <a16:creationId xmlns:a16="http://schemas.microsoft.com/office/drawing/2014/main" id="{B8CE5B2F-B241-4305-B54B-66518524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764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38100">
            <a:solidFill>
              <a:srgbClr val="132331"/>
            </a:solidFill>
          </a:ln>
        </p:spPr>
      </p:sp>
      <p:sp>
        <p:nvSpPr>
          <p:cNvPr id="11" name="num-1">
            <a:extLst xmlns:a="http://schemas.openxmlformats.org/drawingml/2006/main">
              <a:ext uri="{FF2B5EF4-FFF2-40B4-BE49-F238E27FC236}">
                <a16:creationId xmlns:a16="http://schemas.microsoft.com/office/drawing/2014/main" id="{D0BA5622-CF2A-43AD-8365-4DA9B521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7645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!</a:t>
            </a:r>
          </a:p>
        </p:txBody>
      </p:sp>
      <p:sp>
        <p:nvSpPr>
          <p:cNvPr id="12" name="k-1">
            <a:extLst xmlns:a="http://schemas.openxmlformats.org/drawingml/2006/main">
              <a:ext uri="{FF2B5EF4-FFF2-40B4-BE49-F238E27FC236}">
                <a16:creationId xmlns:a16="http://schemas.microsoft.com/office/drawing/2014/main" id="{D03364E1-BF4F-4D52-9046-B0A496B0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908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LANGUAGE BIAS</a:t>
            </a:r>
          </a:p>
        </p:txBody>
      </p:sp>
      <p:sp>
        <p:nvSpPr>
          <p:cNvPr id="13" name="v-1">
            <a:extLst xmlns:a="http://schemas.openxmlformats.org/drawingml/2006/main">
              <a:ext uri="{FF2B5EF4-FFF2-40B4-BE49-F238E27FC236}">
                <a16:creationId xmlns:a16="http://schemas.microsoft.com/office/drawing/2014/main" id="{91C57C36-1AFC-4DEC-BB8F-353238A2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76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Coverage stays uneven.</a:t>
            </a:r>
          </a:p>
        </p:txBody>
      </p:sp>
      <p:sp>
        <p:nvSpPr>
          <p:cNvPr id="14" name="card-2">
            <a:extLst xmlns:a="http://schemas.openxmlformats.org/drawingml/2006/main">
              <a:ext uri="{FF2B5EF4-FFF2-40B4-BE49-F238E27FC236}">
                <a16:creationId xmlns:a16="http://schemas.microsoft.com/office/drawing/2014/main" id="{10CC1536-7BEA-4FDB-AE12-679284A4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14500"/>
            <a:ext cx="2286000" cy="30861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15" name="dot-2">
            <a:extLst xmlns:a="http://schemas.openxmlformats.org/drawingml/2006/main">
              <a:ext uri="{FF2B5EF4-FFF2-40B4-BE49-F238E27FC236}">
                <a16:creationId xmlns:a16="http://schemas.microsoft.com/office/drawing/2014/main" id="{1289ED1A-9264-4665-89B4-702332F4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38100">
            <a:solidFill>
              <a:srgbClr val="132331"/>
            </a:solidFill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7A5BD58F-4D26-43D4-8005-E37CA7BE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!</a:t>
            </a:r>
          </a:p>
        </p:txBody>
      </p:sp>
      <p:sp>
        <p:nvSpPr>
          <p:cNvPr id="17" name="k-2">
            <a:extLst xmlns:a="http://schemas.openxmlformats.org/drawingml/2006/main">
              <a:ext uri="{FF2B5EF4-FFF2-40B4-BE49-F238E27FC236}">
                <a16:creationId xmlns:a16="http://schemas.microsoft.com/office/drawing/2014/main" id="{CFFCE1D5-9CB5-437C-9E1D-8FBCFB84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CULTURE BIAS</a:t>
            </a:r>
          </a:p>
        </p:txBody>
      </p:sp>
      <p:sp>
        <p:nvSpPr>
          <p:cNvPr id="18" name="v-2">
            <a:extLst xmlns:a="http://schemas.openxmlformats.org/drawingml/2006/main">
              <a:ext uri="{FF2B5EF4-FFF2-40B4-BE49-F238E27FC236}">
                <a16:creationId xmlns:a16="http://schemas.microsoft.com/office/drawing/2014/main" id="{54B6D015-5D71-4F8A-914D-9B1871DC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76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Local knowledge may fade.</a:t>
            </a:r>
          </a:p>
        </p:txBody>
      </p:sp>
      <p:sp>
        <p:nvSpPr>
          <p:cNvPr id="19" name="card-3">
            <a:extLst xmlns:a="http://schemas.openxmlformats.org/drawingml/2006/main">
              <a:ext uri="{FF2B5EF4-FFF2-40B4-BE49-F238E27FC236}">
                <a16:creationId xmlns:a16="http://schemas.microsoft.com/office/drawing/2014/main" id="{1BF5C6D8-7F8C-4775-A2B6-133094CC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2286000" cy="30861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20" name="dot-3">
            <a:extLst xmlns:a="http://schemas.openxmlformats.org/drawingml/2006/main">
              <a:ext uri="{FF2B5EF4-FFF2-40B4-BE49-F238E27FC236}">
                <a16:creationId xmlns:a16="http://schemas.microsoft.com/office/drawing/2014/main" id="{3BB163A0-F244-4E5A-9324-B64DF780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764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38100">
            <a:solidFill>
              <a:srgbClr val="132331"/>
            </a:solidFill>
          </a:ln>
        </p:spPr>
      </p:sp>
      <p:sp>
        <p:nvSpPr>
          <p:cNvPr id="21" name="num-3">
            <a:extLst xmlns:a="http://schemas.openxmlformats.org/drawingml/2006/main">
              <a:ext uri="{FF2B5EF4-FFF2-40B4-BE49-F238E27FC236}">
                <a16:creationId xmlns:a16="http://schemas.microsoft.com/office/drawing/2014/main" id="{27CA7F41-C0A6-4005-AB8B-19430C83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7645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!</a:t>
            </a:r>
          </a:p>
        </p:txBody>
      </p:sp>
      <p:sp>
        <p:nvSpPr>
          <p:cNvPr id="22" name="k-3">
            <a:extLst xmlns:a="http://schemas.openxmlformats.org/drawingml/2006/main">
              <a:ext uri="{FF2B5EF4-FFF2-40B4-BE49-F238E27FC236}">
                <a16:creationId xmlns:a16="http://schemas.microsoft.com/office/drawing/2014/main" id="{9EED2AB8-E3EF-484D-A5F8-AA350D4F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908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SOURCE GAPS</a:t>
            </a:r>
          </a:p>
        </p:txBody>
      </p:sp>
      <p:sp>
        <p:nvSpPr>
          <p:cNvPr id="23" name="v-3">
            <a:extLst xmlns:a="http://schemas.openxmlformats.org/drawingml/2006/main">
              <a:ext uri="{FF2B5EF4-FFF2-40B4-BE49-F238E27FC236}">
                <a16:creationId xmlns:a16="http://schemas.microsoft.com/office/drawing/2014/main" id="{10C9E3F8-40F5-4170-8E80-7EBE1D71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76675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Citations may not exist.</a:t>
            </a:r>
          </a:p>
        </p:txBody>
      </p:sp>
      <p:sp>
        <p:nvSpPr>
          <p:cNvPr id="24" name="proof">
            <a:extLst xmlns:a="http://schemas.openxmlformats.org/drawingml/2006/main">
              <a:ext uri="{FF2B5EF4-FFF2-40B4-BE49-F238E27FC236}">
                <a16:creationId xmlns:a16="http://schemas.microsoft.com/office/drawing/2014/main" id="{5CF2D593-D450-4571-BBF6-C8474DF7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006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Evidence: models remain fallible.</a:t>
            </a:r>
          </a:p>
        </p:txBody>
      </p:sp>
      <p:sp>
        <p:nvSpPr>
          <p:cNvPr id="25" name="limit">
            <a:extLst xmlns:a="http://schemas.openxmlformats.org/drawingml/2006/main">
              <a:ext uri="{FF2B5EF4-FFF2-40B4-BE49-F238E27FC236}">
                <a16:creationId xmlns:a16="http://schemas.microsoft.com/office/drawing/2014/main" id="{6220BFD5-5A74-48F1-996F-090FD925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Fluent text is not truth.</a:t>
            </a:r>
          </a:p>
        </p:txBody>
      </p:sp>
    </p:spTree>
    <p:extLst>
      <p:ext uri="{BB962C8B-B14F-4D97-AF65-F5344CB8AC3E}">
        <p14:creationId xmlns:p14="http://schemas.microsoft.com/office/powerpoint/2010/main" val="17089744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">
            <a:extLst xmlns:a="http://schemas.openxmlformats.org/drawingml/2006/main">
              <a:ext uri="{FF2B5EF4-FFF2-40B4-BE49-F238E27FC236}">
                <a16:creationId xmlns:a16="http://schemas.microsoft.com/office/drawing/2014/main" id="{06510F0E-8F6C-4E0A-B616-A82BC514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Privacy and access still divide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8C2B296A-00DA-4F3D-94B0-5E7375EF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0D6E2B7C-13C9-48A4-BFB7-176AE094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11 / 07</a:t>
            </a:r>
          </a:p>
        </p:txBody>
      </p:sp>
      <p:sp>
        <p:nvSpPr>
          <p:cNvPr id="4" name="skill-0">
            <a:extLst xmlns:a="http://schemas.openxmlformats.org/drawingml/2006/main">
              <a:ext uri="{FF2B5EF4-FFF2-40B4-BE49-F238E27FC236}">
                <a16:creationId xmlns:a16="http://schemas.microsoft.com/office/drawing/2014/main" id="{F26FF9A0-D59E-4174-9536-72D8B738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2419350" cy="243840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982F6090-ADAC-47B4-BE67-B774699E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574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6" name="num-0">
            <a:extLst xmlns:a="http://schemas.openxmlformats.org/drawingml/2006/main">
              <a:ext uri="{FF2B5EF4-FFF2-40B4-BE49-F238E27FC236}">
                <a16:creationId xmlns:a16="http://schemas.microsoft.com/office/drawing/2014/main" id="{02B9A7C5-76F6-44D8-A9EA-FFA2795A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574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7" name="k-0">
            <a:extLst xmlns:a="http://schemas.openxmlformats.org/drawingml/2006/main">
              <a:ext uri="{FF2B5EF4-FFF2-40B4-BE49-F238E27FC236}">
                <a16:creationId xmlns:a16="http://schemas.microsoft.com/office/drawing/2014/main" id="{388FE9B8-C9AF-4FD8-9B88-932FC39F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813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PRIVATE DATA</a:t>
            </a:r>
          </a:p>
        </p:txBody>
      </p:sp>
      <p:sp>
        <p:nvSpPr>
          <p:cNvPr id="8" name="v-0">
            <a:extLst xmlns:a="http://schemas.openxmlformats.org/drawingml/2006/main">
              <a:ext uri="{FF2B5EF4-FFF2-40B4-BE49-F238E27FC236}">
                <a16:creationId xmlns:a16="http://schemas.microsoft.com/office/drawing/2014/main" id="{53995CDF-6D09-41C2-AB4D-0AD2375E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38525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Remove personal details.</a:t>
            </a:r>
          </a:p>
        </p:txBody>
      </p:sp>
      <p:sp>
        <p:nvSpPr>
          <p:cNvPr id="9" name="skill-1">
            <a:extLst xmlns:a="http://schemas.openxmlformats.org/drawingml/2006/main">
              <a:ext uri="{FF2B5EF4-FFF2-40B4-BE49-F238E27FC236}">
                <a16:creationId xmlns:a16="http://schemas.microsoft.com/office/drawing/2014/main" id="{50FF57FE-739D-41A7-A963-88BA3711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90700"/>
            <a:ext cx="2419350" cy="243840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0" name="dot-1">
            <a:extLst xmlns:a="http://schemas.openxmlformats.org/drawingml/2006/main">
              <a:ext uri="{FF2B5EF4-FFF2-40B4-BE49-F238E27FC236}">
                <a16:creationId xmlns:a16="http://schemas.microsoft.com/office/drawing/2014/main" id="{49EFD9FF-C547-4AF2-9E92-30EB7419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574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1" name="num-1">
            <a:extLst xmlns:a="http://schemas.openxmlformats.org/drawingml/2006/main">
              <a:ext uri="{FF2B5EF4-FFF2-40B4-BE49-F238E27FC236}">
                <a16:creationId xmlns:a16="http://schemas.microsoft.com/office/drawing/2014/main" id="{746A9165-75E4-427E-9251-49B4F6F5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574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12" name="k-1">
            <a:extLst xmlns:a="http://schemas.openxmlformats.org/drawingml/2006/main">
              <a:ext uri="{FF2B5EF4-FFF2-40B4-BE49-F238E27FC236}">
                <a16:creationId xmlns:a16="http://schemas.microsoft.com/office/drawing/2014/main" id="{9AF181D0-E494-4087-A49B-3C75DEC1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9813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CONSENT</a:t>
            </a:r>
          </a:p>
        </p:txBody>
      </p:sp>
      <p:sp>
        <p:nvSpPr>
          <p:cNvPr id="13" name="v-1">
            <a:extLst xmlns:a="http://schemas.openxmlformats.org/drawingml/2006/main">
              <a:ext uri="{FF2B5EF4-FFF2-40B4-BE49-F238E27FC236}">
                <a16:creationId xmlns:a16="http://schemas.microsoft.com/office/drawing/2014/main" id="{471794C9-20D5-423C-A1B9-70BD1F1E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38525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Check age and consent.</a:t>
            </a:r>
          </a:p>
        </p:txBody>
      </p:sp>
      <p:sp>
        <p:nvSpPr>
          <p:cNvPr id="14" name="skill-2">
            <a:extLst xmlns:a="http://schemas.openxmlformats.org/drawingml/2006/main">
              <a:ext uri="{FF2B5EF4-FFF2-40B4-BE49-F238E27FC236}">
                <a16:creationId xmlns:a16="http://schemas.microsoft.com/office/drawing/2014/main" id="{DA1D71A7-87E8-4327-B09D-F5FEBB91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90700"/>
            <a:ext cx="2419350" cy="243840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5" name="dot-2">
            <a:extLst xmlns:a="http://schemas.openxmlformats.org/drawingml/2006/main">
              <a:ext uri="{FF2B5EF4-FFF2-40B4-BE49-F238E27FC236}">
                <a16:creationId xmlns:a16="http://schemas.microsoft.com/office/drawing/2014/main" id="{541E6F8F-0B3C-46B9-A1D1-FF4FCF1A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574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991BF038-C3A3-4520-A767-9D0E6E4D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574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17" name="k-2">
            <a:extLst xmlns:a="http://schemas.openxmlformats.org/drawingml/2006/main">
              <a:ext uri="{FF2B5EF4-FFF2-40B4-BE49-F238E27FC236}">
                <a16:creationId xmlns:a16="http://schemas.microsoft.com/office/drawing/2014/main" id="{4B80FA0E-99F3-4F9C-B652-C298C23B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813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COSTS</a:t>
            </a:r>
          </a:p>
        </p:txBody>
      </p:sp>
      <p:sp>
        <p:nvSpPr>
          <p:cNvPr id="18" name="v-2">
            <a:extLst xmlns:a="http://schemas.openxmlformats.org/drawingml/2006/main">
              <a:ext uri="{FF2B5EF4-FFF2-40B4-BE49-F238E27FC236}">
                <a16:creationId xmlns:a16="http://schemas.microsoft.com/office/drawing/2014/main" id="{72E803D7-413C-410F-9BB1-B552D4FE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38525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Devices and data matter.</a:t>
            </a:r>
          </a:p>
        </p:txBody>
      </p:sp>
      <p:sp>
        <p:nvSpPr>
          <p:cNvPr id="19" name="skill-3">
            <a:extLst xmlns:a="http://schemas.openxmlformats.org/drawingml/2006/main">
              <a:ext uri="{FF2B5EF4-FFF2-40B4-BE49-F238E27FC236}">
                <a16:creationId xmlns:a16="http://schemas.microsoft.com/office/drawing/2014/main" id="{265C45EE-13BA-430C-BA9D-D81BDA3F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790700"/>
            <a:ext cx="2419350" cy="243840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20" name="dot-3">
            <a:extLst xmlns:a="http://schemas.openxmlformats.org/drawingml/2006/main">
              <a:ext uri="{FF2B5EF4-FFF2-40B4-BE49-F238E27FC236}">
                <a16:creationId xmlns:a16="http://schemas.microsoft.com/office/drawing/2014/main" id="{9F2FC3BB-BD88-482E-9FE8-18C41402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574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21" name="num-3">
            <a:extLst xmlns:a="http://schemas.openxmlformats.org/drawingml/2006/main">
              <a:ext uri="{FF2B5EF4-FFF2-40B4-BE49-F238E27FC236}">
                <a16:creationId xmlns:a16="http://schemas.microsoft.com/office/drawing/2014/main" id="{D8D9AA08-081C-4AE1-BF93-6C5B51C8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574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22" name="k-3">
            <a:extLst xmlns:a="http://schemas.openxmlformats.org/drawingml/2006/main">
              <a:ext uri="{FF2B5EF4-FFF2-40B4-BE49-F238E27FC236}">
                <a16:creationId xmlns:a16="http://schemas.microsoft.com/office/drawing/2014/main" id="{500F83DA-9C97-445C-87E0-51E1239C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9813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DISCLOSURE</a:t>
            </a:r>
          </a:p>
        </p:txBody>
      </p:sp>
      <p:sp>
        <p:nvSpPr>
          <p:cNvPr id="23" name="v-3">
            <a:extLst xmlns:a="http://schemas.openxmlformats.org/drawingml/2006/main">
              <a:ext uri="{FF2B5EF4-FFF2-40B4-BE49-F238E27FC236}">
                <a16:creationId xmlns:a16="http://schemas.microsoft.com/office/drawing/2014/main" id="{B2FD704F-4103-4947-9817-6F003F12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438525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Name machine use clearly.</a:t>
            </a:r>
          </a:p>
        </p:txBody>
      </p:sp>
      <p:sp>
        <p:nvSpPr>
          <p:cNvPr id="24" name="law">
            <a:extLst xmlns:a="http://schemas.openxmlformats.org/drawingml/2006/main">
              <a:ext uri="{FF2B5EF4-FFF2-40B4-BE49-F238E27FC236}">
                <a16:creationId xmlns:a16="http://schemas.microsoft.com/office/drawing/2014/main" id="{15C697DB-7C17-4972-8189-5A8E3B38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104489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E5D7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25" name="law-left">
            <a:extLst xmlns:a="http://schemas.openxmlformats.org/drawingml/2006/main">
              <a:ext uri="{FF2B5EF4-FFF2-40B4-BE49-F238E27FC236}">
                <a16:creationId xmlns:a16="http://schemas.microsoft.com/office/drawing/2014/main" id="{A96E0071-4F67-40DB-8271-2641641A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38675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EU RULES</a:t>
            </a:r>
          </a:p>
        </p:txBody>
      </p:sp>
      <p:sp>
        <p:nvSpPr>
          <p:cNvPr id="26" name="law-mid">
            <a:extLst xmlns:a="http://schemas.openxmlformats.org/drawingml/2006/main">
              <a:ext uri="{FF2B5EF4-FFF2-40B4-BE49-F238E27FC236}">
                <a16:creationId xmlns:a16="http://schemas.microsoft.com/office/drawing/2014/main" id="{1870060D-465A-44BF-AEC9-EF9B257D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3867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Chatbots require disclosure.</a:t>
            </a:r>
          </a:p>
        </p:txBody>
      </p:sp>
      <p:sp>
        <p:nvSpPr>
          <p:cNvPr id="27" name="law-right">
            <a:extLst xmlns:a="http://schemas.openxmlformats.org/drawingml/2006/main">
              <a:ext uri="{FF2B5EF4-FFF2-40B4-BE49-F238E27FC236}">
                <a16:creationId xmlns:a16="http://schemas.microsoft.com/office/drawing/2014/main" id="{CF6DF85A-F693-4D5E-846B-F6139006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38675"/>
            <a:ext cx="28289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AUGUST 2026</a:t>
            </a:r>
          </a:p>
        </p:txBody>
      </p:sp>
      <p:sp>
        <p:nvSpPr>
          <p:cNvPr id="28" name="takeaway">
            <a:extLst xmlns:a="http://schemas.openxmlformats.org/drawingml/2006/main">
              <a:ext uri="{FF2B5EF4-FFF2-40B4-BE49-F238E27FC236}">
                <a16:creationId xmlns:a16="http://schemas.microsoft.com/office/drawing/2014/main" id="{A9213A64-D939-4FD3-BCD2-0B9DDDE1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Access requires safe conditions.</a:t>
            </a:r>
          </a:p>
        </p:txBody>
      </p:sp>
    </p:spTree>
    <p:extLst>
      <p:ext uri="{BB962C8B-B14F-4D97-AF65-F5344CB8AC3E}">
        <p14:creationId xmlns:p14="http://schemas.microsoft.com/office/powerpoint/2010/main" val="7739221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le">
            <a:extLst xmlns:a="http://schemas.openxmlformats.org/drawingml/2006/main">
              <a:ext uri="{FF2B5EF4-FFF2-40B4-BE49-F238E27FC236}">
                <a16:creationId xmlns:a16="http://schemas.microsoft.com/office/drawing/2014/main" id="{6AD61A31-D03B-4E51-921B-21F08078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Keep human learning visible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9A3AE16F-F696-49E0-947C-85EA29D1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C8C21053-8695-4873-B72B-9CA92654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11 / 08</a:t>
            </a:r>
          </a:p>
        </p:txBody>
      </p:sp>
      <p:sp>
        <p:nvSpPr>
          <p:cNvPr id="4" name="bar-0">
            <a:extLst xmlns:a="http://schemas.openxmlformats.org/drawingml/2006/main">
              <a:ext uri="{FF2B5EF4-FFF2-40B4-BE49-F238E27FC236}">
                <a16:creationId xmlns:a16="http://schemas.microsoft.com/office/drawing/2014/main" id="{1B0C56D0-190B-426D-A29C-D48DE30A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76400"/>
            <a:ext cx="685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DBC332F5-3833-4F4A-9817-7F1B9FB4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7640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6" name="k-0">
            <a:extLst xmlns:a="http://schemas.openxmlformats.org/drawingml/2006/main">
              <a:ext uri="{FF2B5EF4-FFF2-40B4-BE49-F238E27FC236}">
                <a16:creationId xmlns:a16="http://schemas.microsoft.com/office/drawing/2014/main" id="{055E7F07-0D6C-49DA-B45F-06F53F38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764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GOAL</a:t>
            </a:r>
          </a:p>
        </p:txBody>
      </p:sp>
      <p:sp>
        <p:nvSpPr>
          <p:cNvPr id="7" name="v-0">
            <a:extLst xmlns:a="http://schemas.openxmlformats.org/drawingml/2006/main">
              <a:ext uri="{FF2B5EF4-FFF2-40B4-BE49-F238E27FC236}">
                <a16:creationId xmlns:a16="http://schemas.microsoft.com/office/drawing/2014/main" id="{9B65AF7A-9A6A-4469-825E-41357B5D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76400"/>
            <a:ext cx="4248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Human sets outcomes.</a:t>
            </a:r>
          </a:p>
        </p:txBody>
      </p:sp>
      <p:sp>
        <p:nvSpPr>
          <p:cNvPr id="8" name="bar-1">
            <a:extLst xmlns:a="http://schemas.openxmlformats.org/drawingml/2006/main">
              <a:ext uri="{FF2B5EF4-FFF2-40B4-BE49-F238E27FC236}">
                <a16:creationId xmlns:a16="http://schemas.microsoft.com/office/drawing/2014/main" id="{0521742A-8906-486A-9659-297A4D49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52675"/>
            <a:ext cx="7810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9" name="label-1">
            <a:extLst xmlns:a="http://schemas.openxmlformats.org/drawingml/2006/main">
              <a:ext uri="{FF2B5EF4-FFF2-40B4-BE49-F238E27FC236}">
                <a16:creationId xmlns:a16="http://schemas.microsoft.com/office/drawing/2014/main" id="{1FF0BB89-C5A3-4E05-A7B4-BF468850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52675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0" name="k-1">
            <a:extLst xmlns:a="http://schemas.openxmlformats.org/drawingml/2006/main">
              <a:ext uri="{FF2B5EF4-FFF2-40B4-BE49-F238E27FC236}">
                <a16:creationId xmlns:a16="http://schemas.microsoft.com/office/drawing/2014/main" id="{5B7BBD9D-83B2-4531-965B-9F1BCCAC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526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ATTEMPT</a:t>
            </a:r>
          </a:p>
        </p:txBody>
      </p:sp>
      <p:sp>
        <p:nvSpPr>
          <p:cNvPr id="11" name="v-1">
            <a:extLst xmlns:a="http://schemas.openxmlformats.org/drawingml/2006/main">
              <a:ext uri="{FF2B5EF4-FFF2-40B4-BE49-F238E27FC236}">
                <a16:creationId xmlns:a16="http://schemas.microsoft.com/office/drawing/2014/main" id="{6AE3816B-5E18-474C-AE83-08A799ED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52675"/>
            <a:ext cx="520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Learner works first.</a:t>
            </a:r>
          </a:p>
        </p:txBody>
      </p:sp>
      <p:sp>
        <p:nvSpPr>
          <p:cNvPr id="12" name="bar-2">
            <a:extLst xmlns:a="http://schemas.openxmlformats.org/drawingml/2006/main">
              <a:ext uri="{FF2B5EF4-FFF2-40B4-BE49-F238E27FC236}">
                <a16:creationId xmlns:a16="http://schemas.microsoft.com/office/drawing/2014/main" id="{C5C50AC2-3541-4884-A55A-D842A403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2895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3" name="label-2">
            <a:extLst xmlns:a="http://schemas.openxmlformats.org/drawingml/2006/main">
              <a:ext uri="{FF2B5EF4-FFF2-40B4-BE49-F238E27FC236}">
                <a16:creationId xmlns:a16="http://schemas.microsoft.com/office/drawing/2014/main" id="{76C212A4-40FF-4574-9844-1FB80EE7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2895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4" name="k-2">
            <a:extLst xmlns:a="http://schemas.openxmlformats.org/drawingml/2006/main">
              <a:ext uri="{FF2B5EF4-FFF2-40B4-BE49-F238E27FC236}">
                <a16:creationId xmlns:a16="http://schemas.microsoft.com/office/drawing/2014/main" id="{AE0B0E50-8A86-49CE-8E5A-82BD269B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289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HINT</a:t>
            </a:r>
          </a:p>
        </p:txBody>
      </p:sp>
      <p:sp>
        <p:nvSpPr>
          <p:cNvPr id="15" name="v-2">
            <a:extLst xmlns:a="http://schemas.openxmlformats.org/drawingml/2006/main">
              <a:ext uri="{FF2B5EF4-FFF2-40B4-BE49-F238E27FC236}">
                <a16:creationId xmlns:a16="http://schemas.microsoft.com/office/drawing/2014/main" id="{B7043B22-614F-4FC8-A2C7-B356E3FD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28950"/>
            <a:ext cx="615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AI scaffolds only.</a:t>
            </a:r>
          </a:p>
        </p:txBody>
      </p:sp>
      <p:sp>
        <p:nvSpPr>
          <p:cNvPr id="16" name="bar-3">
            <a:extLst xmlns:a="http://schemas.openxmlformats.org/drawingml/2006/main">
              <a:ext uri="{FF2B5EF4-FFF2-40B4-BE49-F238E27FC236}">
                <a16:creationId xmlns:a16="http://schemas.microsoft.com/office/drawing/2014/main" id="{A700E561-AF7D-49E5-9661-4BEC2EFC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05225"/>
            <a:ext cx="971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7" name="label-3">
            <a:extLst xmlns:a="http://schemas.openxmlformats.org/drawingml/2006/main">
              <a:ext uri="{FF2B5EF4-FFF2-40B4-BE49-F238E27FC236}">
                <a16:creationId xmlns:a16="http://schemas.microsoft.com/office/drawing/2014/main" id="{F4794AB9-6CE6-4990-8A45-95535B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05225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18" name="k-3">
            <a:extLst xmlns:a="http://schemas.openxmlformats.org/drawingml/2006/main">
              <a:ext uri="{FF2B5EF4-FFF2-40B4-BE49-F238E27FC236}">
                <a16:creationId xmlns:a16="http://schemas.microsoft.com/office/drawing/2014/main" id="{638D8C2C-93FC-45B9-BADC-48DEA70B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052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CHECK</a:t>
            </a:r>
          </a:p>
        </p:txBody>
      </p:sp>
      <p:sp>
        <p:nvSpPr>
          <p:cNvPr id="19" name="v-3">
            <a:extLst xmlns:a="http://schemas.openxmlformats.org/drawingml/2006/main">
              <a:ext uri="{FF2B5EF4-FFF2-40B4-BE49-F238E27FC236}">
                <a16:creationId xmlns:a16="http://schemas.microsoft.com/office/drawing/2014/main" id="{19226499-C122-4505-ABB3-703CDA88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05225"/>
            <a:ext cx="7105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Sources must match.</a:t>
            </a:r>
          </a:p>
        </p:txBody>
      </p:sp>
      <p:sp>
        <p:nvSpPr>
          <p:cNvPr id="20" name="bar-4">
            <a:extLst xmlns:a="http://schemas.openxmlformats.org/drawingml/2006/main">
              <a:ext uri="{FF2B5EF4-FFF2-40B4-BE49-F238E27FC236}">
                <a16:creationId xmlns:a16="http://schemas.microsoft.com/office/drawing/2014/main" id="{222DDDDA-B180-46AE-B59F-6E08E523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066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21" name="label-4">
            <a:extLst xmlns:a="http://schemas.openxmlformats.org/drawingml/2006/main">
              <a:ext uri="{FF2B5EF4-FFF2-40B4-BE49-F238E27FC236}">
                <a16:creationId xmlns:a16="http://schemas.microsoft.com/office/drawing/2014/main" id="{BAD1C6A3-E4FF-48B2-826D-DC8C5C21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190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22" name="k-4">
            <a:extLst xmlns:a="http://schemas.openxmlformats.org/drawingml/2006/main">
              <a:ext uri="{FF2B5EF4-FFF2-40B4-BE49-F238E27FC236}">
                <a16:creationId xmlns:a16="http://schemas.microsoft.com/office/drawing/2014/main" id="{EFDBDBAA-E5FA-43F7-B626-DCD40425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EXPLAIN</a:t>
            </a:r>
          </a:p>
        </p:txBody>
      </p:sp>
      <p:sp>
        <p:nvSpPr>
          <p:cNvPr id="23" name="v-4">
            <a:extLst xmlns:a="http://schemas.openxmlformats.org/drawingml/2006/main">
              <a:ext uri="{FF2B5EF4-FFF2-40B4-BE49-F238E27FC236}">
                <a16:creationId xmlns:a16="http://schemas.microsoft.com/office/drawing/2014/main" id="{D887E35E-C10A-4FF9-995D-A299B86D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81500"/>
            <a:ext cx="8058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Learner performs alone.</a:t>
            </a:r>
          </a:p>
        </p:txBody>
      </p:sp>
      <p:sp>
        <p:nvSpPr>
          <p:cNvPr id="24" name="evidence">
            <a:extLst xmlns:a="http://schemas.openxmlformats.org/drawingml/2006/main">
              <a:ext uri="{FF2B5EF4-FFF2-40B4-BE49-F238E27FC236}">
                <a16:creationId xmlns:a16="http://schemas.microsoft.com/office/drawing/2014/main" id="{A98F9CE5-0C04-42E0-B3AB-0EB460F5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197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EVIDENCE: Design changes outcomes.</a:t>
            </a:r>
          </a:p>
        </p:txBody>
      </p:sp>
      <p:sp>
        <p:nvSpPr>
          <p:cNvPr id="25" name="inference">
            <a:extLst xmlns:a="http://schemas.openxmlformats.org/drawingml/2006/main">
              <a:ext uri="{FF2B5EF4-FFF2-40B4-BE49-F238E27FC236}">
                <a16:creationId xmlns:a16="http://schemas.microsoft.com/office/drawing/2014/main" id="{4160C0A2-6267-41F0-BF0A-59A2D81D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197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INFERENCE: Agency protects learning.</a:t>
            </a:r>
          </a:p>
        </p:txBody>
      </p:sp>
      <p:sp>
        <p:nvSpPr>
          <p:cNvPr id="26" name="next">
            <a:extLst xmlns:a="http://schemas.openxmlformats.org/drawingml/2006/main">
              <a:ext uri="{FF2B5EF4-FFF2-40B4-BE49-F238E27FC236}">
                <a16:creationId xmlns:a16="http://schemas.microsoft.com/office/drawing/2014/main" id="{DBE03788-DF91-4BC6-B716-769FA73E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293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NEXT: Recognition without prestige</a:t>
            </a:r>
          </a:p>
        </p:txBody>
      </p:sp>
    </p:spTree>
    <p:extLst>
      <p:ext uri="{BB962C8B-B14F-4D97-AF65-F5344CB8AC3E}">
        <p14:creationId xmlns:p14="http://schemas.microsoft.com/office/powerpoint/2010/main" val="12417973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2026-09-25T03:28:46.7160000Z</dcterms:created>
  <dcterms:modified xsi:type="dcterms:W3CDTF">2026-09-25T03:28:46.7160000Z</dcterms:modified>
</coreProperties>
</file>