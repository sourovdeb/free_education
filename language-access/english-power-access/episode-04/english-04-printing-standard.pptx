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034b91b7c44c9" /><Relationship Type="http://schemas.openxmlformats.org/officeDocument/2006/relationships/extended-properties" Target="/docProps/app.xml" Id="Rc4b01787da3a4a2a" /><Relationship Type="http://schemas.openxmlformats.org/officeDocument/2006/relationships/officeDocument" Target="/ppt/presentation.xml" Id="R515676eb4f3241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f95580a4f4374"/>
  </p:sldMasterIdLst>
  <p:notesMasterIdLst>
    <p:notesMasterId xmlns:r="http://schemas.openxmlformats.org/officeDocument/2006/relationships" r:id="R3ca04fea50524429"/>
  </p:notesMasterIdLst>
  <p:sldIdLst>
    <p:sldId xmlns:r="http://schemas.openxmlformats.org/officeDocument/2006/relationships" id="256" r:id="R3a313527e6454f87"/>
    <p:sldId xmlns:r="http://schemas.openxmlformats.org/officeDocument/2006/relationships" id="257" r:id="Reba9a4fcbb254ebb"/>
    <p:sldId xmlns:r="http://schemas.openxmlformats.org/officeDocument/2006/relationships" id="258" r:id="R138ad3db7d474b38"/>
    <p:sldId xmlns:r="http://schemas.openxmlformats.org/officeDocument/2006/relationships" id="259" r:id="Rafc60e7c9c7f424b"/>
    <p:sldId xmlns:r="http://schemas.openxmlformats.org/officeDocument/2006/relationships" id="260" r:id="R073c4ba37a574792"/>
    <p:sldId xmlns:r="http://schemas.openxmlformats.org/officeDocument/2006/relationships" id="261" r:id="Rdc07a1a7c13a4945"/>
    <p:sldId xmlns:r="http://schemas.openxmlformats.org/officeDocument/2006/relationships" id="262" r:id="Rad27fedb6eb841d7"/>
    <p:sldId xmlns:r="http://schemas.openxmlformats.org/officeDocument/2006/relationships" id="263" r:id="Ra7b1587f0034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000cfe9fb4b8f" /><Relationship Type="http://schemas.openxmlformats.org/officeDocument/2006/relationships/slideMaster" Target="/ppt/slideMasters/slideMaster1.xml" Id="Rd31f95580a4f4374" /><Relationship Type="http://schemas.openxmlformats.org/officeDocument/2006/relationships/notesMaster" Target="/ppt/notesMasters/notesMaster1.xml" Id="R3ca04fea50524429" /><Relationship Type="http://schemas.openxmlformats.org/officeDocument/2006/relationships/presProps" Target="/ppt/presProps.xml" Id="R1bf2377dcb40499c" /><Relationship Type="http://schemas.openxmlformats.org/officeDocument/2006/relationships/tableStyles" Target="/ppt/tableStyles.xml" Id="R6b70bc3eb2ea4d76" /><Relationship Type="http://schemas.openxmlformats.org/officeDocument/2006/relationships/slide" Target="/ppt/slides/slide1.xml" Id="R3a313527e6454f87" /><Relationship Type="http://schemas.openxmlformats.org/officeDocument/2006/relationships/slide" Target="/ppt/slides/slide2.xml" Id="Reba9a4fcbb254ebb" /><Relationship Type="http://schemas.openxmlformats.org/officeDocument/2006/relationships/slide" Target="/ppt/slides/slide3.xml" Id="R138ad3db7d474b38" /><Relationship Type="http://schemas.openxmlformats.org/officeDocument/2006/relationships/slide" Target="/ppt/slides/slide4.xml" Id="Rafc60e7c9c7f424b" /><Relationship Type="http://schemas.openxmlformats.org/officeDocument/2006/relationships/slide" Target="/ppt/slides/slide5.xml" Id="R073c4ba37a574792" /><Relationship Type="http://schemas.openxmlformats.org/officeDocument/2006/relationships/slide" Target="/ppt/slides/slide6.xml" Id="Rdc07a1a7c13a4945" /><Relationship Type="http://schemas.openxmlformats.org/officeDocument/2006/relationships/slide" Target="/ppt/slides/slide7.xml" Id="Rad27fedb6eb841d7" /><Relationship Type="http://schemas.openxmlformats.org/officeDocument/2006/relationships/slide" Target="/ppt/slides/slide8.xml" Id="Ra7b1587f0034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7a5d4633342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86b8d175ce4af8" /><Relationship Type="http://schemas.openxmlformats.org/officeDocument/2006/relationships/notesMaster" Target="/ppt/notesMasters/notesMaster1.xml" Id="Ref3ef5d4f5f843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bebd9cfc04acd" /><Relationship Type="http://schemas.openxmlformats.org/officeDocument/2006/relationships/notesMaster" Target="/ppt/notesMasters/notesMaster1.xml" Id="Rcc39b3119b23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b5d7ea20840ff" /><Relationship Type="http://schemas.openxmlformats.org/officeDocument/2006/relationships/notesMaster" Target="/ppt/notesMasters/notesMaster1.xml" Id="R4023dfed2341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d2096f4ce4a38" /><Relationship Type="http://schemas.openxmlformats.org/officeDocument/2006/relationships/notesMaster" Target="/ppt/notesMasters/notesMaster1.xml" Id="Rf5eebd008c6947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9804bdde44822" /><Relationship Type="http://schemas.openxmlformats.org/officeDocument/2006/relationships/notesMaster" Target="/ppt/notesMasters/notesMaster1.xml" Id="R28e4bca83b1a44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d59e922f9f4322" /><Relationship Type="http://schemas.openxmlformats.org/officeDocument/2006/relationships/notesMaster" Target="/ppt/notesMasters/notesMaster1.xml" Id="R8955bb8ec6e545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d558291b53498d" /><Relationship Type="http://schemas.openxmlformats.org/officeDocument/2006/relationships/notesMaster" Target="/ppt/notesMasters/notesMaster1.xml" Id="Rcf29a528c93048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7c9092a99433b" /><Relationship Type="http://schemas.openxmlformats.org/officeDocument/2006/relationships/notesMaster" Target="/ppt/notesMasters/notesMaster1.xml" Id="Ra5078ac724c2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Caxton printed English.</a:t>
            </a:r>
          </a:p>
          <a:p xmlns:a="http://schemas.openxmlformats.org/drawingml/2006/main">
            <a:r>
              <a:t>Inference: Repetition strengthened choices.</a:t>
            </a:r>
          </a:p>
          <a:p xmlns:a="http://schemas.openxmlformats.org/drawingml/2006/main">
            <a:r>
              <a:t>Unproven: Printing acted alone.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https://www.westminster-abbey.org/abbey-commemorations/commemorations/william-caxton</a:t>
            </a:r>
          </a:p>
          <a:p xmlns:a="http://schemas.openxmlformats.org/drawingml/2006/main">
            <a:r>
              <a:t>https://www.london.ac.uk/senate-house-library/news/senate-house-library-hosts-major-new-exhibition-mark-550th-anniversary-caxton-printing-press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Caxton described variation.</a:t>
            </a:r>
          </a:p>
          <a:p xmlns:a="http://schemas.openxmlformats.org/drawingml/2006/main">
            <a:r>
              <a:t>Inference: Scribes preserved diversity.</a:t>
            </a:r>
          </a:p>
          <a:p xmlns:a="http://schemas.openxmlformats.org/drawingml/2006/main">
            <a:r>
              <a:t>Unproven: England lacked patterns.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https://universityofglasgowlibrary.wordpress.com/tag/caxtons-prefaces/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Caxton printed there.</a:t>
            </a:r>
          </a:p>
          <a:p xmlns:a="http://schemas.openxmlformats.org/drawingml/2006/main">
            <a:r>
              <a:t>Evidence: Copies spread choices.</a:t>
            </a:r>
          </a:p>
          <a:p xmlns:a="http://schemas.openxmlformats.org/drawingml/2006/main">
            <a:r>
              <a:t>Inference: Markets rewarded consistency.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https://www.westminster-abbey.org/abbey-commemorations/commemorations/william-caxton</a:t>
            </a:r>
          </a:p>
          <a:p xmlns:a="http://schemas.openxmlformats.org/drawingml/2006/main">
            <a:r>
              <a:t>https://www.london.ac.uk/senate-house-library/news/senate-house-library-hosts-major-new-exhibition-mark-550th-anniversary-caxton-printing-press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Caxton told this.</a:t>
            </a:r>
          </a:p>
          <a:p xmlns:a="http://schemas.openxmlformats.org/drawingml/2006/main">
            <a:r>
              <a:t>Evidence: Forms caused confusion.</a:t>
            </a:r>
          </a:p>
          <a:p xmlns:a="http://schemas.openxmlformats.org/drawingml/2006/main">
            <a:r>
              <a:t>Inference: Printers faced choices.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https://universityofglasgowlibrary.wordpress.com/tag/caxtons-prefaces/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Johnson selected forms.</a:t>
            </a:r>
          </a:p>
          <a:p xmlns:a="http://schemas.openxmlformats.org/drawingml/2006/main">
            <a:r>
              <a:t>Evidence: Johnson admitted change.</a:t>
            </a:r>
          </a:p>
          <a:p xmlns:a="http://schemas.openxmlformats.org/drawingml/2006/main">
            <a:r>
              <a:t>Inference: His choices gained prestige.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https://www.gutenberg.org/cache/epub/5430/pg5430-images.html</a:t>
            </a:r>
          </a:p>
          <a:p xmlns:a="http://schemas.openxmlformats.org/drawingml/2006/main">
            <a:r>
              <a:t>https://library.usask.ca/uasc/rare-books/dictionary-of-the-english-language.php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1870 created boards.</a:t>
            </a:r>
          </a:p>
          <a:p xmlns:a="http://schemas.openxmlformats.org/drawingml/2006/main">
            <a:r>
              <a:t>Evidence: 1880 strengthened attendance.</a:t>
            </a:r>
          </a:p>
          <a:p xmlns:a="http://schemas.openxmlformats.org/drawingml/2006/main">
            <a:r>
              <a:t>Inference: Schools spread norms.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https://www.legislation.gov.uk/ukpga/Vict/33-34/75/contents/enacted</a:t>
            </a:r>
          </a:p>
          <a:p xmlns:a="http://schemas.openxmlformats.org/drawingml/2006/main">
            <a:r>
              <a:t>https://www.legislation.gov.uk/ukpga/Vict/43-44/23/contents/enacted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Accent stereotypes persist.</a:t>
            </a:r>
          </a:p>
          <a:p xmlns:a="http://schemas.openxmlformats.org/drawingml/2006/main">
            <a:r>
              <a:t>Inference: Standards enable gatekeeping.</a:t>
            </a:r>
          </a:p>
          <a:p xmlns:a="http://schemas.openxmlformats.org/drawingml/2006/main">
            <a:r>
              <a:t>Unproven: Dialects lack grammar.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https://www.cam.ac.uk/research/news/brits-still-associate-working-class-accents-with-criminal-behaviour-study-warns-of-bias</a:t>
            </a:r>
          </a:p>
          <a:p xmlns:a="http://schemas.openxmlformats.org/drawingml/2006/main">
            <a:r>
              <a:t>https://www.frontiersin.org/journals/communication/articles/10.3389/fcomm.2024.1462013/full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Sources appear above.</a:t>
            </a:r>
          </a:p>
          <a:p xmlns:a="http://schemas.openxmlformats.org/drawingml/2006/main">
            <a:r>
              <a:t>Inference: Claims stay labelled.</a:t>
            </a:r>
          </a:p>
          <a:p xmlns:a="http://schemas.openxmlformats.org/drawingml/2006/main">
            <a:r>
              <a:t>Unproven claims stay visible.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https://www.westminster-abbey.org/abbey-commemorations/commemorations/william-caxton</a:t>
            </a:r>
          </a:p>
          <a:p xmlns:a="http://schemas.openxmlformats.org/drawingml/2006/main">
            <a:r>
              <a:t>https://www.london.ac.uk/senate-house-library/news/senate-house-library-hosts-major-new-exhibition-mark-550th-anniversary-caxton-printing-press</a:t>
            </a:r>
          </a:p>
          <a:p xmlns:a="http://schemas.openxmlformats.org/drawingml/2006/main">
            <a:r>
              <a:t>https://universityofglasgowlibrary.wordpress.com/tag/caxtons-prefaces/</a:t>
            </a:r>
          </a:p>
          <a:p xmlns:a="http://schemas.openxmlformats.org/drawingml/2006/main">
            <a:r>
              <a:t>https://www.gutenberg.org/cache/epub/5430/pg5430-images.html</a:t>
            </a:r>
          </a:p>
          <a:p xmlns:a="http://schemas.openxmlformats.org/drawingml/2006/main">
            <a:r>
              <a:t>https://library.usask.ca/uasc/rare-books/dictionary-of-the-english-language.php</a:t>
            </a:r>
          </a:p>
          <a:p xmlns:a="http://schemas.openxmlformats.org/drawingml/2006/main">
            <a:r>
              <a:t>https://www.legislation.gov.uk/ukpga/Vict/33-34/75/contents/enacted</a:t>
            </a:r>
          </a:p>
          <a:p xmlns:a="http://schemas.openxmlformats.org/drawingml/2006/main">
            <a:r>
              <a:t>https://www.legislation.gov.uk/ukpga/Vict/43-44/23/contents/enacted</a:t>
            </a:r>
          </a:p>
          <a:p xmlns:a="http://schemas.openxmlformats.org/drawingml/2006/main">
            <a:r>
              <a:t>https://www.cam.ac.uk/research/news/brits-still-associate-working-class-accents-with-criminal-behaviour-study-warns-of-bias</a:t>
            </a:r>
          </a:p>
          <a:p xmlns:a="http://schemas.openxmlformats.org/drawingml/2006/main">
            <a:r>
              <a:t>https://www.frontiersin.org/journals/communication/articles/10.3389/fcomm.2024.1462013/full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6c401ae77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f510f41b244870" /><Relationship Type="http://schemas.openxmlformats.org/officeDocument/2006/relationships/slideLayout" Target="/ppt/slideLayouts/slideLayout1.xml" Id="R6c237eab3d88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37eab3d88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09de2b19442cc" /><Relationship Type="http://schemas.openxmlformats.org/officeDocument/2006/relationships/image" Target="/ppt/media/image.png" Id="R9bbdd012caf74321" /><Relationship Type="http://schemas.openxmlformats.org/officeDocument/2006/relationships/notesSlide" Target="/ppt/notesSlides/notesSlide1.xml" Id="R0d52a960650a44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82e7df2524996" /><Relationship Type="http://schemas.openxmlformats.org/officeDocument/2006/relationships/notesSlide" Target="/ppt/notesSlides/notesSlide2.xml" Id="Ra49a5570bd47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a0100b7346b6" /><Relationship Type="http://schemas.openxmlformats.org/officeDocument/2006/relationships/notesSlide" Target="/ppt/notesSlides/notesSlide3.xml" Id="R31c71ff1eccd4c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5135306754644" /><Relationship Type="http://schemas.openxmlformats.org/officeDocument/2006/relationships/notesSlide" Target="/ppt/notesSlides/notesSlide4.xml" Id="R79c3e10d06db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65964e7b43bc" /><Relationship Type="http://schemas.openxmlformats.org/officeDocument/2006/relationships/notesSlide" Target="/ppt/notesSlides/notesSlide5.xml" Id="R372bbe6dd12646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956221454b7b" /><Relationship Type="http://schemas.openxmlformats.org/officeDocument/2006/relationships/notesSlide" Target="/ppt/notesSlides/notesSlide6.xml" Id="R406808d8cd1647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27d15b3474cb4" /><Relationship Type="http://schemas.openxmlformats.org/officeDocument/2006/relationships/notesSlide" Target="/ppt/notesSlides/notesSlide7.xml" Id="R67c15bb3297f40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c69c5a3ee4597" /><Relationship Type="http://schemas.openxmlformats.org/officeDocument/2006/relationships/notesSlide" Target="/ppt/notesSlides/notesSlide8.xml" Id="R6b626507165544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dd012caf743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D950329-F3CD-4E2B-A7A2-FC7103F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657000-84D5-4B52-9FCF-C86A9ED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Printing,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Rules,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Status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9B373CB-A357-4290-9590-6B454E29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WHO SET THE STANDARD?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8FC5493E-3E34-4908-857D-7DCBEBC1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D75FC7FE-67CE-4DA5-9DB4-34B3BDA9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40838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2B5C76A-00FD-4ECF-A8A0-BFA093F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varied before print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739BA2-96AA-4EE6-9C4B-623A6B2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E1287A9-27C3-45A3-B3AA-BE0351B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406C84C0-E209-4775-91B8-7E9BF81C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6324BB5E-9A62-40D3-8153-9E85A68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76832D15-75C9-4179-865C-801086AC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SPELLING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04EA3177-0BB3-4034-B08E-FDF78CD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Many forms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3D06CFF1-421A-444C-9F99-B2DA625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Scribes made choices.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7C541AEE-B5EA-4F61-A073-CE7116E4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band-1">
            <a:extLst xmlns:a="http://schemas.openxmlformats.org/drawingml/2006/main">
              <a:ext uri="{FF2B5EF4-FFF2-40B4-BE49-F238E27FC236}">
                <a16:creationId xmlns:a16="http://schemas.microsoft.com/office/drawing/2014/main" id="{BA0FF629-2B3C-4329-AF68-64C96B3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A5B879F4-02F8-492A-BB27-9B81BA9A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DIALECT</a:t>
            </a:r>
          </a:p>
        </p:txBody>
      </p:sp>
      <p:sp>
        <p:nvSpPr>
          <p:cNvPr id="12" name="big-1">
            <a:extLst xmlns:a="http://schemas.openxmlformats.org/drawingml/2006/main">
              <a:ext uri="{FF2B5EF4-FFF2-40B4-BE49-F238E27FC236}">
                <a16:creationId xmlns:a16="http://schemas.microsoft.com/office/drawing/2014/main" id="{EC5E8D94-C289-421B-A7DA-E2A5329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words</a:t>
            </a:r>
          </a:p>
        </p:txBody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3F0E1F22-A088-441A-8E51-3C9DE9F9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Regions sounded different.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3677AAE6-296A-4148-9183-49BDF61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band-2">
            <a:extLst xmlns:a="http://schemas.openxmlformats.org/drawingml/2006/main">
              <a:ext uri="{FF2B5EF4-FFF2-40B4-BE49-F238E27FC236}">
                <a16:creationId xmlns:a16="http://schemas.microsoft.com/office/drawing/2014/main" id="{583A75DB-6331-4038-8640-3246337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1966F9D5-A49F-49B4-A882-EFFDDD6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CONTROL</a:t>
            </a:r>
          </a:p>
        </p:txBody>
      </p:sp>
      <p:sp>
        <p:nvSpPr>
          <p:cNvPr id="17" name="big-2">
            <a:extLst xmlns:a="http://schemas.openxmlformats.org/drawingml/2006/main">
              <a:ext uri="{FF2B5EF4-FFF2-40B4-BE49-F238E27FC236}">
                <a16:creationId xmlns:a16="http://schemas.microsoft.com/office/drawing/2014/main" id="{37857E66-12C5-4769-A7DB-977CE2E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single ruler</a:t>
            </a:r>
          </a:p>
        </p:txBody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5173C876-33D8-49E2-A042-4EBCA1B1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Change stayed gradual.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E8C7DDC0-F7AE-4195-BBF7-21C993A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Variation was normal.</a:t>
            </a:r>
          </a:p>
        </p:txBody>
      </p:sp>
    </p:spTree>
    <p:extLst>
      <p:ext uri="{BB962C8B-B14F-4D97-AF65-F5344CB8AC3E}">
        <p14:creationId xmlns:p14="http://schemas.microsoft.com/office/powerpoint/2010/main" val="1131002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B315EA7-8821-4A2A-A682-4433E75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Caxton's press repeated choices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30DA4A-FD24-4E7C-B5B8-4DD1AFE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19DF469D-8705-46DA-B164-1C56B8E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04 / 03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F810A754-57B8-42C4-B34F-9CF41E38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048000" cy="31623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50D4F757-7F64-44CE-BAAF-50C68A7D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1476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864014F0-E0AE-4669-82FE-4BB2D44D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Press opened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6126C18C-71F9-4321-BA01-41E47412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7FCD8964-49BD-47B9-B02E-054F1E0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Westminster became central.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45D03336-8635-4C15-A366-1D88B6AC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048000" cy="31623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4340FBA0-F29B-4EDB-9B9B-9C40D6C5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81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CHOICE</a:t>
            </a:r>
          </a:p>
        </p:txBody>
      </p:sp>
      <p:sp>
        <p:nvSpPr>
          <p:cNvPr id="11" name="head-1">
            <a:extLst xmlns:a="http://schemas.openxmlformats.org/drawingml/2006/main">
              <a:ext uri="{FF2B5EF4-FFF2-40B4-BE49-F238E27FC236}">
                <a16:creationId xmlns:a16="http://schemas.microsoft.com/office/drawing/2014/main" id="{A3936419-CC5F-460B-9C4F-6B994BE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Printers selected</a:t>
            </a:r>
          </a:p>
        </p:txBody>
      </p:sp>
      <p:sp>
        <p:nvSpPr>
          <p:cNvPr id="12" name="line-1">
            <a:extLst xmlns:a="http://schemas.openxmlformats.org/drawingml/2006/main">
              <a:ext uri="{FF2B5EF4-FFF2-40B4-BE49-F238E27FC236}">
                <a16:creationId xmlns:a16="http://schemas.microsoft.com/office/drawing/2014/main" id="{CC332D56-B20D-4ACB-849F-117DB56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36A0006F-92BE-498A-8EDA-18C7A27C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Spellings became reusable.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5482C469-2F12-4961-95C4-1F8E118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3048000" cy="31623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num-2">
            <a:extLst xmlns:a="http://schemas.openxmlformats.org/drawingml/2006/main">
              <a:ext uri="{FF2B5EF4-FFF2-40B4-BE49-F238E27FC236}">
                <a16:creationId xmlns:a16="http://schemas.microsoft.com/office/drawing/2014/main" id="{FE0F78BD-A8E1-4A82-8619-715DA055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REACH</a:t>
            </a:r>
          </a:p>
        </p:txBody>
      </p:sp>
      <p:sp>
        <p:nvSpPr>
          <p:cNvPr id="16" name="head-2">
            <a:extLst xmlns:a="http://schemas.openxmlformats.org/drawingml/2006/main">
              <a:ext uri="{FF2B5EF4-FFF2-40B4-BE49-F238E27FC236}">
                <a16:creationId xmlns:a16="http://schemas.microsoft.com/office/drawing/2014/main" id="{36E428E3-06EC-44E1-94CC-B599E86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Copies multiplied</a:t>
            </a:r>
          </a:p>
        </p:txBody>
      </p:sp>
      <p:sp>
        <p:nvSpPr>
          <p:cNvPr id="17" name="line-2">
            <a:extLst xmlns:a="http://schemas.openxmlformats.org/drawingml/2006/main">
              <a:ext uri="{FF2B5EF4-FFF2-40B4-BE49-F238E27FC236}">
                <a16:creationId xmlns:a16="http://schemas.microsoft.com/office/drawing/2014/main" id="{74BF02ED-3E0E-48C8-B612-96A0EACA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03E13CD8-15CE-4600-81F1-F43749F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Chosen forms travelled.</a:t>
            </a:r>
          </a:p>
        </p:txBody>
      </p:sp>
      <p:sp>
        <p:nvSpPr>
          <p:cNvPr id="19" name="limit">
            <a:extLst xmlns:a="http://schemas.openxmlformats.org/drawingml/2006/main">
              <a:ext uri="{FF2B5EF4-FFF2-40B4-BE49-F238E27FC236}">
                <a16:creationId xmlns:a16="http://schemas.microsoft.com/office/drawing/2014/main" id="{46C1481B-B983-437F-A927-761A483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Printing accelerated selection.</a:t>
            </a:r>
          </a:p>
        </p:txBody>
      </p:sp>
    </p:spTree>
    <p:extLst>
      <p:ext uri="{BB962C8B-B14F-4D97-AF65-F5344CB8AC3E}">
        <p14:creationId xmlns:p14="http://schemas.microsoft.com/office/powerpoint/2010/main" val="1648809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35F24FCE-6792-409F-8E88-493198A7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Egges or eyren?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BB0E83-E3C1-47EC-AC4E-9832985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6B4E9555-5C66-4F25-BA11-2B9E06C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 / 04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145BB380-2D14-4308-9C06-5E26983C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4762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right">
            <a:extLst xmlns:a="http://schemas.openxmlformats.org/drawingml/2006/main">
              <a:ext uri="{FF2B5EF4-FFF2-40B4-BE49-F238E27FC236}">
                <a16:creationId xmlns:a16="http://schemas.microsoft.com/office/drawing/2014/main" id="{4F7CFF11-EEA7-4912-9CB5-DE5EF89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24025"/>
            <a:ext cx="4762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6" name="left-k">
            <a:extLst xmlns:a="http://schemas.openxmlformats.org/drawingml/2006/main">
              <a:ext uri="{FF2B5EF4-FFF2-40B4-BE49-F238E27FC236}">
                <a16:creationId xmlns:a16="http://schemas.microsoft.com/office/drawing/2014/main" id="{5CF0FFD8-B8B7-43EC-AD1E-22698C60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NORTHERN FORM</a:t>
            </a:r>
          </a:p>
        </p:txBody>
      </p:sp>
      <p:sp>
        <p:nvSpPr>
          <p:cNvPr id="7" name="left-word">
            <a:extLst xmlns:a="http://schemas.openxmlformats.org/drawingml/2006/main">
              <a:ext uri="{FF2B5EF4-FFF2-40B4-BE49-F238E27FC236}">
                <a16:creationId xmlns:a16="http://schemas.microsoft.com/office/drawing/2014/main" id="{CF64BDD6-68B2-4D74-A212-DE59EFF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15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egges</a:t>
            </a:r>
          </a:p>
        </p:txBody>
      </p:sp>
      <p:sp>
        <p:nvSpPr>
          <p:cNvPr id="8" name="left-small">
            <a:extLst xmlns:a="http://schemas.openxmlformats.org/drawingml/2006/main">
              <a:ext uri="{FF2B5EF4-FFF2-40B4-BE49-F238E27FC236}">
                <a16:creationId xmlns:a16="http://schemas.microsoft.com/office/drawing/2014/main" id="{C22E9155-0A30-4C5F-9E63-80C7B44D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One shopper spoke.</a:t>
            </a:r>
          </a:p>
        </p:txBody>
      </p:sp>
      <p:sp>
        <p:nvSpPr>
          <p:cNvPr id="9" name="right-k">
            <a:extLst xmlns:a="http://schemas.openxmlformats.org/drawingml/2006/main">
              <a:ext uri="{FF2B5EF4-FFF2-40B4-BE49-F238E27FC236}">
                <a16:creationId xmlns:a16="http://schemas.microsoft.com/office/drawing/2014/main" id="{38C00726-3BD7-4712-9835-80B707F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SOUTHERN FORM</a:t>
            </a:r>
          </a:p>
        </p:txBody>
      </p:sp>
      <p:sp>
        <p:nvSpPr>
          <p:cNvPr id="10" name="right-word">
            <a:extLst xmlns:a="http://schemas.openxmlformats.org/drawingml/2006/main">
              <a:ext uri="{FF2B5EF4-FFF2-40B4-BE49-F238E27FC236}">
                <a16:creationId xmlns:a16="http://schemas.microsoft.com/office/drawing/2014/main" id="{E168D838-F9BC-464F-A79D-01D8E86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152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eyren</a:t>
            </a:r>
          </a:p>
        </p:txBody>
      </p:sp>
      <p:sp>
        <p:nvSpPr>
          <p:cNvPr id="11" name="right-small">
            <a:extLst xmlns:a="http://schemas.openxmlformats.org/drawingml/2006/main">
              <a:ext uri="{FF2B5EF4-FFF2-40B4-BE49-F238E27FC236}">
                <a16:creationId xmlns:a16="http://schemas.microsoft.com/office/drawing/2014/main" id="{0DF1B599-D6F3-4988-BF85-184C7A0D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One seller understood.</a:t>
            </a:r>
          </a:p>
        </p:txBody>
      </p:sp>
      <p:sp>
        <p:nvSpPr>
          <p:cNvPr id="12" name="date">
            <a:extLst xmlns:a="http://schemas.openxmlformats.org/drawingml/2006/main">
              <a:ext uri="{FF2B5EF4-FFF2-40B4-BE49-F238E27FC236}">
                <a16:creationId xmlns:a16="http://schemas.microsoft.com/office/drawing/2014/main" id="{702189CA-BC7D-4E0C-9716-D6DBD15D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Caxton recorded this around 1490.</a:t>
            </a:r>
          </a:p>
        </p:txBody>
      </p:sp>
      <p:sp>
        <p:nvSpPr>
          <p:cNvPr id="13" name="meaning">
            <a:extLst xmlns:a="http://schemas.openxmlformats.org/drawingml/2006/main">
              <a:ext uri="{FF2B5EF4-FFF2-40B4-BE49-F238E27FC236}">
                <a16:creationId xmlns:a16="http://schemas.microsoft.com/office/drawing/2014/main" id="{69586784-8A3C-4025-A7D0-2609606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 standard remained unsettled.</a:t>
            </a:r>
          </a:p>
        </p:txBody>
      </p:sp>
    </p:spTree>
    <p:extLst>
      <p:ext uri="{BB962C8B-B14F-4D97-AF65-F5344CB8AC3E}">
        <p14:creationId xmlns:p14="http://schemas.microsoft.com/office/powerpoint/2010/main" val="59714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4FE58E61-C114-4E75-AD1D-915E2C3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Dictionaries ranked choices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21C678-CCD7-4CBD-B5EF-26A338F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38F28AAA-2666-415F-AFF5-14667BB1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04 / 05</a:t>
            </a:r>
          </a:p>
        </p:txBody>
      </p:sp>
      <p:sp>
        <p:nvSpPr>
          <p:cNvPr id="4" name="year">
            <a:extLst xmlns:a="http://schemas.openxmlformats.org/drawingml/2006/main">
              <a:ext uri="{FF2B5EF4-FFF2-40B4-BE49-F238E27FC236}">
                <a16:creationId xmlns:a16="http://schemas.microsoft.com/office/drawing/2014/main" id="{8DF654BE-D879-4E97-B63F-C02E25A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476500" cy="29146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5" name="year-small">
            <a:extLst xmlns:a="http://schemas.openxmlformats.org/drawingml/2006/main">
              <a:ext uri="{FF2B5EF4-FFF2-40B4-BE49-F238E27FC236}">
                <a16:creationId xmlns:a16="http://schemas.microsoft.com/office/drawing/2014/main" id="{AFC60340-CF3C-47AD-8654-7187322E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JOHNSON</a:t>
            </a:r>
          </a:p>
        </p:txBody>
      </p:sp>
      <p:sp>
        <p:nvSpPr>
          <p:cNvPr id="6" name="year-big">
            <a:extLst xmlns:a="http://schemas.openxmlformats.org/drawingml/2006/main">
              <a:ext uri="{FF2B5EF4-FFF2-40B4-BE49-F238E27FC236}">
                <a16:creationId xmlns:a16="http://schemas.microsoft.com/office/drawing/2014/main" id="{292A8867-6582-43C9-B188-EA77108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1755</a:t>
            </a:r>
          </a:p>
        </p:txBody>
      </p:sp>
      <p:sp>
        <p:nvSpPr>
          <p:cNvPr id="7" name="year-note">
            <a:extLst xmlns:a="http://schemas.openxmlformats.org/drawingml/2006/main">
              <a:ext uri="{FF2B5EF4-FFF2-40B4-BE49-F238E27FC236}">
                <a16:creationId xmlns:a16="http://schemas.microsoft.com/office/drawing/2014/main" id="{668FEB38-8C58-412E-9D99-A35EBCBD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Two printed volumes.</a:t>
            </a:r>
          </a:p>
        </p:txBody>
      </p:sp>
      <p:sp>
        <p:nvSpPr>
          <p:cNvPr id="8" name="row-0">
            <a:extLst xmlns:a="http://schemas.openxmlformats.org/drawingml/2006/main">
              <a:ext uri="{FF2B5EF4-FFF2-40B4-BE49-F238E27FC236}">
                <a16:creationId xmlns:a16="http://schemas.microsoft.com/office/drawing/2014/main" id="{781E87D2-BF17-45A4-BE87-73AA7E3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62125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9" name="a-0">
            <a:extLst xmlns:a="http://schemas.openxmlformats.org/drawingml/2006/main">
              <a:ext uri="{FF2B5EF4-FFF2-40B4-BE49-F238E27FC236}">
                <a16:creationId xmlns:a16="http://schemas.microsoft.com/office/drawing/2014/main" id="{B93D370C-934B-476B-BC69-E690FC8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6212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Selected spellings</a:t>
            </a:r>
          </a:p>
        </p:txBody>
      </p:sp>
      <p:sp>
        <p:nvSpPr>
          <p:cNvPr id="10" name="b-0">
            <a:extLst xmlns:a="http://schemas.openxmlformats.org/drawingml/2006/main">
              <a:ext uri="{FF2B5EF4-FFF2-40B4-BE49-F238E27FC236}">
                <a16:creationId xmlns:a16="http://schemas.microsoft.com/office/drawing/2014/main" id="{EF916197-3463-41B9-A0BB-B472F30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Choices gained authority.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68D9341C-1DB1-4915-91C8-95681CE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76550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2" name="a-1">
            <a:extLst xmlns:a="http://schemas.openxmlformats.org/drawingml/2006/main">
              <a:ext uri="{FF2B5EF4-FFF2-40B4-BE49-F238E27FC236}">
                <a16:creationId xmlns:a16="http://schemas.microsoft.com/office/drawing/2014/main" id="{D726C9C7-0943-4BFD-9346-D29F2FA6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Quoted writers</a:t>
            </a:r>
          </a:p>
        </p:txBody>
      </p:sp>
      <p:sp>
        <p:nvSpPr>
          <p:cNvPr id="13" name="b-1">
            <a:extLst xmlns:a="http://schemas.openxmlformats.org/drawingml/2006/main">
              <a:ext uri="{FF2B5EF4-FFF2-40B4-BE49-F238E27FC236}">
                <a16:creationId xmlns:a16="http://schemas.microsoft.com/office/drawing/2014/main" id="{CE6566AF-E417-439E-9E2B-6282394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Literature became evidence.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4EA5E800-689B-401C-B9CA-5185269E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90975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a-2">
            <a:extLst xmlns:a="http://schemas.openxmlformats.org/drawingml/2006/main">
              <a:ext uri="{FF2B5EF4-FFF2-40B4-BE49-F238E27FC236}">
                <a16:creationId xmlns:a16="http://schemas.microsoft.com/office/drawing/2014/main" id="{A51450AD-03CA-4996-8479-675FA37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Admitted change</a:t>
            </a:r>
          </a:p>
        </p:txBody>
      </p:sp>
      <p:sp>
        <p:nvSpPr>
          <p:cNvPr id="16" name="b-2">
            <a:extLst xmlns:a="http://schemas.openxmlformats.org/drawingml/2006/main">
              <a:ext uri="{FF2B5EF4-FFF2-40B4-BE49-F238E27FC236}">
                <a16:creationId xmlns:a16="http://schemas.microsoft.com/office/drawing/2014/main" id="{6844B1DA-492C-437D-BF7E-7EB91B3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English stayed alive.</a:t>
            </a:r>
          </a:p>
        </p:txBody>
      </p:sp>
      <p:sp>
        <p:nvSpPr>
          <p:cNvPr id="17" name="limit">
            <a:extLst xmlns:a="http://schemas.openxmlformats.org/drawingml/2006/main">
              <a:ext uri="{FF2B5EF4-FFF2-40B4-BE49-F238E27FC236}">
                <a16:creationId xmlns:a16="http://schemas.microsoft.com/office/drawing/2014/main" id="{3F92C5F2-4108-4AFF-9679-A911368F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625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Dictionaries record human choices.</a:t>
            </a:r>
          </a:p>
        </p:txBody>
      </p:sp>
    </p:spTree>
    <p:extLst>
      <p:ext uri="{BB962C8B-B14F-4D97-AF65-F5344CB8AC3E}">
        <p14:creationId xmlns:p14="http://schemas.microsoft.com/office/powerpoint/2010/main" val="941194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287D8EFD-A4E3-4D78-B014-680F1AD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Schools spread written norms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758B14-5536-4614-9FFB-7491C6A2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BC8F244C-5912-420B-9051-9CF1FDE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 / 06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A3560F2B-580F-4244-A2BE-771FDA9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857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6D36046D-F168-463F-8C29-C2B07D6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6" name="year-0">
            <a:extLst xmlns:a="http://schemas.openxmlformats.org/drawingml/2006/main">
              <a:ext uri="{FF2B5EF4-FFF2-40B4-BE49-F238E27FC236}">
                <a16:creationId xmlns:a16="http://schemas.microsoft.com/office/drawing/2014/main" id="{8FCF9EA4-9458-4F9C-B08E-EC7591B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1870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2EB36D32-84F8-4C31-B2B5-C24FAB0C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671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School boards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94607E94-AC75-4E81-BF96-75E09877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52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9" name="year-1">
            <a:extLst xmlns:a="http://schemas.openxmlformats.org/drawingml/2006/main">
              <a:ext uri="{FF2B5EF4-FFF2-40B4-BE49-F238E27FC236}">
                <a16:creationId xmlns:a16="http://schemas.microsoft.com/office/drawing/2014/main" id="{A8631D98-87E5-4622-AAA6-8FB7F62C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1880</a:t>
            </a:r>
          </a:p>
        </p:txBody>
      </p:sp>
      <p:sp>
        <p:nvSpPr>
          <p:cNvPr id="10" name="label-1">
            <a:extLst xmlns:a="http://schemas.openxmlformats.org/drawingml/2006/main">
              <a:ext uri="{FF2B5EF4-FFF2-40B4-BE49-F238E27FC236}">
                <a16:creationId xmlns:a16="http://schemas.microsoft.com/office/drawing/2014/main" id="{D4A937BF-B11E-4822-AC0E-4FD2008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671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Attendance rules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AAFDBEE6-E145-490F-A2A4-27370CC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527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2" name="year-2">
            <a:extLst xmlns:a="http://schemas.openxmlformats.org/drawingml/2006/main">
              <a:ext uri="{FF2B5EF4-FFF2-40B4-BE49-F238E27FC236}">
                <a16:creationId xmlns:a16="http://schemas.microsoft.com/office/drawing/2014/main" id="{0B8EFBC0-3523-4BB3-A2F2-0DF68BA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LATER</a:t>
            </a:r>
          </a:p>
        </p:txBody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1F4260AE-9DC8-440B-BC78-3829845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671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Shared lessons</a:t>
            </a:r>
          </a:p>
        </p:txBody>
      </p:sp>
      <p:sp>
        <p:nvSpPr>
          <p:cNvPr id="14" name="impact">
            <a:extLst xmlns:a="http://schemas.openxmlformats.org/drawingml/2006/main">
              <a:ext uri="{FF2B5EF4-FFF2-40B4-BE49-F238E27FC236}">
                <a16:creationId xmlns:a16="http://schemas.microsoft.com/office/drawing/2014/main" id="{E6ED3190-2691-4FBE-9348-3116B60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More children met standards.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29546FC1-326C-47D4-A8AB-EA3579F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Schooling widened their reach.</a:t>
            </a:r>
          </a:p>
        </p:txBody>
      </p:sp>
    </p:spTree>
    <p:extLst>
      <p:ext uri="{BB962C8B-B14F-4D97-AF65-F5344CB8AC3E}">
        <p14:creationId xmlns:p14="http://schemas.microsoft.com/office/powerpoint/2010/main" val="733210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84FCF6AE-D768-4096-8FDE-2E3A3A7F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Standard gained social power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094461-AAC3-4418-8F97-5C5BB205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B3FD7B5-00A9-4048-8DF8-035345B1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 / 07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3C6B476B-93CE-4B1B-A521-366884C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POWER EFFECTS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254FD186-8A4D-4BE4-90E0-BDD3507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LINGUISTIC LIMITS</a:t>
            </a:r>
          </a:p>
        </p:txBody>
      </p:sp>
      <p:sp>
        <p:nvSpPr>
          <p:cNvPr id="6" name="left-0">
            <a:extLst xmlns:a="http://schemas.openxmlformats.org/drawingml/2006/main">
              <a:ext uri="{FF2B5EF4-FFF2-40B4-BE49-F238E27FC236}">
                <a16:creationId xmlns:a16="http://schemas.microsoft.com/office/drawing/2014/main" id="{1799417C-6127-4DCC-91B3-DE6D45A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7" name="left-text-0">
            <a:extLst xmlns:a="http://schemas.openxmlformats.org/drawingml/2006/main">
              <a:ext uri="{FF2B5EF4-FFF2-40B4-BE49-F238E27FC236}">
                <a16:creationId xmlns:a16="http://schemas.microsoft.com/office/drawing/2014/main" id="{736111A7-1639-4D8D-9880-28CB732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324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Schools rewarded conformity.</a:t>
            </a:r>
          </a:p>
        </p:txBody>
      </p:sp>
      <p:sp>
        <p:nvSpPr>
          <p:cNvPr id="8" name="right-0">
            <a:extLst xmlns:a="http://schemas.openxmlformats.org/drawingml/2006/main">
              <a:ext uri="{FF2B5EF4-FFF2-40B4-BE49-F238E27FC236}">
                <a16:creationId xmlns:a16="http://schemas.microsoft.com/office/drawing/2014/main" id="{888FDCCE-A144-495E-9BCA-4AAD7AE6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191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right-text-0">
            <a:extLst xmlns:a="http://schemas.openxmlformats.org/drawingml/2006/main">
              <a:ext uri="{FF2B5EF4-FFF2-40B4-BE49-F238E27FC236}">
                <a16:creationId xmlns:a16="http://schemas.microsoft.com/office/drawing/2014/main" id="{BF80C802-9D22-4ACF-9CC4-0F12D1B4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62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Dialect rules still exist.</a:t>
            </a:r>
          </a:p>
        </p:txBody>
      </p:sp>
      <p:sp>
        <p:nvSpPr>
          <p:cNvPr id="10" name="left-1">
            <a:extLst xmlns:a="http://schemas.openxmlformats.org/drawingml/2006/main">
              <a:ext uri="{FF2B5EF4-FFF2-40B4-BE49-F238E27FC236}">
                <a16:creationId xmlns:a16="http://schemas.microsoft.com/office/drawing/2014/main" id="{E2B34069-75A1-4546-A19D-8E1D7D69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left-text-1">
            <a:extLst xmlns:a="http://schemas.openxmlformats.org/drawingml/2006/main">
              <a:ext uri="{FF2B5EF4-FFF2-40B4-BE49-F238E27FC236}">
                <a16:creationId xmlns:a16="http://schemas.microsoft.com/office/drawing/2014/main" id="{B6E608B7-16D6-4738-A258-51C1466B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324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Editors copied common forms.</a:t>
            </a:r>
          </a:p>
        </p:txBody>
      </p:sp>
      <p:sp>
        <p:nvSpPr>
          <p:cNvPr id="12" name="right-1">
            <a:extLst xmlns:a="http://schemas.openxmlformats.org/drawingml/2006/main">
              <a:ext uri="{FF2B5EF4-FFF2-40B4-BE49-F238E27FC236}">
                <a16:creationId xmlns:a16="http://schemas.microsoft.com/office/drawing/2014/main" id="{A39F56E0-617F-4A86-A97F-20DA181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5191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right-text-1">
            <a:extLst xmlns:a="http://schemas.openxmlformats.org/drawingml/2006/main">
              <a:ext uri="{FF2B5EF4-FFF2-40B4-BE49-F238E27FC236}">
                <a16:creationId xmlns:a16="http://schemas.microsoft.com/office/drawing/2014/main" id="{7E9804D0-3B8D-4AA0-8521-7A939200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86100"/>
            <a:ext cx="462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Regional speech remains meaningful.</a:t>
            </a:r>
          </a:p>
        </p:txBody>
      </p:sp>
      <p:sp>
        <p:nvSpPr>
          <p:cNvPr id="14" name="left-2">
            <a:extLst xmlns:a="http://schemas.openxmlformats.org/drawingml/2006/main">
              <a:ext uri="{FF2B5EF4-FFF2-40B4-BE49-F238E27FC236}">
                <a16:creationId xmlns:a16="http://schemas.microsoft.com/office/drawing/2014/main" id="{8C4F20E2-46EE-46B3-A1B4-E3DB1F85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left-text-2">
            <a:extLst xmlns:a="http://schemas.openxmlformats.org/drawingml/2006/main">
              <a:ext uri="{FF2B5EF4-FFF2-40B4-BE49-F238E27FC236}">
                <a16:creationId xmlns:a16="http://schemas.microsoft.com/office/drawing/2014/main" id="{CF91FF87-76A5-4995-A779-DF7404D0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324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Employers judged voices.</a:t>
            </a:r>
          </a:p>
        </p:txBody>
      </p:sp>
      <p:sp>
        <p:nvSpPr>
          <p:cNvPr id="16" name="right-2">
            <a:extLst xmlns:a="http://schemas.openxmlformats.org/drawingml/2006/main">
              <a:ext uri="{FF2B5EF4-FFF2-40B4-BE49-F238E27FC236}">
                <a16:creationId xmlns:a16="http://schemas.microsoft.com/office/drawing/2014/main" id="{38908AD9-4C5A-415D-81ED-E305365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76700"/>
            <a:ext cx="5191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right-text-2">
            <a:extLst xmlns:a="http://schemas.openxmlformats.org/drawingml/2006/main">
              <a:ext uri="{FF2B5EF4-FFF2-40B4-BE49-F238E27FC236}">
                <a16:creationId xmlns:a16="http://schemas.microsoft.com/office/drawing/2014/main" id="{A4953F8E-EA11-4322-A625-7926B5F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462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Prestige does not prove quality.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6E27C08E-110D-4C97-AA55-3E7E7E5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Standard never meant superior.</a:t>
            </a:r>
          </a:p>
        </p:txBody>
      </p:sp>
    </p:spTree>
    <p:extLst>
      <p:ext uri="{BB962C8B-B14F-4D97-AF65-F5344CB8AC3E}">
        <p14:creationId xmlns:p14="http://schemas.microsoft.com/office/powerpoint/2010/main" val="1654931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4955CD2F-AA2D-4C2B-A8C7-572B797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and limits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E8BA74-C583-4B60-8118-5878106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F4F57930-2312-432F-93B7-056C9D4A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 / 08</a:t>
            </a:r>
          </a:p>
        </p:txBody>
      </p:sp>
      <p:sp>
        <p:nvSpPr>
          <p:cNvPr id="4" name="source-0">
            <a:extLst xmlns:a="http://schemas.openxmlformats.org/drawingml/2006/main">
              <a:ext uri="{FF2B5EF4-FFF2-40B4-BE49-F238E27FC236}">
                <a16:creationId xmlns:a16="http://schemas.microsoft.com/office/drawing/2014/main" id="{AC985472-26B2-4197-B407-27849CC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Caxton collections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57ECA2EB-D0B8-4761-9250-7D21167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Printing and variation</a:t>
            </a:r>
          </a:p>
        </p:txBody>
      </p:sp>
      <p:sp>
        <p:nvSpPr>
          <p:cNvPr id="6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AE499B95-4700-4A2B-A4ED-A0590E3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0336A6CA-908D-4AC8-B4A7-16B5C03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Johnson, 1755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BE66ED1B-6AB7-409D-8E89-359B94BD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Dictionary preface</a:t>
            </a:r>
          </a:p>
        </p:txBody>
      </p:sp>
      <p:sp>
        <p:nvSpPr>
          <p:cNvPr id="9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D50E6461-063E-4D26-AF09-166B80A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5C12BC96-C481-41B0-A15E-E90CF0CE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Education Acts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37FC457C-606E-4426-AC16-83AAD33E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1870 and 1880</a:t>
            </a:r>
          </a:p>
        </p:txBody>
      </p:sp>
      <p:sp>
        <p:nvSpPr>
          <p:cNvPr id="1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84453AA6-CA88-48E9-B2AB-6C21BA35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74078CEF-3250-4D20-B35F-A794642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Accent research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01B2EA15-6DD4-4C94-A81E-1572106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Hierarchy persists</a:t>
            </a:r>
          </a:p>
        </p:txBody>
      </p:sp>
      <p:sp>
        <p:nvSpPr>
          <p:cNvPr id="15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731EB664-B738-44EC-99FA-A5260BC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6" name="labels">
            <a:extLst xmlns:a="http://schemas.openxmlformats.org/drawingml/2006/main">
              <a:ext uri="{FF2B5EF4-FFF2-40B4-BE49-F238E27FC236}">
                <a16:creationId xmlns:a16="http://schemas.microsoft.com/office/drawing/2014/main" id="{1CA63EB0-71F8-431D-A559-20EB555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0239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17" name="evidence">
            <a:extLst xmlns:a="http://schemas.openxmlformats.org/drawingml/2006/main">
              <a:ext uri="{FF2B5EF4-FFF2-40B4-BE49-F238E27FC236}">
                <a16:creationId xmlns:a16="http://schemas.microsoft.com/office/drawing/2014/main" id="{D3D8A7EC-0DD9-422E-8635-64BE1CF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910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</a:t>
            </a:r>
          </a:p>
        </p:txBody>
      </p:sp>
      <p:sp>
        <p:nvSpPr>
          <p:cNvPr id="18" name="inference">
            <a:extLst xmlns:a="http://schemas.openxmlformats.org/drawingml/2006/main">
              <a:ext uri="{FF2B5EF4-FFF2-40B4-BE49-F238E27FC236}">
                <a16:creationId xmlns:a16="http://schemas.microsoft.com/office/drawing/2014/main" id="{2D442AF9-48C8-4EB3-83FF-16B559E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910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</a:t>
            </a:r>
          </a:p>
        </p:txBody>
      </p:sp>
      <p:sp>
        <p:nvSpPr>
          <p:cNvPr id="19" name="unproven">
            <a:extLst xmlns:a="http://schemas.openxmlformats.org/drawingml/2006/main">
              <a:ext uri="{FF2B5EF4-FFF2-40B4-BE49-F238E27FC236}">
                <a16:creationId xmlns:a16="http://schemas.microsoft.com/office/drawing/2014/main" id="{A40B16D2-9569-4FFD-B526-9C3140E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B057DE23-4BF7-4FA6-8DE2-B67141E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Empire and English</a:t>
            </a:r>
          </a:p>
        </p:txBody>
      </p:sp>
    </p:spTree>
    <p:extLst>
      <p:ext uri="{BB962C8B-B14F-4D97-AF65-F5344CB8AC3E}">
        <p14:creationId xmlns:p14="http://schemas.microsoft.com/office/powerpoint/2010/main" val="108808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2026-09-24T20:27:07.7830000Z</dcterms:created>
  <dcterms:modified xsi:type="dcterms:W3CDTF">2026-09-24T20:27:07.7830000Z</dcterms:modified>
</coreProperties>
</file>