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e2d74efa1d4fd7" /><Relationship Type="http://schemas.openxmlformats.org/officeDocument/2006/relationships/extended-properties" Target="/docProps/app.xml" Id="Rdf4a20f471bb4539" /><Relationship Type="http://schemas.openxmlformats.org/officeDocument/2006/relationships/officeDocument" Target="/ppt/presentation.xml" Id="R169f827811b245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47218949a94e4a"/>
  </p:sldMasterIdLst>
  <p:notesMasterIdLst>
    <p:notesMasterId xmlns:r="http://schemas.openxmlformats.org/officeDocument/2006/relationships" r:id="Rb1e9de94d34d4418"/>
  </p:notesMasterIdLst>
  <p:sldIdLst>
    <p:sldId xmlns:r="http://schemas.openxmlformats.org/officeDocument/2006/relationships" id="256" r:id="R9dcd684d21a34bf7"/>
    <p:sldId xmlns:r="http://schemas.openxmlformats.org/officeDocument/2006/relationships" id="257" r:id="R96bf60019263448d"/>
    <p:sldId xmlns:r="http://schemas.openxmlformats.org/officeDocument/2006/relationships" id="258" r:id="Reec89875bf664ff3"/>
    <p:sldId xmlns:r="http://schemas.openxmlformats.org/officeDocument/2006/relationships" id="259" r:id="R57228c517992442d"/>
    <p:sldId xmlns:r="http://schemas.openxmlformats.org/officeDocument/2006/relationships" id="260" r:id="R078a6fcf143f442b"/>
    <p:sldId xmlns:r="http://schemas.openxmlformats.org/officeDocument/2006/relationships" id="261" r:id="Ra85755450da946f2"/>
    <p:sldId xmlns:r="http://schemas.openxmlformats.org/officeDocument/2006/relationships" id="262" r:id="R4d8e469a7edb4bc9"/>
    <p:sldId xmlns:r="http://schemas.openxmlformats.org/officeDocument/2006/relationships" id="263" r:id="R48449469ffe74b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617cd4beb449e5" /><Relationship Type="http://schemas.openxmlformats.org/officeDocument/2006/relationships/slideMaster" Target="/ppt/slideMasters/slideMaster1.xml" Id="R6947218949a94e4a" /><Relationship Type="http://schemas.openxmlformats.org/officeDocument/2006/relationships/notesMaster" Target="/ppt/notesMasters/notesMaster1.xml" Id="Rb1e9de94d34d4418" /><Relationship Type="http://schemas.openxmlformats.org/officeDocument/2006/relationships/presProps" Target="/ppt/presProps.xml" Id="Rd41b4e5e5b344614" /><Relationship Type="http://schemas.openxmlformats.org/officeDocument/2006/relationships/tableStyles" Target="/ppt/tableStyles.xml" Id="R9659c1024d4a4a4e" /><Relationship Type="http://schemas.openxmlformats.org/officeDocument/2006/relationships/slide" Target="/ppt/slides/slide1.xml" Id="R9dcd684d21a34bf7" /><Relationship Type="http://schemas.openxmlformats.org/officeDocument/2006/relationships/slide" Target="/ppt/slides/slide2.xml" Id="R96bf60019263448d" /><Relationship Type="http://schemas.openxmlformats.org/officeDocument/2006/relationships/slide" Target="/ppt/slides/slide3.xml" Id="Reec89875bf664ff3" /><Relationship Type="http://schemas.openxmlformats.org/officeDocument/2006/relationships/slide" Target="/ppt/slides/slide4.xml" Id="R57228c517992442d" /><Relationship Type="http://schemas.openxmlformats.org/officeDocument/2006/relationships/slide" Target="/ppt/slides/slide5.xml" Id="R078a6fcf143f442b" /><Relationship Type="http://schemas.openxmlformats.org/officeDocument/2006/relationships/slide" Target="/ppt/slides/slide6.xml" Id="Ra85755450da946f2" /><Relationship Type="http://schemas.openxmlformats.org/officeDocument/2006/relationships/slide" Target="/ppt/slides/slide7.xml" Id="R4d8e469a7edb4bc9" /><Relationship Type="http://schemas.openxmlformats.org/officeDocument/2006/relationships/slide" Target="/ppt/slides/slide8.xml" Id="R48449469ffe74b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727e8f4eeb47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34d9013138482a" /><Relationship Type="http://schemas.openxmlformats.org/officeDocument/2006/relationships/notesMaster" Target="/ppt/notesMasters/notesMaster1.xml" Id="R576b2a69eff84f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ae7f9422ac4d73" /><Relationship Type="http://schemas.openxmlformats.org/officeDocument/2006/relationships/notesMaster" Target="/ppt/notesMasters/notesMaster1.xml" Id="R6b3b2c86cb424a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f22d7108f145a0" /><Relationship Type="http://schemas.openxmlformats.org/officeDocument/2006/relationships/notesMaster" Target="/ppt/notesMasters/notesMaster1.xml" Id="Rbecd7018a36a40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1ce0d837664da3" /><Relationship Type="http://schemas.openxmlformats.org/officeDocument/2006/relationships/notesMaster" Target="/ppt/notesMasters/notesMaster1.xml" Id="R57bf9d3c788943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95101249c04cb7" /><Relationship Type="http://schemas.openxmlformats.org/officeDocument/2006/relationships/notesMaster" Target="/ppt/notesMasters/notesMaster1.xml" Id="R0341c69d463043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7d3067c5334b9c" /><Relationship Type="http://schemas.openxmlformats.org/officeDocument/2006/relationships/notesMaster" Target="/ppt/notesMasters/notesMaster1.xml" Id="R81598f7db4ab42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3fe7c202254cf5" /><Relationship Type="http://schemas.openxmlformats.org/officeDocument/2006/relationships/notesMaster" Target="/ppt/notesMasters/notesMaster1.xml" Id="R79ec18c90b8c4b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e227bc4847430e" /><Relationship Type="http://schemas.openxmlformats.org/officeDocument/2006/relationships/notesMaster" Target="/ppt/notesMasters/notesMaster1.xml" Id="Reca5fe93f9e640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Rome ruled Britain.</a:t>
            </a:r>
          </a:p>
          <a:p xmlns:a="http://schemas.openxmlformats.org/drawingml/2006/main">
            <a:r>
              <a:t>Inference: Power shaped records.</a:t>
            </a:r>
          </a:p>
          <a:p xmlns:a="http://schemas.openxmlformats.org/drawingml/2006/main">
            <a:r>
              <a:t>Unproven: Exact speaker shares.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https://www.english-heritage.org.uk/learn/story-of-england/romans/</a:t>
            </a:r>
          </a:p>
          <a:p xmlns:a="http://schemas.openxmlformats.org/drawingml/2006/main">
            <a:r>
              <a:t>https://romaninscriptionsofbritain.org/about/about-rib-online</a:t>
            </a:r>
          </a:p>
          <a:p xmlns:a="http://schemas.openxmlformats.org/drawingml/2006/main">
            <a:r>
              <a:t>https://lrc.la.utexas.edu/eieol/engol/0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English dates later.</a:t>
            </a:r>
          </a:p>
          <a:p xmlns:a="http://schemas.openxmlformats.org/drawingml/2006/main">
            <a:r>
              <a:t>Inference: Brittonic was widespread.</a:t>
            </a:r>
          </a:p>
          <a:p xmlns:a="http://schemas.openxmlformats.org/drawingml/2006/main">
            <a:r>
              <a:t>Unproven: Exact language shares.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https://latinnow.eu/</a:t>
            </a:r>
          </a:p>
          <a:p xmlns:a="http://schemas.openxmlformats.org/drawingml/2006/main">
            <a:r>
              <a:t>https://www.jstor.org/stable/30030567</a:t>
            </a:r>
          </a:p>
          <a:p xmlns:a="http://schemas.openxmlformats.org/drawingml/2006/main">
            <a:r>
              <a:t>https://lrc.la.utexas.edu/eieol/engol/0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Invasion began 43.</a:t>
            </a:r>
          </a:p>
          <a:p xmlns:a="http://schemas.openxmlformats.org/drawingml/2006/main">
            <a:r>
              <a:t>Evidence: Rule ended later.</a:t>
            </a:r>
          </a:p>
          <a:p xmlns:a="http://schemas.openxmlformats.org/drawingml/2006/main">
            <a:r>
              <a:t>Inference: Institutions favored Latin.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https://www.english-heritage.org.uk/learn/story-of-england/romans/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Both objects survive.</a:t>
            </a:r>
          </a:p>
          <a:p xmlns:a="http://schemas.openxmlformats.org/drawingml/2006/main">
            <a:r>
              <a:t>Evidence: Both use Latin.</a:t>
            </a:r>
          </a:p>
          <a:p xmlns:a="http://schemas.openxmlformats.org/drawingml/2006/main">
            <a:r>
              <a:t>Inference: Latin held visibility.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https://romaninscriptionsofbritain.org/inscriptions/TabVindol234</a:t>
            </a:r>
          </a:p>
          <a:p xmlns:a="http://schemas.openxmlformats.org/drawingml/2006/main">
            <a:r>
              <a:t>https://romaninscriptionsofbritain.org/inscriptions/635</a:t>
            </a:r>
          </a:p>
          <a:p xmlns:a="http://schemas.openxmlformats.org/drawingml/2006/main">
            <a:r>
              <a:t>https://romaninscriptionsofbritain.org/about/about-rib-online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Names preserve traces.</a:t>
            </a:r>
          </a:p>
          <a:p xmlns:a="http://schemas.openxmlformats.org/drawingml/2006/main">
            <a:r>
              <a:t>Inference: Speech likely continued.</a:t>
            </a:r>
          </a:p>
          <a:p xmlns:a="http://schemas.openxmlformats.org/drawingml/2006/main">
            <a:r>
              <a:t>Unproven: Regional speaker shares.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https://www.jstor.org/stable/30030567</a:t>
            </a:r>
          </a:p>
          <a:p xmlns:a="http://schemas.openxmlformats.org/drawingml/2006/main">
            <a:r>
              <a:t>https://latinnow.eu/</a:t>
            </a:r>
          </a:p>
          <a:p xmlns:a="http://schemas.openxmlformats.org/drawingml/2006/main">
            <a:r>
              <a:t>https://romaninscriptionsofbritain.org/inscriptions/635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Institutions left texts.</a:t>
            </a:r>
          </a:p>
          <a:p xmlns:a="http://schemas.openxmlformats.org/drawingml/2006/main">
            <a:r>
              <a:t>Inference: Records favor power.</a:t>
            </a:r>
          </a:p>
          <a:p xmlns:a="http://schemas.openxmlformats.org/drawingml/2006/main">
            <a:r>
              <a:t>Unproven: Home language totals.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https://romaninscriptionsofbritain.org/about/about-rib-online</a:t>
            </a:r>
          </a:p>
          <a:p xmlns:a="http://schemas.openxmlformats.org/drawingml/2006/main">
            <a:r>
              <a:t>https://romaninscriptionsofbritain.org/inscriptions/TabVindol234</a:t>
            </a:r>
          </a:p>
          <a:p xmlns:a="http://schemas.openxmlformats.org/drawingml/2006/main">
            <a:r>
              <a:t>https://romaninscriptionsofbritain.org/inscriptions/635</a:t>
            </a:r>
          </a:p>
          <a:p xmlns:a="http://schemas.openxmlformats.org/drawingml/2006/main">
            <a:r>
              <a:t>https://latinnow.eu/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Settlement came later.</a:t>
            </a:r>
          </a:p>
          <a:p xmlns:a="http://schemas.openxmlformats.org/drawingml/2006/main">
            <a:r>
              <a:t>Inference: English formed gradually.</a:t>
            </a:r>
          </a:p>
          <a:p xmlns:a="http://schemas.openxmlformats.org/drawingml/2006/main">
            <a:r>
              <a:t>Unproven: One change date.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https://www.english-heritage.org.uk/learn/story-of-england/romans/</a:t>
            </a:r>
          </a:p>
          <a:p xmlns:a="http://schemas.openxmlformats.org/drawingml/2006/main">
            <a:r>
              <a:t>https://lrc.la.utexas.edu/eieol/engol/0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Sources appear above.</a:t>
            </a:r>
          </a:p>
          <a:p xmlns:a="http://schemas.openxmlformats.org/drawingml/2006/main">
            <a:r>
              <a:t>Inference: Records need caution.</a:t>
            </a:r>
          </a:p>
          <a:p xmlns:a="http://schemas.openxmlformats.org/drawingml/2006/main">
            <a:r>
              <a:t>Unproven claims stay labelled.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https://www.english-heritage.org.uk/learn/story-of-england/romans/</a:t>
            </a:r>
          </a:p>
          <a:p xmlns:a="http://schemas.openxmlformats.org/drawingml/2006/main">
            <a:r>
              <a:t>https://romaninscriptionsofbritain.org/about/about-rib-online</a:t>
            </a:r>
          </a:p>
          <a:p xmlns:a="http://schemas.openxmlformats.org/drawingml/2006/main">
            <a:r>
              <a:t>https://latinnow.eu/</a:t>
            </a:r>
          </a:p>
          <a:p xmlns:a="http://schemas.openxmlformats.org/drawingml/2006/main">
            <a:r>
              <a:t>https://www.jstor.org/stable/30030567</a:t>
            </a:r>
          </a:p>
          <a:p xmlns:a="http://schemas.openxmlformats.org/drawingml/2006/main">
            <a:r>
              <a:t>https://lrc.la.utexas.edu/eieol/engol/0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97fb401f8e48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4762f8dc67455c" /><Relationship Type="http://schemas.openxmlformats.org/officeDocument/2006/relationships/slideLayout" Target="/ppt/slideLayouts/slideLayout1.xml" Id="R7a2d7b2f926d44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2d7b2f926d44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9f4d698f14f83" /><Relationship Type="http://schemas.openxmlformats.org/officeDocument/2006/relationships/image" Target="/ppt/media/image.png" Id="Rf822cd4ab781404c" /><Relationship Type="http://schemas.openxmlformats.org/officeDocument/2006/relationships/notesSlide" Target="/ppt/notesSlides/notesSlide1.xml" Id="Rf721bf28973444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1c70957254cad" /><Relationship Type="http://schemas.openxmlformats.org/officeDocument/2006/relationships/notesSlide" Target="/ppt/notesSlides/notesSlide2.xml" Id="Rb48dee37ae8144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41d44e2d64aae" /><Relationship Type="http://schemas.openxmlformats.org/officeDocument/2006/relationships/notesSlide" Target="/ppt/notesSlides/notesSlide3.xml" Id="R3ad679dcd7a84f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ba1dc1f204c69" /><Relationship Type="http://schemas.openxmlformats.org/officeDocument/2006/relationships/notesSlide" Target="/ppt/notesSlides/notesSlide4.xml" Id="R7c9bed1aa1a545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b1b5a4f44440c9" /><Relationship Type="http://schemas.openxmlformats.org/officeDocument/2006/relationships/notesSlide" Target="/ppt/notesSlides/notesSlide5.xml" Id="R2556ef19f8c045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f44e1447848b3" /><Relationship Type="http://schemas.openxmlformats.org/officeDocument/2006/relationships/notesSlide" Target="/ppt/notesSlides/notesSlide6.xml" Id="R9b1b244e95504d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3be4d776fe4b43" /><Relationship Type="http://schemas.openxmlformats.org/officeDocument/2006/relationships/notesSlide" Target="/ppt/notesSlides/notesSlide7.xml" Id="R5392df0bb42543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cc3ec81164061" /><Relationship Type="http://schemas.openxmlformats.org/officeDocument/2006/relationships/notesSlide" Target="/ppt/notesSlides/notesSlide8.xml" Id="R21188ff801ce486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22cd4ab781404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D184E89A-17E0-4B6B-8429-DA63B9FA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00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ENGLISH, POWER, ACCESS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CB1BD78-AFFF-4873-945C-2479C9A1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33475"/>
            <a:ext cx="4953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49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Before</a:t>
            </a:r>
          </a:p>
          <a:p xmlns:a="http://schemas.openxmlformats.org/drawingml/2006/main">
            <a:pPr algn="l">
              <a:defRPr sz="49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49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English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8CD9818-9FF5-4359-8149-34E3FA65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BRITAIN, LANGUAGES, POWER</a:t>
            </a:r>
          </a:p>
        </p:txBody>
      </p:sp>
      <p:sp>
        <p:nvSpPr>
          <p:cNvPr id="5" name="cover-tag">
            <a:extLst xmlns:a="http://schemas.openxmlformats.org/drawingml/2006/main">
              <a:ext uri="{FF2B5EF4-FFF2-40B4-BE49-F238E27FC236}">
                <a16:creationId xmlns:a16="http://schemas.microsoft.com/office/drawing/2014/main" id="{7E65B576-141A-4341-BDB0-64FB34B5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1200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32331"/>
          </a:solidFill>
          <a:ln xmlns:a="http://schemas.openxmlformats.org/drawingml/2006/main" w="0">
            <a:noFill/>
          </a:ln>
        </p:spPr>
      </p:sp>
      <p:sp>
        <p:nvSpPr>
          <p:cNvPr id="6" name="cover-series">
            <a:extLst xmlns:a="http://schemas.openxmlformats.org/drawingml/2006/main">
              <a:ext uri="{FF2B5EF4-FFF2-40B4-BE49-F238E27FC236}">
                <a16:creationId xmlns:a16="http://schemas.microsoft.com/office/drawing/2014/main" id="{B34C187F-8297-4B5F-BB10-99CC5647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1200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02 / 12</a:t>
            </a:r>
          </a:p>
        </p:txBody>
      </p:sp>
    </p:spTree>
    <p:extLst>
      <p:ext uri="{BB962C8B-B14F-4D97-AF65-F5344CB8AC3E}">
        <p14:creationId xmlns:p14="http://schemas.microsoft.com/office/powerpoint/2010/main" val="972313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38031CDD-6298-4960-B551-DBF63E09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Britain spoke earlier languages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4E2AA9B7-DF8B-4802-B9F6-374B4C6D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B32A9678-FA17-4FDE-B849-E65B7B1C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 / 02 / 02</a:t>
            </a:r>
          </a:p>
        </p:txBody>
      </p:sp>
      <p:sp>
        <p:nvSpPr>
          <p:cNvPr id="4" name="card-0">
            <a:extLst xmlns:a="http://schemas.openxmlformats.org/drawingml/2006/main">
              <a:ext uri="{FF2B5EF4-FFF2-40B4-BE49-F238E27FC236}">
                <a16:creationId xmlns:a16="http://schemas.microsoft.com/office/drawing/2014/main" id="{AE25355B-DFA9-406B-9778-B4F83F8C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3143250" cy="3209925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5" name="card-band-0">
            <a:extLst xmlns:a="http://schemas.openxmlformats.org/drawingml/2006/main">
              <a:ext uri="{FF2B5EF4-FFF2-40B4-BE49-F238E27FC236}">
                <a16:creationId xmlns:a16="http://schemas.microsoft.com/office/drawing/2014/main" id="{FAFE338B-ABE9-4668-BD54-77D53B02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657"/>
          </a:solidFill>
          <a:ln xmlns:a="http://schemas.openxmlformats.org/drawingml/2006/main" w="0">
            <a:noFill/>
          </a:ln>
        </p:spPr>
      </p:sp>
      <p:sp>
        <p:nvSpPr>
          <p:cNvPr id="6" name="card-label-0">
            <a:extLst xmlns:a="http://schemas.openxmlformats.org/drawingml/2006/main">
              <a:ext uri="{FF2B5EF4-FFF2-40B4-BE49-F238E27FC236}">
                <a16:creationId xmlns:a16="http://schemas.microsoft.com/office/drawing/2014/main" id="{ED4E969A-5E25-4F1E-819F-5215C406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145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D6657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4D6657"/>
                </a:solidFill>
                <a:latin typeface="Nimbus Sans"/>
                <a:ea typeface="Nimbus Sans"/>
                <a:cs typeface="Nimbus Sans"/>
              </a:rPr>
              <a:t>BRITTONIC</a:t>
            </a:r>
          </a:p>
        </p:txBody>
      </p:sp>
      <p:sp>
        <p:nvSpPr>
          <p:cNvPr id="7" name="card-big-0">
            <a:extLst xmlns:a="http://schemas.openxmlformats.org/drawingml/2006/main">
              <a:ext uri="{FF2B5EF4-FFF2-40B4-BE49-F238E27FC236}">
                <a16:creationId xmlns:a16="http://schemas.microsoft.com/office/drawing/2014/main" id="{7744BDB7-E689-4142-BF22-55209EF5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260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6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Local speech</a:t>
            </a:r>
          </a:p>
        </p:txBody>
      </p:sp>
      <p:sp>
        <p:nvSpPr>
          <p:cNvPr id="8" name="card-small-0">
            <a:extLst xmlns:a="http://schemas.openxmlformats.org/drawingml/2006/main">
              <a:ext uri="{FF2B5EF4-FFF2-40B4-BE49-F238E27FC236}">
                <a16:creationId xmlns:a16="http://schemas.microsoft.com/office/drawing/2014/main" id="{677B4404-671B-41A7-8544-E3426381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00475"/>
            <a:ext cx="2609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Many regional varieties.</a:t>
            </a:r>
          </a:p>
        </p:txBody>
      </p:sp>
      <p:sp>
        <p:nvSpPr>
          <p:cNvPr id="9" name="card-1">
            <a:extLst xmlns:a="http://schemas.openxmlformats.org/drawingml/2006/main">
              <a:ext uri="{FF2B5EF4-FFF2-40B4-BE49-F238E27FC236}">
                <a16:creationId xmlns:a16="http://schemas.microsoft.com/office/drawing/2014/main" id="{9E794A6C-822B-4AE9-B48E-99B6EF9A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43075"/>
            <a:ext cx="3143250" cy="3209925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0" name="card-band-1">
            <a:extLst xmlns:a="http://schemas.openxmlformats.org/drawingml/2006/main">
              <a:ext uri="{FF2B5EF4-FFF2-40B4-BE49-F238E27FC236}">
                <a16:creationId xmlns:a16="http://schemas.microsoft.com/office/drawing/2014/main" id="{4A680F2D-44FA-497D-B017-16160B42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430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11" name="card-label-1">
            <a:extLst xmlns:a="http://schemas.openxmlformats.org/drawingml/2006/main">
              <a:ext uri="{FF2B5EF4-FFF2-40B4-BE49-F238E27FC236}">
                <a16:creationId xmlns:a16="http://schemas.microsoft.com/office/drawing/2014/main" id="{5C0AF2D7-F9CB-4837-9CE7-60900606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145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LATIN</a:t>
            </a:r>
          </a:p>
        </p:txBody>
      </p:sp>
      <p:sp>
        <p:nvSpPr>
          <p:cNvPr id="12" name="card-big-1">
            <a:extLst xmlns:a="http://schemas.openxmlformats.org/drawingml/2006/main">
              <a:ext uri="{FF2B5EF4-FFF2-40B4-BE49-F238E27FC236}">
                <a16:creationId xmlns:a16="http://schemas.microsoft.com/office/drawing/2014/main" id="{65920881-85FD-4799-94B1-AC143FBF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05100"/>
            <a:ext cx="260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6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Roman power</a:t>
            </a:r>
          </a:p>
        </p:txBody>
      </p:sp>
      <p:sp>
        <p:nvSpPr>
          <p:cNvPr id="13" name="card-small-1">
            <a:extLst xmlns:a="http://schemas.openxmlformats.org/drawingml/2006/main">
              <a:ext uri="{FF2B5EF4-FFF2-40B4-BE49-F238E27FC236}">
                <a16:creationId xmlns:a16="http://schemas.microsoft.com/office/drawing/2014/main" id="{4AAE7011-63C1-4D72-AA3B-CAB240AB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00475"/>
            <a:ext cx="2609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Public writing expanded.</a:t>
            </a:r>
          </a:p>
        </p:txBody>
      </p:sp>
      <p:sp>
        <p:nvSpPr>
          <p:cNvPr id="14" name="card-2">
            <a:extLst xmlns:a="http://schemas.openxmlformats.org/drawingml/2006/main">
              <a:ext uri="{FF2B5EF4-FFF2-40B4-BE49-F238E27FC236}">
                <a16:creationId xmlns:a16="http://schemas.microsoft.com/office/drawing/2014/main" id="{E1922D95-5108-4390-A37A-217B98AE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43075"/>
            <a:ext cx="3143250" cy="3209925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5" name="card-band-2">
            <a:extLst xmlns:a="http://schemas.openxmlformats.org/drawingml/2006/main">
              <a:ext uri="{FF2B5EF4-FFF2-40B4-BE49-F238E27FC236}">
                <a16:creationId xmlns:a16="http://schemas.microsoft.com/office/drawing/2014/main" id="{BDDF8857-FD1A-4561-83C6-66BA5761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430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16" name="card-label-2">
            <a:extLst xmlns:a="http://schemas.openxmlformats.org/drawingml/2006/main">
              <a:ext uri="{FF2B5EF4-FFF2-40B4-BE49-F238E27FC236}">
                <a16:creationId xmlns:a16="http://schemas.microsoft.com/office/drawing/2014/main" id="{2A5AD170-55B4-468C-9762-6DD60333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</a:t>
            </a:r>
          </a:p>
        </p:txBody>
      </p:sp>
      <p:sp>
        <p:nvSpPr>
          <p:cNvPr id="17" name="card-big-2">
            <a:extLst xmlns:a="http://schemas.openxmlformats.org/drawingml/2006/main">
              <a:ext uri="{FF2B5EF4-FFF2-40B4-BE49-F238E27FC236}">
                <a16:creationId xmlns:a16="http://schemas.microsoft.com/office/drawing/2014/main" id="{896D8353-8E78-40A6-BF14-8B2121F9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05100"/>
            <a:ext cx="260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6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Not established</a:t>
            </a:r>
          </a:p>
        </p:txBody>
      </p:sp>
      <p:sp>
        <p:nvSpPr>
          <p:cNvPr id="18" name="card-small-2">
            <a:extLst xmlns:a="http://schemas.openxmlformats.org/drawingml/2006/main">
              <a:ext uri="{FF2B5EF4-FFF2-40B4-BE49-F238E27FC236}">
                <a16:creationId xmlns:a16="http://schemas.microsoft.com/office/drawing/2014/main" id="{8EF74097-6963-43AB-95DA-43D3A432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800475"/>
            <a:ext cx="2609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Settlement came later.</a:t>
            </a:r>
          </a:p>
        </p:txBody>
      </p:sp>
      <p:sp>
        <p:nvSpPr>
          <p:cNvPr id="19" name="limit">
            <a:extLst xmlns:a="http://schemas.openxmlformats.org/drawingml/2006/main">
              <a:ext uri="{FF2B5EF4-FFF2-40B4-BE49-F238E27FC236}">
                <a16:creationId xmlns:a16="http://schemas.microsoft.com/office/drawing/2014/main" id="{C3C4EF2E-DCFC-4124-8BC7-9B7AD8E8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19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Speaker totals remain unknown.</a:t>
            </a:r>
          </a:p>
        </p:txBody>
      </p:sp>
    </p:spTree>
    <p:extLst>
      <p:ext uri="{BB962C8B-B14F-4D97-AF65-F5344CB8AC3E}">
        <p14:creationId xmlns:p14="http://schemas.microsoft.com/office/powerpoint/2010/main" val="1899607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323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">
            <a:extLst xmlns:a="http://schemas.openxmlformats.org/drawingml/2006/main">
              <a:ext uri="{FF2B5EF4-FFF2-40B4-BE49-F238E27FC236}">
                <a16:creationId xmlns:a16="http://schemas.microsoft.com/office/drawing/2014/main" id="{1E4676AD-97AE-41D1-95F3-0F00A127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Rome arrived in 43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2C8FE428-EA59-4922-ADEA-21A08ACF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7E4D55C6-A57A-4DA9-9FFD-A58EAF08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ENGLISH / 02 / 03</a:t>
            </a:r>
          </a:p>
        </p:txBody>
      </p:sp>
      <p:sp>
        <p:nvSpPr>
          <p:cNvPr id="4" name="timeline">
            <a:extLst xmlns:a="http://schemas.openxmlformats.org/drawingml/2006/main">
              <a:ext uri="{FF2B5EF4-FFF2-40B4-BE49-F238E27FC236}">
                <a16:creationId xmlns:a16="http://schemas.microsoft.com/office/drawing/2014/main" id="{3CB44EBF-B86C-491C-A5E2-B1E9F126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57550"/>
            <a:ext cx="9715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5" name="mark-0">
            <a:extLst xmlns:a="http://schemas.openxmlformats.org/drawingml/2006/main">
              <a:ext uri="{FF2B5EF4-FFF2-40B4-BE49-F238E27FC236}">
                <a16:creationId xmlns:a16="http://schemas.microsoft.com/office/drawing/2014/main" id="{FE8222A1-517E-4D55-B570-D1C0E23F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133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solidFill>
              <a:srgbClr val="D1A04B"/>
            </a:solidFill>
          </a:ln>
        </p:spPr>
      </p:sp>
      <p:sp>
        <p:nvSpPr>
          <p:cNvPr id="6" name="year-0">
            <a:extLst xmlns:a="http://schemas.openxmlformats.org/drawingml/2006/main">
              <a:ext uri="{FF2B5EF4-FFF2-40B4-BE49-F238E27FC236}">
                <a16:creationId xmlns:a16="http://schemas.microsoft.com/office/drawing/2014/main" id="{D5C5AC1E-E325-43AA-A00F-2CFEAB37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24025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43 CE</a:t>
            </a:r>
          </a:p>
        </p:txBody>
      </p:sp>
      <p:sp>
        <p:nvSpPr>
          <p:cNvPr id="7" name="a-0">
            <a:extLst xmlns:a="http://schemas.openxmlformats.org/drawingml/2006/main">
              <a:ext uri="{FF2B5EF4-FFF2-40B4-BE49-F238E27FC236}">
                <a16:creationId xmlns:a16="http://schemas.microsoft.com/office/drawing/2014/main" id="{43EF546E-DC5D-4683-8CC7-74F3692D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290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Invasion began</a:t>
            </a:r>
          </a:p>
        </p:txBody>
      </p:sp>
      <p:sp>
        <p:nvSpPr>
          <p:cNvPr id="8" name="b-0">
            <a:extLst xmlns:a="http://schemas.openxmlformats.org/drawingml/2006/main">
              <a:ext uri="{FF2B5EF4-FFF2-40B4-BE49-F238E27FC236}">
                <a16:creationId xmlns:a16="http://schemas.microsoft.com/office/drawing/2014/main" id="{DCD4329A-F475-4A6F-88AB-77C4E0DA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Armies carried Latin.</a:t>
            </a:r>
          </a:p>
        </p:txBody>
      </p:sp>
      <p:sp>
        <p:nvSpPr>
          <p:cNvPr id="9" name="mark-1">
            <a:extLst xmlns:a="http://schemas.openxmlformats.org/drawingml/2006/main">
              <a:ext uri="{FF2B5EF4-FFF2-40B4-BE49-F238E27FC236}">
                <a16:creationId xmlns:a16="http://schemas.microsoft.com/office/drawing/2014/main" id="{59C17913-1B30-42E0-827D-DF6460AA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133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solidFill>
              <a:srgbClr val="D1A04B"/>
            </a:solidFill>
          </a:ln>
        </p:spPr>
      </p:sp>
      <p:sp>
        <p:nvSpPr>
          <p:cNvPr id="10" name="year-1">
            <a:extLst xmlns:a="http://schemas.openxmlformats.org/drawingml/2006/main">
              <a:ext uri="{FF2B5EF4-FFF2-40B4-BE49-F238E27FC236}">
                <a16:creationId xmlns:a16="http://schemas.microsoft.com/office/drawing/2014/main" id="{4474CAD9-F9DD-4D4A-9D94-A351855F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24025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ROMAN RULE</a:t>
            </a:r>
          </a:p>
        </p:txBody>
      </p:sp>
      <p:sp>
        <p:nvSpPr>
          <p:cNvPr id="11" name="a-1">
            <a:extLst xmlns:a="http://schemas.openxmlformats.org/drawingml/2006/main">
              <a:ext uri="{FF2B5EF4-FFF2-40B4-BE49-F238E27FC236}">
                <a16:creationId xmlns:a16="http://schemas.microsoft.com/office/drawing/2014/main" id="{5639A6D9-CE1A-4846-8018-6ED93788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6290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Officials used Latin</a:t>
            </a:r>
          </a:p>
        </p:txBody>
      </p:sp>
      <p:sp>
        <p:nvSpPr>
          <p:cNvPr id="12" name="b-1">
            <a:extLst xmlns:a="http://schemas.openxmlformats.org/drawingml/2006/main">
              <a:ext uri="{FF2B5EF4-FFF2-40B4-BE49-F238E27FC236}">
                <a16:creationId xmlns:a16="http://schemas.microsoft.com/office/drawing/2014/main" id="{DDC7869C-894C-41F0-8EF4-8E5F028C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148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Stones displayed Latin.</a:t>
            </a:r>
          </a:p>
        </p:txBody>
      </p:sp>
      <p:sp>
        <p:nvSpPr>
          <p:cNvPr id="13" name="mark-2">
            <a:extLst xmlns:a="http://schemas.openxmlformats.org/drawingml/2006/main">
              <a:ext uri="{FF2B5EF4-FFF2-40B4-BE49-F238E27FC236}">
                <a16:creationId xmlns:a16="http://schemas.microsoft.com/office/drawing/2014/main" id="{755A23D8-3070-41CB-8448-A5B50038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1825" y="3133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solidFill>
              <a:srgbClr val="D1A04B"/>
            </a:solidFill>
          </a:ln>
        </p:spPr>
      </p:sp>
      <p:sp>
        <p:nvSpPr>
          <p:cNvPr id="14" name="year-2">
            <a:extLst xmlns:a="http://schemas.openxmlformats.org/drawingml/2006/main">
              <a:ext uri="{FF2B5EF4-FFF2-40B4-BE49-F238E27FC236}">
                <a16:creationId xmlns:a16="http://schemas.microsoft.com/office/drawing/2014/main" id="{5083C2AE-0260-44C4-A034-7F4A78C0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724025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EARLY 400s</a:t>
            </a:r>
          </a:p>
        </p:txBody>
      </p:sp>
      <p:sp>
        <p:nvSpPr>
          <p:cNvPr id="15" name="a-2">
            <a:extLst xmlns:a="http://schemas.openxmlformats.org/drawingml/2006/main">
              <a:ext uri="{FF2B5EF4-FFF2-40B4-BE49-F238E27FC236}">
                <a16:creationId xmlns:a16="http://schemas.microsoft.com/office/drawing/2014/main" id="{94E00E1E-255F-4243-912B-C4099BA9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290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Rule from Rome ended</a:t>
            </a:r>
          </a:p>
        </p:txBody>
      </p:sp>
      <p:sp>
        <p:nvSpPr>
          <p:cNvPr id="16" name="b-2">
            <a:extLst xmlns:a="http://schemas.openxmlformats.org/drawingml/2006/main">
              <a:ext uri="{FF2B5EF4-FFF2-40B4-BE49-F238E27FC236}">
                <a16:creationId xmlns:a16="http://schemas.microsoft.com/office/drawing/2014/main" id="{A164F38B-1F31-4152-AB09-1600798C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1148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725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Languages still changed.</a:t>
            </a:r>
          </a:p>
        </p:txBody>
      </p:sp>
    </p:spTree>
    <p:extLst>
      <p:ext uri="{BB962C8B-B14F-4D97-AF65-F5344CB8AC3E}">
        <p14:creationId xmlns:p14="http://schemas.microsoft.com/office/powerpoint/2010/main" val="11361986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">
            <a:extLst xmlns:a="http://schemas.openxmlformats.org/drawingml/2006/main">
              <a:ext uri="{FF2B5EF4-FFF2-40B4-BE49-F238E27FC236}">
                <a16:creationId xmlns:a16="http://schemas.microsoft.com/office/drawing/2014/main" id="{725C7319-0EBE-4632-9540-2427B580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Latin survives on objects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28633367-8B77-4DF6-890B-026A7D4C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3B5C070A-D460-4307-9E75-24CC40DB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 / 02 / 04</a:t>
            </a:r>
          </a:p>
        </p:txBody>
      </p:sp>
      <p:sp>
        <p:nvSpPr>
          <p:cNvPr id="4" name="tablet-card">
            <a:extLst xmlns:a="http://schemas.openxmlformats.org/drawingml/2006/main">
              <a:ext uri="{FF2B5EF4-FFF2-40B4-BE49-F238E27FC236}">
                <a16:creationId xmlns:a16="http://schemas.microsoft.com/office/drawing/2014/main" id="{D64C45BB-19FF-4EF5-A213-422E5437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5048250" cy="3400425"/>
          </a:xfrm>
          <a:prstGeom xmlns:a="http://schemas.openxmlformats.org/drawingml/2006/main" prst="roundRect">
            <a:avLst>
              <a:gd name="adj" fmla="val 22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5" name="altar-card">
            <a:extLst xmlns:a="http://schemas.openxmlformats.org/drawingml/2006/main">
              <a:ext uri="{FF2B5EF4-FFF2-40B4-BE49-F238E27FC236}">
                <a16:creationId xmlns:a16="http://schemas.microsoft.com/office/drawing/2014/main" id="{32B3C6B3-D30B-40E1-AE8C-33DDB891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57350"/>
            <a:ext cx="5048250" cy="3400425"/>
          </a:xfrm>
          <a:prstGeom xmlns:a="http://schemas.openxmlformats.org/drawingml/2006/main" prst="roundRect">
            <a:avLst>
              <a:gd name="adj" fmla="val 22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6" name="tablet-kicker">
            <a:extLst xmlns:a="http://schemas.openxmlformats.org/drawingml/2006/main">
              <a:ext uri="{FF2B5EF4-FFF2-40B4-BE49-F238E27FC236}">
                <a16:creationId xmlns:a16="http://schemas.microsoft.com/office/drawing/2014/main" id="{64AD1DEA-1163-494F-8A5A-440E767D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0002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VINDOLANDA TABLET 234</a:t>
            </a:r>
          </a:p>
        </p:txBody>
      </p:sp>
      <p:sp>
        <p:nvSpPr>
          <p:cNvPr id="7" name="tablet-year">
            <a:extLst xmlns:a="http://schemas.openxmlformats.org/drawingml/2006/main">
              <a:ext uri="{FF2B5EF4-FFF2-40B4-BE49-F238E27FC236}">
                <a16:creationId xmlns:a16="http://schemas.microsoft.com/office/drawing/2014/main" id="{8057EEF8-9F1A-4751-B7BE-E28C661B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457450"/>
            <a:ext cx="438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37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97–105 CE</a:t>
            </a:r>
          </a:p>
        </p:txBody>
      </p:sp>
      <p:sp>
        <p:nvSpPr>
          <p:cNvPr id="8" name="tablet-line1">
            <a:extLst xmlns:a="http://schemas.openxmlformats.org/drawingml/2006/main">
              <a:ext uri="{FF2B5EF4-FFF2-40B4-BE49-F238E27FC236}">
                <a16:creationId xmlns:a16="http://schemas.microsoft.com/office/drawing/2014/main" id="{C4CBC94E-E7C8-4049-8894-F287E30E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2956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75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A private Latin letter.</a:t>
            </a:r>
          </a:p>
        </p:txBody>
      </p:sp>
      <p:sp>
        <p:nvSpPr>
          <p:cNvPr id="9" name="tablet-line2">
            <a:extLst xmlns:a="http://schemas.openxmlformats.org/drawingml/2006/main">
              <a:ext uri="{FF2B5EF4-FFF2-40B4-BE49-F238E27FC236}">
                <a16:creationId xmlns:a16="http://schemas.microsoft.com/office/drawing/2014/main" id="{C4AF1B5A-D852-489E-8197-CE9E8ECB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87667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Military life became visible.</a:t>
            </a:r>
          </a:p>
        </p:txBody>
      </p:sp>
      <p:sp>
        <p:nvSpPr>
          <p:cNvPr id="10" name="altar-kicker">
            <a:extLst xmlns:a="http://schemas.openxmlformats.org/drawingml/2006/main">
              <a:ext uri="{FF2B5EF4-FFF2-40B4-BE49-F238E27FC236}">
                <a16:creationId xmlns:a16="http://schemas.microsoft.com/office/drawing/2014/main" id="{B3EB2D19-0290-447A-9F4D-E9C88D26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0002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VERBEIA ALTAR</a:t>
            </a:r>
          </a:p>
        </p:txBody>
      </p:sp>
      <p:sp>
        <p:nvSpPr>
          <p:cNvPr id="11" name="altar-year">
            <a:extLst xmlns:a="http://schemas.openxmlformats.org/drawingml/2006/main">
              <a:ext uri="{FF2B5EF4-FFF2-40B4-BE49-F238E27FC236}">
                <a16:creationId xmlns:a16="http://schemas.microsoft.com/office/drawing/2014/main" id="{BAFF06D6-EFA6-4D83-9177-3E1A72FA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57450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0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DATE UNKNOWN</a:t>
            </a:r>
          </a:p>
        </p:txBody>
      </p:sp>
      <p:sp>
        <p:nvSpPr>
          <p:cNvPr id="12" name="altar-line1">
            <a:extLst xmlns:a="http://schemas.openxmlformats.org/drawingml/2006/main">
              <a:ext uri="{FF2B5EF4-FFF2-40B4-BE49-F238E27FC236}">
                <a16:creationId xmlns:a16="http://schemas.microsoft.com/office/drawing/2014/main" id="{BFAC2ED5-3F19-46FF-8FCC-C956F38F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2956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75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Latin names local worship.</a:t>
            </a:r>
          </a:p>
        </p:txBody>
      </p:sp>
      <p:sp>
        <p:nvSpPr>
          <p:cNvPr id="13" name="altar-line2">
            <a:extLst xmlns:a="http://schemas.openxmlformats.org/drawingml/2006/main">
              <a:ext uri="{FF2B5EF4-FFF2-40B4-BE49-F238E27FC236}">
                <a16:creationId xmlns:a16="http://schemas.microsoft.com/office/drawing/2014/main" id="{F929582E-74AF-4992-84B2-C9AA166D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7667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A river goddess remains.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06217AB0-0565-4736-B285-F15F6C27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19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Objects show written choices.</a:t>
            </a:r>
          </a:p>
        </p:txBody>
      </p:sp>
    </p:spTree>
    <p:extLst>
      <p:ext uri="{BB962C8B-B14F-4D97-AF65-F5344CB8AC3E}">
        <p14:creationId xmlns:p14="http://schemas.microsoft.com/office/powerpoint/2010/main" val="10193648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">
            <a:extLst xmlns:a="http://schemas.openxmlformats.org/drawingml/2006/main">
              <a:ext uri="{FF2B5EF4-FFF2-40B4-BE49-F238E27FC236}">
                <a16:creationId xmlns:a16="http://schemas.microsoft.com/office/drawing/2014/main" id="{E52420E6-E5BF-4CDE-AE86-B80AA4AC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Brittonic survives indirectly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691AB64D-A9AD-48B2-8009-02015FE4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E2C7B351-2807-4482-9F2D-1F6F06A3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 / 02 / 05</a:t>
            </a:r>
          </a:p>
        </p:txBody>
      </p:sp>
      <p:sp>
        <p:nvSpPr>
          <p:cNvPr id="4" name="evidence-label">
            <a:extLst xmlns:a="http://schemas.openxmlformats.org/drawingml/2006/main">
              <a:ext uri="{FF2B5EF4-FFF2-40B4-BE49-F238E27FC236}">
                <a16:creationId xmlns:a16="http://schemas.microsoft.com/office/drawing/2014/main" id="{C713CC91-06EA-43CE-ACFA-3B971206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D6657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4D6657"/>
                </a:solidFill>
                <a:latin typeface="Nimbus Sans"/>
                <a:ea typeface="Nimbus Sans"/>
                <a:cs typeface="Nimbus Sans"/>
              </a:rPr>
              <a:t>EVIDENCE</a:t>
            </a:r>
          </a:p>
        </p:txBody>
      </p:sp>
      <p:sp>
        <p:nvSpPr>
          <p:cNvPr id="5" name="inference-label">
            <a:extLst xmlns:a="http://schemas.openxmlformats.org/drawingml/2006/main">
              <a:ext uri="{FF2B5EF4-FFF2-40B4-BE49-F238E27FC236}">
                <a16:creationId xmlns:a16="http://schemas.microsoft.com/office/drawing/2014/main" id="{890249E3-8886-4BE1-9861-5EB57A18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6573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INFERENCE</a:t>
            </a:r>
          </a:p>
        </p:txBody>
      </p:sp>
      <p:sp>
        <p:nvSpPr>
          <p:cNvPr id="6" name="left-0">
            <a:extLst xmlns:a="http://schemas.openxmlformats.org/drawingml/2006/main">
              <a:ext uri="{FF2B5EF4-FFF2-40B4-BE49-F238E27FC236}">
                <a16:creationId xmlns:a16="http://schemas.microsoft.com/office/drawing/2014/main" id="{7A9FD20F-0B76-4642-BB46-1F6824E0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485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7" name="left-text-0">
            <a:extLst xmlns:a="http://schemas.openxmlformats.org/drawingml/2006/main">
              <a:ext uri="{FF2B5EF4-FFF2-40B4-BE49-F238E27FC236}">
                <a16:creationId xmlns:a16="http://schemas.microsoft.com/office/drawing/2014/main" id="{C179203D-5568-420C-AA5C-543B81E2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4324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Local names survived.</a:t>
            </a:r>
          </a:p>
        </p:txBody>
      </p:sp>
      <p:sp>
        <p:nvSpPr>
          <p:cNvPr id="8" name="right-0">
            <a:extLst xmlns:a="http://schemas.openxmlformats.org/drawingml/2006/main">
              <a:ext uri="{FF2B5EF4-FFF2-40B4-BE49-F238E27FC236}">
                <a16:creationId xmlns:a16="http://schemas.microsoft.com/office/drawing/2014/main" id="{61974D43-B579-4C9A-8896-234AEEC4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51911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0E7D9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9" name="right-text-0">
            <a:extLst xmlns:a="http://schemas.openxmlformats.org/drawingml/2006/main">
              <a:ext uri="{FF2B5EF4-FFF2-40B4-BE49-F238E27FC236}">
                <a16:creationId xmlns:a16="http://schemas.microsoft.com/office/drawing/2014/main" id="{C27294B8-0309-4BFD-BB4F-CE5240A6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52650"/>
            <a:ext cx="4629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Brittonic speech continued.</a:t>
            </a:r>
          </a:p>
        </p:txBody>
      </p:sp>
      <p:sp>
        <p:nvSpPr>
          <p:cNvPr id="10" name="left-1">
            <a:extLst xmlns:a="http://schemas.openxmlformats.org/drawingml/2006/main">
              <a:ext uri="{FF2B5EF4-FFF2-40B4-BE49-F238E27FC236}">
                <a16:creationId xmlns:a16="http://schemas.microsoft.com/office/drawing/2014/main" id="{759754B7-7677-4002-BE4B-62BC2B02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485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1" name="left-text-1">
            <a:extLst xmlns:a="http://schemas.openxmlformats.org/drawingml/2006/main">
              <a:ext uri="{FF2B5EF4-FFF2-40B4-BE49-F238E27FC236}">
                <a16:creationId xmlns:a16="http://schemas.microsoft.com/office/drawing/2014/main" id="{2E83EE78-D4CD-4A55-8FE4-0220B0DF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4324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Deities kept local names.</a:t>
            </a:r>
          </a:p>
        </p:txBody>
      </p:sp>
      <p:sp>
        <p:nvSpPr>
          <p:cNvPr id="12" name="right-1">
            <a:extLst xmlns:a="http://schemas.openxmlformats.org/drawingml/2006/main">
              <a:ext uri="{FF2B5EF4-FFF2-40B4-BE49-F238E27FC236}">
                <a16:creationId xmlns:a16="http://schemas.microsoft.com/office/drawing/2014/main" id="{160E0214-3174-4B75-86FF-192A75CA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3250"/>
            <a:ext cx="51911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0E7D9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3" name="right-text-1">
            <a:extLst xmlns:a="http://schemas.openxmlformats.org/drawingml/2006/main">
              <a:ext uri="{FF2B5EF4-FFF2-40B4-BE49-F238E27FC236}">
                <a16:creationId xmlns:a16="http://schemas.microsoft.com/office/drawing/2014/main" id="{88CEC0ED-3CF1-494C-9643-7C78C6A1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43250"/>
            <a:ext cx="4629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Bilingual lives were likely.</a:t>
            </a:r>
          </a:p>
        </p:txBody>
      </p:sp>
      <p:sp>
        <p:nvSpPr>
          <p:cNvPr id="14" name="left-2">
            <a:extLst xmlns:a="http://schemas.openxmlformats.org/drawingml/2006/main">
              <a:ext uri="{FF2B5EF4-FFF2-40B4-BE49-F238E27FC236}">
                <a16:creationId xmlns:a16="http://schemas.microsoft.com/office/drawing/2014/main" id="{09BB809F-9474-4862-A3AE-AFBD5FBE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485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5" name="left-text-2">
            <a:extLst xmlns:a="http://schemas.openxmlformats.org/drawingml/2006/main">
              <a:ext uri="{FF2B5EF4-FFF2-40B4-BE49-F238E27FC236}">
                <a16:creationId xmlns:a16="http://schemas.microsoft.com/office/drawing/2014/main" id="{7F0AC522-ADBF-4961-8930-9F5FBB92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33850"/>
            <a:ext cx="4324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Places kept older roots.</a:t>
            </a:r>
          </a:p>
        </p:txBody>
      </p:sp>
      <p:sp>
        <p:nvSpPr>
          <p:cNvPr id="16" name="right-2">
            <a:extLst xmlns:a="http://schemas.openxmlformats.org/drawingml/2006/main">
              <a:ext uri="{FF2B5EF4-FFF2-40B4-BE49-F238E27FC236}">
                <a16:creationId xmlns:a16="http://schemas.microsoft.com/office/drawing/2014/main" id="{52E45F00-1681-4F13-A945-DCF58243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1911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0E7D9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7" name="right-text-2">
            <a:extLst xmlns:a="http://schemas.openxmlformats.org/drawingml/2006/main">
              <a:ext uri="{FF2B5EF4-FFF2-40B4-BE49-F238E27FC236}">
                <a16:creationId xmlns:a16="http://schemas.microsoft.com/office/drawing/2014/main" id="{B1D0BBC4-1B10-4DFF-B283-E4322249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33850"/>
            <a:ext cx="4629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Latin never tells everything.</a:t>
            </a:r>
          </a:p>
        </p:txBody>
      </p:sp>
      <p:sp>
        <p:nvSpPr>
          <p:cNvPr id="18" name="limit">
            <a:extLst xmlns:a="http://schemas.openxmlformats.org/drawingml/2006/main">
              <a:ext uri="{FF2B5EF4-FFF2-40B4-BE49-F238E27FC236}">
                <a16:creationId xmlns:a16="http://schemas.microsoft.com/office/drawing/2014/main" id="{A91C6534-DEB3-4FC7-9BDA-EBF8A454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3877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Exact speech patterns remain unproven.</a:t>
            </a:r>
          </a:p>
        </p:txBody>
      </p:sp>
    </p:spTree>
    <p:extLst>
      <p:ext uri="{BB962C8B-B14F-4D97-AF65-F5344CB8AC3E}">
        <p14:creationId xmlns:p14="http://schemas.microsoft.com/office/powerpoint/2010/main" val="14130266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323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itle">
            <a:extLst xmlns:a="http://schemas.openxmlformats.org/drawingml/2006/main">
              <a:ext uri="{FF2B5EF4-FFF2-40B4-BE49-F238E27FC236}">
                <a16:creationId xmlns:a16="http://schemas.microsoft.com/office/drawing/2014/main" id="{0A0D5859-30D9-44EA-A584-B0A72548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Records follow power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00EEF67D-BED1-447F-B36F-408D84BF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9BCD41E5-6920-47E3-BC5B-15D8ABEE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ENGLISH / 02 / 06</a:t>
            </a:r>
          </a:p>
        </p:txBody>
      </p:sp>
      <p:sp>
        <p:nvSpPr>
          <p:cNvPr id="4" name="col-0">
            <a:extLst xmlns:a="http://schemas.openxmlformats.org/drawingml/2006/main">
              <a:ext uri="{FF2B5EF4-FFF2-40B4-BE49-F238E27FC236}">
                <a16:creationId xmlns:a16="http://schemas.microsoft.com/office/drawing/2014/main" id="{0C8D3D5D-4FE7-44C4-A90D-9BF074F0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3048000" cy="33718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1C3141"/>
          </a:solidFill>
          <a:ln xmlns:a="http://schemas.openxmlformats.org/drawingml/2006/main" w="19050">
            <a:solidFill>
              <a:srgbClr val="516472"/>
            </a:solidFill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46A95F92-C9C0-4CD3-9D49-43E8032B0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1876425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01</a:t>
            </a:r>
          </a:p>
        </p:txBody>
      </p:sp>
      <p:sp>
        <p:nvSpPr>
          <p:cNvPr id="6" name="head-0">
            <a:extLst xmlns:a="http://schemas.openxmlformats.org/drawingml/2006/main">
              <a:ext uri="{FF2B5EF4-FFF2-40B4-BE49-F238E27FC236}">
                <a16:creationId xmlns:a16="http://schemas.microsoft.com/office/drawing/2014/main" id="{5035B38B-A140-43D0-99F3-2E3E58F0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438400"/>
            <a:ext cx="2571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ARMY</a:t>
            </a:r>
          </a:p>
        </p:txBody>
      </p:sp>
      <p:sp>
        <p:nvSpPr>
          <p:cNvPr id="7" name="col-rule-0">
            <a:extLst xmlns:a="http://schemas.openxmlformats.org/drawingml/2006/main">
              <a:ext uri="{FF2B5EF4-FFF2-40B4-BE49-F238E27FC236}">
                <a16:creationId xmlns:a16="http://schemas.microsoft.com/office/drawing/2014/main" id="{56298CA8-2F24-4AB4-97C4-69299F75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3337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8" name="line-a-0">
            <a:extLst xmlns:a="http://schemas.openxmlformats.org/drawingml/2006/main">
              <a:ext uri="{FF2B5EF4-FFF2-40B4-BE49-F238E27FC236}">
                <a16:creationId xmlns:a16="http://schemas.microsoft.com/office/drawing/2014/main" id="{4254178A-7D67-4D5E-96A0-D764C0D8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5814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Latin tablets survive.</a:t>
            </a:r>
          </a:p>
        </p:txBody>
      </p:sp>
      <p:sp>
        <p:nvSpPr>
          <p:cNvPr id="9" name="line-b-0">
            <a:extLst xmlns:a="http://schemas.openxmlformats.org/drawingml/2006/main">
              <a:ext uri="{FF2B5EF4-FFF2-40B4-BE49-F238E27FC236}">
                <a16:creationId xmlns:a16="http://schemas.microsoft.com/office/drawing/2014/main" id="{A8A5641F-DDC5-45CA-A681-94E7CB92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143375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Power produced records.</a:t>
            </a:r>
          </a:p>
        </p:txBody>
      </p:sp>
      <p:sp>
        <p:nvSpPr>
          <p:cNvPr id="10" name="col-1">
            <a:extLst xmlns:a="http://schemas.openxmlformats.org/drawingml/2006/main">
              <a:ext uri="{FF2B5EF4-FFF2-40B4-BE49-F238E27FC236}">
                <a16:creationId xmlns:a16="http://schemas.microsoft.com/office/drawing/2014/main" id="{00F58EE0-30A8-4F33-9FB8-B58F8FFB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628775"/>
            <a:ext cx="3048000" cy="33718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1C3141"/>
          </a:solidFill>
          <a:ln xmlns:a="http://schemas.openxmlformats.org/drawingml/2006/main" w="19050">
            <a:solidFill>
              <a:srgbClr val="516472"/>
            </a:solidFill>
          </a:ln>
        </p:spPr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5074266A-DD15-4A58-B73B-ECC60EE2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76425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  <p:sp>
        <p:nvSpPr>
          <p:cNvPr id="12" name="head-1">
            <a:extLst xmlns:a="http://schemas.openxmlformats.org/drawingml/2006/main">
              <a:ext uri="{FF2B5EF4-FFF2-40B4-BE49-F238E27FC236}">
                <a16:creationId xmlns:a16="http://schemas.microsoft.com/office/drawing/2014/main" id="{D2B0C5A8-3328-4F74-80FB-B48A14F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38400"/>
            <a:ext cx="2571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PUBLIC WORSHIP</a:t>
            </a:r>
          </a:p>
        </p:txBody>
      </p:sp>
      <p:sp>
        <p:nvSpPr>
          <p:cNvPr id="13" name="col-rule-1">
            <a:extLst xmlns:a="http://schemas.openxmlformats.org/drawingml/2006/main">
              <a:ext uri="{FF2B5EF4-FFF2-40B4-BE49-F238E27FC236}">
                <a16:creationId xmlns:a16="http://schemas.microsoft.com/office/drawing/2014/main" id="{1B87FEB2-FCDB-458B-A305-C5509D5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337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14" name="line-a-1">
            <a:extLst xmlns:a="http://schemas.openxmlformats.org/drawingml/2006/main">
              <a:ext uri="{FF2B5EF4-FFF2-40B4-BE49-F238E27FC236}">
                <a16:creationId xmlns:a16="http://schemas.microsoft.com/office/drawing/2014/main" id="{4CC72F0E-2B57-4147-9686-F348CEB2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5814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Latin marked altars.</a:t>
            </a:r>
          </a:p>
        </p:txBody>
      </p:sp>
      <p:sp>
        <p:nvSpPr>
          <p:cNvPr id="15" name="line-b-1">
            <a:extLst xmlns:a="http://schemas.openxmlformats.org/drawingml/2006/main">
              <a:ext uri="{FF2B5EF4-FFF2-40B4-BE49-F238E27FC236}">
                <a16:creationId xmlns:a16="http://schemas.microsoft.com/office/drawing/2014/main" id="{B20691F9-1459-4550-8CB8-AFD46DCF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43375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Local names remained.</a:t>
            </a:r>
          </a:p>
        </p:txBody>
      </p:sp>
      <p:sp>
        <p:nvSpPr>
          <p:cNvPr id="16" name="col-2">
            <a:extLst xmlns:a="http://schemas.openxmlformats.org/drawingml/2006/main">
              <a:ext uri="{FF2B5EF4-FFF2-40B4-BE49-F238E27FC236}">
                <a16:creationId xmlns:a16="http://schemas.microsoft.com/office/drawing/2014/main" id="{E73FA61F-18C6-4543-AF74-32D8E402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28775"/>
            <a:ext cx="3048000" cy="33718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1C3141"/>
          </a:solidFill>
          <a:ln xmlns:a="http://schemas.openxmlformats.org/drawingml/2006/main" w="19050">
            <a:solidFill>
              <a:srgbClr val="516472"/>
            </a:solidFill>
          </a:ln>
        </p:spPr>
      </p:sp>
      <p:sp>
        <p:nvSpPr>
          <p:cNvPr id="17" name="num-2">
            <a:extLst xmlns:a="http://schemas.openxmlformats.org/drawingml/2006/main">
              <a:ext uri="{FF2B5EF4-FFF2-40B4-BE49-F238E27FC236}">
                <a16:creationId xmlns:a16="http://schemas.microsoft.com/office/drawing/2014/main" id="{09A5F213-96B1-4848-AFB7-A24D1F2E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876425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  <p:sp>
        <p:nvSpPr>
          <p:cNvPr id="18" name="head-2">
            <a:extLst xmlns:a="http://schemas.openxmlformats.org/drawingml/2006/main">
              <a:ext uri="{FF2B5EF4-FFF2-40B4-BE49-F238E27FC236}">
                <a16:creationId xmlns:a16="http://schemas.microsoft.com/office/drawing/2014/main" id="{E77817DE-2A4D-4BC2-B7D1-A9D21B00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438400"/>
            <a:ext cx="2571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HOMES</a:t>
            </a:r>
          </a:p>
        </p:txBody>
      </p:sp>
      <p:sp>
        <p:nvSpPr>
          <p:cNvPr id="19" name="col-rule-2">
            <a:extLst xmlns:a="http://schemas.openxmlformats.org/drawingml/2006/main">
              <a:ext uri="{FF2B5EF4-FFF2-40B4-BE49-F238E27FC236}">
                <a16:creationId xmlns:a16="http://schemas.microsoft.com/office/drawing/2014/main" id="{F9A26598-FC52-4096-8041-74134554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3337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20" name="line-a-2">
            <a:extLst xmlns:a="http://schemas.openxmlformats.org/drawingml/2006/main">
              <a:ext uri="{FF2B5EF4-FFF2-40B4-BE49-F238E27FC236}">
                <a16:creationId xmlns:a16="http://schemas.microsoft.com/office/drawing/2014/main" id="{0CD98022-B498-4CE3-9555-93408B04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5814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Few records survive.</a:t>
            </a:r>
          </a:p>
        </p:txBody>
      </p:sp>
      <p:sp>
        <p:nvSpPr>
          <p:cNvPr id="21" name="line-b-2">
            <a:extLst xmlns:a="http://schemas.openxmlformats.org/drawingml/2006/main">
              <a:ext uri="{FF2B5EF4-FFF2-40B4-BE49-F238E27FC236}">
                <a16:creationId xmlns:a16="http://schemas.microsoft.com/office/drawing/2014/main" id="{E580BFB6-49E3-414B-984B-CEFF740B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143375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Speech stays uncertain.</a:t>
            </a:r>
          </a:p>
        </p:txBody>
      </p:sp>
      <p:sp>
        <p:nvSpPr>
          <p:cNvPr id="22" name="equation">
            <a:extLst xmlns:a="http://schemas.openxmlformats.org/drawingml/2006/main">
              <a:ext uri="{FF2B5EF4-FFF2-40B4-BE49-F238E27FC236}">
                <a16:creationId xmlns:a16="http://schemas.microsoft.com/office/drawing/2014/main" id="{1A1707A7-EC2A-4900-A085-2F82D2EE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2175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Records ≠ all speech.</a:t>
            </a:r>
          </a:p>
        </p:txBody>
      </p:sp>
    </p:spTree>
    <p:extLst>
      <p:ext uri="{BB962C8B-B14F-4D97-AF65-F5344CB8AC3E}">
        <p14:creationId xmlns:p14="http://schemas.microsoft.com/office/powerpoint/2010/main" val="1628162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AFFFF399-5DAD-4D96-8491-77C689DF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English came later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72F3F1ED-0162-4DDD-96E0-52438854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9193F0E9-8C3E-44F1-9A53-E3B6A519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 / 02 / 07</a:t>
            </a:r>
          </a:p>
        </p:txBody>
      </p:sp>
      <p:sp>
        <p:nvSpPr>
          <p:cNvPr id="4" name="line">
            <a:extLst xmlns:a="http://schemas.openxmlformats.org/drawingml/2006/main">
              <a:ext uri="{FF2B5EF4-FFF2-40B4-BE49-F238E27FC236}">
                <a16:creationId xmlns:a16="http://schemas.microsoft.com/office/drawing/2014/main" id="{9773DD32-0B11-4D86-9BAE-079E22A9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933700"/>
            <a:ext cx="8572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5" name="event-0">
            <a:extLst xmlns:a="http://schemas.openxmlformats.org/drawingml/2006/main">
              <a:ext uri="{FF2B5EF4-FFF2-40B4-BE49-F238E27FC236}">
                <a16:creationId xmlns:a16="http://schemas.microsoft.com/office/drawing/2014/main" id="{CFF7A39E-6D83-443B-9330-A48BEAF3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67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47625">
            <a:solidFill>
              <a:srgbClr val="F7F1E5"/>
            </a:solidFill>
          </a:ln>
        </p:spPr>
      </p:sp>
      <p:sp>
        <p:nvSpPr>
          <p:cNvPr id="6" name="event-year-0">
            <a:extLst xmlns:a="http://schemas.openxmlformats.org/drawingml/2006/main">
              <a:ext uri="{FF2B5EF4-FFF2-40B4-BE49-F238E27FC236}">
                <a16:creationId xmlns:a16="http://schemas.microsoft.com/office/drawing/2014/main" id="{6077A756-5A03-42B4-B989-A4093730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14500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2850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43</a:t>
            </a:r>
          </a:p>
        </p:txBody>
      </p:sp>
      <p:sp>
        <p:nvSpPr>
          <p:cNvPr id="7" name="event-label-0">
            <a:extLst xmlns:a="http://schemas.openxmlformats.org/drawingml/2006/main">
              <a:ext uri="{FF2B5EF4-FFF2-40B4-BE49-F238E27FC236}">
                <a16:creationId xmlns:a16="http://schemas.microsoft.com/office/drawing/2014/main" id="{4A8FCD1D-A468-472F-9750-B34582A0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581400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Roman invasion</a:t>
            </a:r>
          </a:p>
        </p:txBody>
      </p:sp>
      <p:sp>
        <p:nvSpPr>
          <p:cNvPr id="8" name="event-1">
            <a:extLst xmlns:a="http://schemas.openxmlformats.org/drawingml/2006/main">
              <a:ext uri="{FF2B5EF4-FFF2-40B4-BE49-F238E27FC236}">
                <a16:creationId xmlns:a16="http://schemas.microsoft.com/office/drawing/2014/main" id="{593D13B1-41A3-4FF2-8C9F-58831A16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67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47625">
            <a:solidFill>
              <a:srgbClr val="F7F1E5"/>
            </a:solidFill>
          </a:ln>
        </p:spPr>
      </p:sp>
      <p:sp>
        <p:nvSpPr>
          <p:cNvPr id="9" name="event-year-1">
            <a:extLst xmlns:a="http://schemas.openxmlformats.org/drawingml/2006/main">
              <a:ext uri="{FF2B5EF4-FFF2-40B4-BE49-F238E27FC236}">
                <a16:creationId xmlns:a16="http://schemas.microsoft.com/office/drawing/2014/main" id="{CD2355A0-F96F-4D51-88E2-ECC8BA93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714500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2850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410</a:t>
            </a:r>
          </a:p>
        </p:txBody>
      </p:sp>
      <p:sp>
        <p:nvSpPr>
          <p:cNvPr id="10" name="event-label-1">
            <a:extLst xmlns:a="http://schemas.openxmlformats.org/drawingml/2006/main">
              <a:ext uri="{FF2B5EF4-FFF2-40B4-BE49-F238E27FC236}">
                <a16:creationId xmlns:a16="http://schemas.microsoft.com/office/drawing/2014/main" id="{0E9D3F34-B47C-4E8F-B13B-0AF3820D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581400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Roman rule fades</a:t>
            </a:r>
          </a:p>
        </p:txBody>
      </p:sp>
      <p:sp>
        <p:nvSpPr>
          <p:cNvPr id="11" name="event-2">
            <a:extLst xmlns:a="http://schemas.openxmlformats.org/drawingml/2006/main">
              <a:ext uri="{FF2B5EF4-FFF2-40B4-BE49-F238E27FC236}">
                <a16:creationId xmlns:a16="http://schemas.microsoft.com/office/drawing/2014/main" id="{795E3F95-9C7F-4A9A-9174-169E67C6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667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47625">
            <a:solidFill>
              <a:srgbClr val="F7F1E5"/>
            </a:solidFill>
          </a:ln>
        </p:spPr>
      </p:sp>
      <p:sp>
        <p:nvSpPr>
          <p:cNvPr id="12" name="event-year-2">
            <a:extLst xmlns:a="http://schemas.openxmlformats.org/drawingml/2006/main">
              <a:ext uri="{FF2B5EF4-FFF2-40B4-BE49-F238E27FC236}">
                <a16:creationId xmlns:a16="http://schemas.microsoft.com/office/drawing/2014/main" id="{4AFA4D19-3D98-4173-9C84-4508E1D3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714500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2850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400s</a:t>
            </a:r>
          </a:p>
        </p:txBody>
      </p:sp>
      <p:sp>
        <p:nvSpPr>
          <p:cNvPr id="13" name="event-label-2">
            <a:extLst xmlns:a="http://schemas.openxmlformats.org/drawingml/2006/main">
              <a:ext uri="{FF2B5EF4-FFF2-40B4-BE49-F238E27FC236}">
                <a16:creationId xmlns:a16="http://schemas.microsoft.com/office/drawing/2014/main" id="{365063D0-38AD-454D-BDDB-73C6CBDE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81400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Germanic settlement</a:t>
            </a:r>
          </a:p>
        </p:txBody>
      </p:sp>
      <p:sp>
        <p:nvSpPr>
          <p:cNvPr id="14" name="english-note">
            <a:extLst xmlns:a="http://schemas.openxmlformats.org/drawingml/2006/main">
              <a:ext uri="{FF2B5EF4-FFF2-40B4-BE49-F238E27FC236}">
                <a16:creationId xmlns:a16="http://schemas.microsoft.com/office/drawing/2014/main" id="{7472FB73-1419-4ADA-AE37-4F18AE5D5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Old English formed afterward.</a:t>
            </a:r>
          </a:p>
        </p:txBody>
      </p:sp>
      <p:sp>
        <p:nvSpPr>
          <p:cNvPr id="15" name="limit">
            <a:extLst xmlns:a="http://schemas.openxmlformats.org/drawingml/2006/main">
              <a:ext uri="{FF2B5EF4-FFF2-40B4-BE49-F238E27FC236}">
                <a16:creationId xmlns:a16="http://schemas.microsoft.com/office/drawing/2014/main" id="{A878361E-8F73-4346-A353-075F1435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No single switch occurred.</a:t>
            </a:r>
          </a:p>
        </p:txBody>
      </p:sp>
    </p:spTree>
    <p:extLst>
      <p:ext uri="{BB962C8B-B14F-4D97-AF65-F5344CB8AC3E}">
        <p14:creationId xmlns:p14="http://schemas.microsoft.com/office/powerpoint/2010/main" val="8263306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9DF4989C-9202-4B5B-84F0-9B8ACB69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Sources and limits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451022F5-2D82-49D0-8D85-81C84C6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E0027E49-3A54-4107-8BE3-CDD71893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 / 02 / 08</a:t>
            </a:r>
          </a:p>
        </p:txBody>
      </p:sp>
      <p:sp>
        <p:nvSpPr>
          <p:cNvPr id="4" name="source-0">
            <a:extLst xmlns:a="http://schemas.openxmlformats.org/drawingml/2006/main">
              <a:ext uri="{FF2B5EF4-FFF2-40B4-BE49-F238E27FC236}">
                <a16:creationId xmlns:a16="http://schemas.microsoft.com/office/drawing/2014/main" id="{9DB7D550-889C-4C33-A83B-B5C57665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81150"/>
            <a:ext cx="3952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English Heritage</a:t>
            </a:r>
          </a:p>
        </p:txBody>
      </p:sp>
      <p:sp>
        <p:nvSpPr>
          <p:cNvPr id="5" name="source-detail-0">
            <a:extLst xmlns:a="http://schemas.openxmlformats.org/drawingml/2006/main">
              <a:ext uri="{FF2B5EF4-FFF2-40B4-BE49-F238E27FC236}">
                <a16:creationId xmlns:a16="http://schemas.microsoft.com/office/drawing/2014/main" id="{1C5DFF93-6BE9-48BA-86D2-7097BAFC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581150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Roman Britain timeline</a:t>
            </a:r>
          </a:p>
        </p:txBody>
      </p:sp>
      <p:sp>
        <p:nvSpPr>
          <p:cNvPr id="6" name="source-rule-0">
            <a:extLst xmlns:a="http://schemas.openxmlformats.org/drawingml/2006/main">
              <a:ext uri="{FF2B5EF4-FFF2-40B4-BE49-F238E27FC236}">
                <a16:creationId xmlns:a16="http://schemas.microsoft.com/office/drawing/2014/main" id="{A4CF3D18-6832-4731-A2E9-766A707B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24075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C4"/>
          </a:solidFill>
          <a:ln xmlns:a="http://schemas.openxmlformats.org/drawingml/2006/main" w="0">
            <a:noFill/>
          </a:ln>
        </p:spPr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5A5343BD-DDA1-4E67-8DB8-0E576FA3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24100"/>
            <a:ext cx="3952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Roman Inscriptions</a:t>
            </a:r>
          </a:p>
        </p:txBody>
      </p:sp>
      <p:sp>
        <p:nvSpPr>
          <p:cNvPr id="8" name="source-detail-1">
            <a:extLst xmlns:a="http://schemas.openxmlformats.org/drawingml/2006/main">
              <a:ext uri="{FF2B5EF4-FFF2-40B4-BE49-F238E27FC236}">
                <a16:creationId xmlns:a16="http://schemas.microsoft.com/office/drawing/2014/main" id="{AFAD1B21-5A47-41F8-821B-CA2E0AE3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24100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Tablets and altars</a:t>
            </a:r>
          </a:p>
        </p:txBody>
      </p:sp>
      <p:sp>
        <p:nvSpPr>
          <p:cNvPr id="9" name="source-rule-1">
            <a:extLst xmlns:a="http://schemas.openxmlformats.org/drawingml/2006/main">
              <a:ext uri="{FF2B5EF4-FFF2-40B4-BE49-F238E27FC236}">
                <a16:creationId xmlns:a16="http://schemas.microsoft.com/office/drawing/2014/main" id="{1C2D3583-5C68-4873-94B2-4DEBD4A8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67025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C4"/>
          </a:solidFill>
          <a:ln xmlns:a="http://schemas.openxmlformats.org/drawingml/2006/main" w="0">
            <a:noFill/>
          </a:ln>
        </p:spPr>
      </p:sp>
      <p:sp>
        <p:nvSpPr>
          <p:cNvPr id="10" name="source-2">
            <a:extLst xmlns:a="http://schemas.openxmlformats.org/drawingml/2006/main">
              <a:ext uri="{FF2B5EF4-FFF2-40B4-BE49-F238E27FC236}">
                <a16:creationId xmlns:a16="http://schemas.microsoft.com/office/drawing/2014/main" id="{7AA0AAAB-9BDC-4B73-8F62-16CD4D4E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67050"/>
            <a:ext cx="3952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LatinNow research</a:t>
            </a:r>
          </a:p>
        </p:txBody>
      </p:sp>
      <p:sp>
        <p:nvSpPr>
          <p:cNvPr id="11" name="source-detail-2">
            <a:extLst xmlns:a="http://schemas.openxmlformats.org/drawingml/2006/main">
              <a:ext uri="{FF2B5EF4-FFF2-40B4-BE49-F238E27FC236}">
                <a16:creationId xmlns:a16="http://schemas.microsoft.com/office/drawing/2014/main" id="{81A3411E-9D5D-4DBC-AAC8-85B8B5F4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067050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Multilingual Roman West</a:t>
            </a:r>
          </a:p>
        </p:txBody>
      </p:sp>
      <p:sp>
        <p:nvSpPr>
          <p:cNvPr id="12" name="source-rule-2">
            <a:extLst xmlns:a="http://schemas.openxmlformats.org/drawingml/2006/main">
              <a:ext uri="{FF2B5EF4-FFF2-40B4-BE49-F238E27FC236}">
                <a16:creationId xmlns:a16="http://schemas.microsoft.com/office/drawing/2014/main" id="{8A83CB59-6113-4A83-B032-B6193B73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09975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C4"/>
          </a:solidFill>
          <a:ln xmlns:a="http://schemas.openxmlformats.org/drawingml/2006/main" w="0">
            <a:noFill/>
          </a:ln>
        </p:spPr>
      </p:sp>
      <p:sp>
        <p:nvSpPr>
          <p:cNvPr id="13" name="source-3">
            <a:extLst xmlns:a="http://schemas.openxmlformats.org/drawingml/2006/main">
              <a:ext uri="{FF2B5EF4-FFF2-40B4-BE49-F238E27FC236}">
                <a16:creationId xmlns:a16="http://schemas.microsoft.com/office/drawing/2014/main" id="{77568F17-C2E2-46F2-89F2-80D38C70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10000"/>
            <a:ext cx="3952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Texas Linguistics</a:t>
            </a:r>
          </a:p>
        </p:txBody>
      </p:sp>
      <p:sp>
        <p:nvSpPr>
          <p:cNvPr id="14" name="source-detail-3">
            <a:extLst xmlns:a="http://schemas.openxmlformats.org/drawingml/2006/main">
              <a:ext uri="{FF2B5EF4-FFF2-40B4-BE49-F238E27FC236}">
                <a16:creationId xmlns:a16="http://schemas.microsoft.com/office/drawing/2014/main" id="{B2A0E1ED-E48A-42B4-BC97-4950E750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810000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Old English timeline</a:t>
            </a:r>
          </a:p>
        </p:txBody>
      </p:sp>
      <p:sp>
        <p:nvSpPr>
          <p:cNvPr id="15" name="source-rule-3">
            <a:extLst xmlns:a="http://schemas.openxmlformats.org/drawingml/2006/main">
              <a:ext uri="{FF2B5EF4-FFF2-40B4-BE49-F238E27FC236}">
                <a16:creationId xmlns:a16="http://schemas.microsoft.com/office/drawing/2014/main" id="{8305FDDC-B748-4095-A79A-23DF026B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52925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C4"/>
          </a:solidFill>
          <a:ln xmlns:a="http://schemas.openxmlformats.org/drawingml/2006/main" w="0">
            <a:noFill/>
          </a:ln>
        </p:spPr>
      </p:sp>
      <p:sp>
        <p:nvSpPr>
          <p:cNvPr id="16" name="limit-card">
            <a:extLst xmlns:a="http://schemas.openxmlformats.org/drawingml/2006/main">
              <a:ext uri="{FF2B5EF4-FFF2-40B4-BE49-F238E27FC236}">
                <a16:creationId xmlns:a16="http://schemas.microsoft.com/office/drawing/2014/main" id="{6C7F7B1D-8907-42D0-B3EF-09F32D34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791075"/>
            <a:ext cx="10239375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E5D7"/>
          </a:solidFill>
          <a:ln xmlns:a="http://schemas.openxmlformats.org/drawingml/2006/main" w="0">
            <a:noFill/>
          </a:ln>
        </p:spPr>
      </p:sp>
      <p:sp>
        <p:nvSpPr>
          <p:cNvPr id="17" name="limit-text">
            <a:extLst xmlns:a="http://schemas.openxmlformats.org/drawingml/2006/main">
              <a:ext uri="{FF2B5EF4-FFF2-40B4-BE49-F238E27FC236}">
                <a16:creationId xmlns:a16="http://schemas.microsoft.com/office/drawing/2014/main" id="{BB93FAA4-F14E-481F-9278-7AD32C9A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791075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Writing survives unevenly.</a:t>
            </a:r>
          </a:p>
        </p:txBody>
      </p:sp>
      <p:sp>
        <p:nvSpPr>
          <p:cNvPr id="18" name="limit-text2">
            <a:extLst xmlns:a="http://schemas.openxmlformats.org/drawingml/2006/main">
              <a:ext uri="{FF2B5EF4-FFF2-40B4-BE49-F238E27FC236}">
                <a16:creationId xmlns:a16="http://schemas.microsoft.com/office/drawing/2014/main" id="{998652F1-D3BC-4F1B-8D36-5B8A52EC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791075"/>
            <a:ext cx="5219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Speaker totals remain unknown.</a:t>
            </a:r>
          </a:p>
        </p:txBody>
      </p:sp>
      <p:sp>
        <p:nvSpPr>
          <p:cNvPr id="19" name="next">
            <a:extLst xmlns:a="http://schemas.openxmlformats.org/drawingml/2006/main">
              <a:ext uri="{FF2B5EF4-FFF2-40B4-BE49-F238E27FC236}">
                <a16:creationId xmlns:a16="http://schemas.microsoft.com/office/drawing/2014/main" id="{4BA573BE-CA8C-450F-ABAF-EEF4A437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NEXT: Vikings and Normans</a:t>
            </a:r>
          </a:p>
        </p:txBody>
      </p:sp>
    </p:spTree>
    <p:extLst>
      <p:ext uri="{BB962C8B-B14F-4D97-AF65-F5344CB8AC3E}">
        <p14:creationId xmlns:p14="http://schemas.microsoft.com/office/powerpoint/2010/main" val="2531158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2026-09-24T18:28:43.2180000Z</dcterms:created>
  <dcterms:modified xsi:type="dcterms:W3CDTF">2026-09-24T18:28:43.2180000Z</dcterms:modified>
</coreProperties>
</file>