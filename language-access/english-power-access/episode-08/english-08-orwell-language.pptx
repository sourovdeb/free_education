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bbc2248b14efd" /><Relationship Type="http://schemas.openxmlformats.org/officeDocument/2006/relationships/extended-properties" Target="/docProps/app.xml" Id="R31b64a8e9d0d42d6" /><Relationship Type="http://schemas.openxmlformats.org/officeDocument/2006/relationships/officeDocument" Target="/ppt/presentation.xml" Id="Rd52d703284cb47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0f7c414c44cf3"/>
  </p:sldMasterIdLst>
  <p:notesMasterIdLst>
    <p:notesMasterId xmlns:r="http://schemas.openxmlformats.org/officeDocument/2006/relationships" r:id="R17df43eee8ca49e2"/>
  </p:notesMasterIdLst>
  <p:sldIdLst>
    <p:sldId xmlns:r="http://schemas.openxmlformats.org/officeDocument/2006/relationships" id="256" r:id="R6c173bf3292b4529"/>
    <p:sldId xmlns:r="http://schemas.openxmlformats.org/officeDocument/2006/relationships" id="257" r:id="R2a47926e81fb46a1"/>
    <p:sldId xmlns:r="http://schemas.openxmlformats.org/officeDocument/2006/relationships" id="258" r:id="R431ca44193ac4aa9"/>
    <p:sldId xmlns:r="http://schemas.openxmlformats.org/officeDocument/2006/relationships" id="259" r:id="R80e29db8f71c4b1f"/>
    <p:sldId xmlns:r="http://schemas.openxmlformats.org/officeDocument/2006/relationships" id="260" r:id="R387efbb434b540b3"/>
    <p:sldId xmlns:r="http://schemas.openxmlformats.org/officeDocument/2006/relationships" id="261" r:id="Rd1bb3028c7c142bd"/>
    <p:sldId xmlns:r="http://schemas.openxmlformats.org/officeDocument/2006/relationships" id="262" r:id="R87d8b965d28143d7"/>
    <p:sldId xmlns:r="http://schemas.openxmlformats.org/officeDocument/2006/relationships" id="263" r:id="R14e119202e6740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5f9f177b142ea" /><Relationship Type="http://schemas.openxmlformats.org/officeDocument/2006/relationships/slideMaster" Target="/ppt/slideMasters/slideMaster1.xml" Id="R5210f7c414c44cf3" /><Relationship Type="http://schemas.openxmlformats.org/officeDocument/2006/relationships/notesMaster" Target="/ppt/notesMasters/notesMaster1.xml" Id="R17df43eee8ca49e2" /><Relationship Type="http://schemas.openxmlformats.org/officeDocument/2006/relationships/presProps" Target="/ppt/presProps.xml" Id="Rb0bd759c4894447f" /><Relationship Type="http://schemas.openxmlformats.org/officeDocument/2006/relationships/tableStyles" Target="/ppt/tableStyles.xml" Id="R0202be13bd324f9f" /><Relationship Type="http://schemas.openxmlformats.org/officeDocument/2006/relationships/slide" Target="/ppt/slides/slide1.xml" Id="R6c173bf3292b4529" /><Relationship Type="http://schemas.openxmlformats.org/officeDocument/2006/relationships/slide" Target="/ppt/slides/slide2.xml" Id="R2a47926e81fb46a1" /><Relationship Type="http://schemas.openxmlformats.org/officeDocument/2006/relationships/slide" Target="/ppt/slides/slide3.xml" Id="R431ca44193ac4aa9" /><Relationship Type="http://schemas.openxmlformats.org/officeDocument/2006/relationships/slide" Target="/ppt/slides/slide4.xml" Id="R80e29db8f71c4b1f" /><Relationship Type="http://schemas.openxmlformats.org/officeDocument/2006/relationships/slide" Target="/ppt/slides/slide5.xml" Id="R387efbb434b540b3" /><Relationship Type="http://schemas.openxmlformats.org/officeDocument/2006/relationships/slide" Target="/ppt/slides/slide6.xml" Id="Rd1bb3028c7c142bd" /><Relationship Type="http://schemas.openxmlformats.org/officeDocument/2006/relationships/slide" Target="/ppt/slides/slide7.xml" Id="R87d8b965d28143d7" /><Relationship Type="http://schemas.openxmlformats.org/officeDocument/2006/relationships/slide" Target="/ppt/slides/slide8.xml" Id="R14e119202e67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3c7078fbaf42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0644adaf834a7c" /><Relationship Type="http://schemas.openxmlformats.org/officeDocument/2006/relationships/notesMaster" Target="/ppt/notesMasters/notesMaster1.xml" Id="Rf86e5cba03404f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0a8aebb074f28" /><Relationship Type="http://schemas.openxmlformats.org/officeDocument/2006/relationships/notesMaster" Target="/ppt/notesMasters/notesMaster1.xml" Id="Ra47ff965c99a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54fe21ffb48f0" /><Relationship Type="http://schemas.openxmlformats.org/officeDocument/2006/relationships/notesMaster" Target="/ppt/notesMasters/notesMaster1.xml" Id="R4d0cbaa9057d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5aba3f79664b6a" /><Relationship Type="http://schemas.openxmlformats.org/officeDocument/2006/relationships/notesMaster" Target="/ppt/notesMasters/notesMaster1.xml" Id="R5d4a0605be9542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11cfe78e624e4e" /><Relationship Type="http://schemas.openxmlformats.org/officeDocument/2006/relationships/notesMaster" Target="/ppt/notesMasters/notesMaster1.xml" Id="R252db081a8934a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2c33215f2c4cc2" /><Relationship Type="http://schemas.openxmlformats.org/officeDocument/2006/relationships/notesMaster" Target="/ppt/notesMasters/notesMaster1.xml" Id="R63c7a60f9b5748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32a629a0574396" /><Relationship Type="http://schemas.openxmlformats.org/officeDocument/2006/relationships/notesMaster" Target="/ppt/notesMasters/notesMaster1.xml" Id="Rf52efe4e8a2348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d17941b1714ddf" /><Relationship Type="http://schemas.openxmlformats.org/officeDocument/2006/relationships/notesMaster" Target="/ppt/notesMasters/notesMaster1.xml" Id="R479138cf365c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Horizon published it.</a:t>
            </a:r>
          </a:p>
          <a:p xmlns:a="http://schemas.openxmlformats.org/drawingml/2006/main">
            <a:r>
              <a:t>Evidence: April 1946.</a:t>
            </a:r>
          </a:p>
          <a:p xmlns:a="http://schemas.openxmlformats.org/drawingml/2006/main">
            <a:r>
              <a:t>Inference: Words can hide agency.</a:t>
            </a:r>
          </a:p>
          <a:p xmlns:a="http://schemas.openxmlformats.org/drawingml/2006/main">
            <a:r>
              <a:t>Unproven: Clarity ensures truth.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https://www.orwellfoundation.com/the-orwell-foundation/orwell/essays-and-other-works/why-i-write/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Politics shaped his writing.</a:t>
            </a:r>
          </a:p>
          <a:p xmlns:a="http://schemas.openxmlformats.org/drawingml/2006/main">
            <a:r>
              <a:t>Evidence: He named his commitments.</a:t>
            </a:r>
          </a:p>
          <a:p xmlns:a="http://schemas.openxmlformats.org/drawingml/2006/main">
            <a:r>
              <a:t>Inference: Style served accountability.</a:t>
            </a:r>
          </a:p>
          <a:p xmlns:a="http://schemas.openxmlformats.org/drawingml/2006/main">
            <a:r>
              <a:t>Unproven: Partisanship ensures honesty.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https://www.orwellfoundation.com/the-orwell-foundation/orwell/essays-and-other-works/why-i-write/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Thought corrupts language.</a:t>
            </a:r>
          </a:p>
          <a:p xmlns:a="http://schemas.openxmlformats.org/drawingml/2006/main">
            <a:r>
              <a:t>Evidence: Language corrupts thought.</a:t>
            </a:r>
          </a:p>
          <a:p xmlns:a="http://schemas.openxmlformats.org/drawingml/2006/main">
            <a:r>
              <a:t>Inference: Vagueness reduces scrutiny.</a:t>
            </a:r>
          </a:p>
          <a:p xmlns:a="http://schemas.openxmlformats.org/drawingml/2006/main">
            <a:r>
              <a:t>Unproven: Language controls everything.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Orwell supplied these contrasts.</a:t>
            </a:r>
          </a:p>
          <a:p xmlns:a="http://schemas.openxmlformats.org/drawingml/2006/main">
            <a:r>
              <a:t>Inference: Concrete verbs reveal agency.</a:t>
            </a:r>
          </a:p>
          <a:p xmlns:a="http://schemas.openxmlformats.org/drawingml/2006/main">
            <a:r>
              <a:t>Unproven: Every euphemism deceives.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Orwell listed six rules.</a:t>
            </a:r>
          </a:p>
          <a:p xmlns:a="http://schemas.openxmlformats.org/drawingml/2006/main">
            <a:r>
              <a:t>Evidence: Rule six allows exceptions.</a:t>
            </a:r>
          </a:p>
          <a:p xmlns:a="http://schemas.openxmlformats.org/drawingml/2006/main">
            <a:r>
              <a:t>Inference: Rules guide judgment.</a:t>
            </a:r>
          </a:p>
          <a:p xmlns:a="http://schemas.openxmlformats.org/drawingml/2006/main">
            <a:r>
              <a:t>Unproven: Rules guarantee honesty.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Metaphors shifted policy choices.</a:t>
            </a:r>
          </a:p>
          <a:p xmlns:a="http://schemas.openxmlformats.org/drawingml/2006/main">
            <a:r>
              <a:t>Evidence: Placement altered effects.</a:t>
            </a:r>
          </a:p>
          <a:p xmlns:a="http://schemas.openxmlformats.org/drawingml/2006/main">
            <a:r>
              <a:t>Inference: Framing supports Orwell partly.</a:t>
            </a:r>
          </a:p>
          <a:p xmlns:a="http://schemas.openxmlformats.org/drawingml/2006/main">
            <a:r>
              <a:t>Unproven: Every metaphor controls thought.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https://doi.org/10.1371/journal.pone.0016782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Orwell allowed rule-breaking.</a:t>
            </a:r>
          </a:p>
          <a:p xmlns:a="http://schemas.openxmlformats.org/drawingml/2006/main">
            <a:r>
              <a:t>Evidence: Fresh metaphors assist thought.</a:t>
            </a:r>
          </a:p>
          <a:p xmlns:a="http://schemas.openxmlformats.org/drawingml/2006/main">
            <a:r>
              <a:t>Evidence: Abstract words remain useful.</a:t>
            </a:r>
          </a:p>
          <a:p xmlns:a="http://schemas.openxmlformats.org/drawingml/2006/main">
            <a:r>
              <a:t>Inference: Plain prose can deceive.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Primary texts appear above.</a:t>
            </a:r>
          </a:p>
          <a:p xmlns:a="http://schemas.openxmlformats.org/drawingml/2006/main">
            <a:r>
              <a:t>Inference: Questions reveal hidden agency.</a:t>
            </a:r>
          </a:p>
          <a:p xmlns:a="http://schemas.openxmlformats.org/drawingml/2006/main">
            <a:r>
              <a:t>Unproven: Questions prevent deception.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https://www.orwellfoundation.com/the-orwell-foundation/orwell/essays-and-other-works/politics-and-the-english-language/</a:t>
            </a:r>
          </a:p>
          <a:p xmlns:a="http://schemas.openxmlformats.org/drawingml/2006/main">
            <a:r>
              <a:t>https://www.orwellfoundation.com/the-orwell-foundation/orwell/essays-and-other-works/why-i-write/</a:t>
            </a:r>
          </a:p>
          <a:p xmlns:a="http://schemas.openxmlformats.org/drawingml/2006/main">
            <a:r>
              <a:t>https://doi.org/10.1371/journal.pone.0016782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4c4edb4a247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345bb3f9cb496a" /><Relationship Type="http://schemas.openxmlformats.org/officeDocument/2006/relationships/slideLayout" Target="/ppt/slideLayouts/slideLayout1.xml" Id="R568108d572f447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108d572f447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cec715a7347e3" /><Relationship Type="http://schemas.openxmlformats.org/officeDocument/2006/relationships/image" Target="/ppt/media/image.png" Id="Rb38360b2a56c4f71" /><Relationship Type="http://schemas.openxmlformats.org/officeDocument/2006/relationships/notesSlide" Target="/ppt/notesSlides/notesSlide1.xml" Id="R0f87db9cb4654a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3dae0f4cb4f95" /><Relationship Type="http://schemas.openxmlformats.org/officeDocument/2006/relationships/notesSlide" Target="/ppt/notesSlides/notesSlide2.xml" Id="R6a9beb20919340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83359e5334350" /><Relationship Type="http://schemas.openxmlformats.org/officeDocument/2006/relationships/notesSlide" Target="/ppt/notesSlides/notesSlide3.xml" Id="Rc3821072f4d84e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51007d901490a" /><Relationship Type="http://schemas.openxmlformats.org/officeDocument/2006/relationships/notesSlide" Target="/ppt/notesSlides/notesSlide4.xml" Id="R6519fdf6cbc946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22e8658f94c21" /><Relationship Type="http://schemas.openxmlformats.org/officeDocument/2006/relationships/notesSlide" Target="/ppt/notesSlides/notesSlide5.xml" Id="R04d75fe410834a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4f353537f4bcd" /><Relationship Type="http://schemas.openxmlformats.org/officeDocument/2006/relationships/notesSlide" Target="/ppt/notesSlides/notesSlide6.xml" Id="Ra49dc933e658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94a3929c84077" /><Relationship Type="http://schemas.openxmlformats.org/officeDocument/2006/relationships/notesSlide" Target="/ppt/notesSlides/notesSlide7.xml" Id="Re7147bd7375548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f6bdb5bdc4ded" /><Relationship Type="http://schemas.openxmlformats.org/officeDocument/2006/relationships/notesSlide" Target="/ppt/notesSlides/notesSlide8.xml" Id="R3024cad5c97945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360b2a56c4f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7FD30D9-7E0A-49D8-99AD-00489F25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39DE12-13B8-4A5A-886B-F8B9460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Orwell And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Political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Language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B1D3AC4-10B7-4A89-A2EA-E4AB3A0E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WORDS CAN HIDE RESPONSIBILITY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48855DCB-56B1-48B6-8FB7-98514BF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7070C55E-CAF1-41B1-8EC7-909D88AE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4509254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BDEF8C79-9FD6-427F-85EB-4BD2E688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Why Orwell cared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7168F0-7EFA-4477-8747-65B344A6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A85DE941-6FD9-4E13-83F7-72DBB74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08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FC102173-2B88-4B33-BC43-12119AD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5BE42B1E-204A-47B7-826A-EA255454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EECA87E9-D79C-40A4-8EA7-CA29FBB8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0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POLITICAL PURPOSE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B55FD2FD-D4B6-4EEF-B5B7-151DD39A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622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Expose lies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81B95EC5-C9CE-4744-B1C3-4CFAA1D2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9" name="small-0">
            <a:extLst xmlns:a="http://schemas.openxmlformats.org/drawingml/2006/main">
              <a:ext uri="{FF2B5EF4-FFF2-40B4-BE49-F238E27FC236}">
                <a16:creationId xmlns:a16="http://schemas.microsoft.com/office/drawing/2014/main" id="{973AD840-389F-483E-9813-3ABD5E42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95725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Declared democratic socialism.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210A8816-9B08-4475-BB11-36EB4309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97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band-1">
            <a:extLst xmlns:a="http://schemas.openxmlformats.org/drawingml/2006/main">
              <a:ext uri="{FF2B5EF4-FFF2-40B4-BE49-F238E27FC236}">
                <a16:creationId xmlns:a16="http://schemas.microsoft.com/office/drawing/2014/main" id="{B6296084-BE71-4D56-98B2-2B6E0F3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9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E7062D8D-EF6D-491A-86D6-48D1FD19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0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HISTORICAL MOMENT</a:t>
            </a:r>
          </a:p>
        </p:txBody>
      </p:sp>
      <p:sp>
        <p:nvSpPr>
          <p:cNvPr id="13" name="big-1">
            <a:extLst xmlns:a="http://schemas.openxmlformats.org/drawingml/2006/main">
              <a:ext uri="{FF2B5EF4-FFF2-40B4-BE49-F238E27FC236}">
                <a16:creationId xmlns:a16="http://schemas.microsoft.com/office/drawing/2014/main" id="{288891B9-8C34-4F14-B262-3E8CED12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Defend truth</a:t>
            </a:r>
          </a:p>
        </p:txBody>
      </p:sp>
      <p:sp>
        <p:nvSpPr>
          <p:cNvPr id="14" name="rule-1">
            <a:extLst xmlns:a="http://schemas.openxmlformats.org/drawingml/2006/main">
              <a:ext uri="{FF2B5EF4-FFF2-40B4-BE49-F238E27FC236}">
                <a16:creationId xmlns:a16="http://schemas.microsoft.com/office/drawing/2014/main" id="{E6C05332-E80E-495C-85EF-E14D0FAE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5" name="small-1">
            <a:extLst xmlns:a="http://schemas.openxmlformats.org/drawingml/2006/main">
              <a:ext uri="{FF2B5EF4-FFF2-40B4-BE49-F238E27FC236}">
                <a16:creationId xmlns:a16="http://schemas.microsoft.com/office/drawing/2014/main" id="{9FE716B5-5530-4178-8958-697F1C0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95725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Empire · Purges · Bombing</a:t>
            </a:r>
          </a:p>
        </p:txBody>
      </p:sp>
      <p:sp>
        <p:nvSpPr>
          <p:cNvPr id="16" name="card-2">
            <a:extLst xmlns:a="http://schemas.openxmlformats.org/drawingml/2006/main">
              <a:ext uri="{FF2B5EF4-FFF2-40B4-BE49-F238E27FC236}">
                <a16:creationId xmlns:a16="http://schemas.microsoft.com/office/drawing/2014/main" id="{68BA664A-5557-4CC5-87B5-EDA74690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097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band-2">
            <a:extLst xmlns:a="http://schemas.openxmlformats.org/drawingml/2006/main">
              <a:ext uri="{FF2B5EF4-FFF2-40B4-BE49-F238E27FC236}">
                <a16:creationId xmlns:a16="http://schemas.microsoft.com/office/drawing/2014/main" id="{6B9298D8-CAA7-44D7-AEBC-B047AC3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09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k-2">
            <a:extLst xmlns:a="http://schemas.openxmlformats.org/drawingml/2006/main">
              <a:ext uri="{FF2B5EF4-FFF2-40B4-BE49-F238E27FC236}">
                <a16:creationId xmlns:a16="http://schemas.microsoft.com/office/drawing/2014/main" id="{24E0E2CE-43B4-4D8B-B91D-1360CC0B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0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WRITING AIM</a:t>
            </a:r>
          </a:p>
        </p:txBody>
      </p:sp>
      <p:sp>
        <p:nvSpPr>
          <p:cNvPr id="19" name="big-2">
            <a:extLst xmlns:a="http://schemas.openxmlformats.org/drawingml/2006/main">
              <a:ext uri="{FF2B5EF4-FFF2-40B4-BE49-F238E27FC236}">
                <a16:creationId xmlns:a16="http://schemas.microsoft.com/office/drawing/2014/main" id="{283184A9-BACE-4419-B988-6D5D2149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Create art</a:t>
            </a:r>
          </a:p>
        </p:txBody>
      </p:sp>
      <p:sp>
        <p:nvSpPr>
          <p:cNvPr id="20" name="rule-2">
            <a:extLst xmlns:a="http://schemas.openxmlformats.org/drawingml/2006/main">
              <a:ext uri="{FF2B5EF4-FFF2-40B4-BE49-F238E27FC236}">
                <a16:creationId xmlns:a16="http://schemas.microsoft.com/office/drawing/2014/main" id="{00047F92-ED25-4A01-B401-511072C2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19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small-2">
            <a:extLst xmlns:a="http://schemas.openxmlformats.org/drawingml/2006/main">
              <a:ext uri="{FF2B5EF4-FFF2-40B4-BE49-F238E27FC236}">
                <a16:creationId xmlns:a16="http://schemas.microsoft.com/office/drawing/2014/main" id="{48FCA5D1-C1B4-4388-BED8-7C2FE21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95725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Politics needed honest form.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AD572D97-A771-4607-847F-095284FA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He wrote as partisan.</a:t>
            </a:r>
          </a:p>
        </p:txBody>
      </p:sp>
    </p:spTree>
    <p:extLst>
      <p:ext uri="{BB962C8B-B14F-4D97-AF65-F5344CB8AC3E}">
        <p14:creationId xmlns:p14="http://schemas.microsoft.com/office/powerpoint/2010/main" val="162459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8C027CBB-15DC-444F-922D-F37056B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His central feedback loop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1E57A6-0DF1-4390-8824-30E0456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FA120A7C-4714-4B28-8456-CDA442D0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08 / 03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FBDD3ACE-9725-4D91-88E1-6A8488F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28925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5619C7E2-090D-43BE-A27C-E4077E09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384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D7958512-B346-46E6-AB26-D84EA8D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384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2E07319B-9431-4D77-B1C4-2C72714B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FOOLISH THOUGHT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7BD417AE-E420-4CF3-9307-B26EFD41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Meaning starts blurred.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69F4ACB9-014D-4CFD-809D-1D6C70CB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4384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0A25D8B2-DA1B-41E5-9982-E7D9189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4384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24788E3A-3448-4732-8693-815ED39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76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VAGUE LANGUAGE</a:t>
            </a:r>
          </a:p>
        </p:txBody>
      </p:sp>
      <p:sp>
        <p:nvSpPr>
          <p:cNvPr id="12" name="small-1">
            <a:extLst xmlns:a="http://schemas.openxmlformats.org/drawingml/2006/main">
              <a:ext uri="{FF2B5EF4-FFF2-40B4-BE49-F238E27FC236}">
                <a16:creationId xmlns:a16="http://schemas.microsoft.com/office/drawing/2014/main" id="{642AD5E2-E6D1-40DC-A3B2-91351A02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481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Ready phrases replace thought.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502E245F-DB46-4A67-BFAC-5A89FB53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384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62D8D8A5-A805-4954-8852-C513783D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384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9788E469-75B7-426C-9B0E-E924281F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LESS SCRUTINY</a:t>
            </a:r>
          </a:p>
        </p:txBody>
      </p:sp>
      <p:sp>
        <p:nvSpPr>
          <p:cNvPr id="16" name="small-2">
            <a:extLst xmlns:a="http://schemas.openxmlformats.org/drawingml/2006/main">
              <a:ext uri="{FF2B5EF4-FFF2-40B4-BE49-F238E27FC236}">
                <a16:creationId xmlns:a16="http://schemas.microsoft.com/office/drawing/2014/main" id="{45AE374C-C5B3-4FED-B8C5-3AB86B15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Responsibility becomes harder.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7FD4F09D-17AB-49A9-BF26-087C051A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384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309E4DDD-21E4-4376-BD00-58D607B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384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k-3">
            <a:extLst xmlns:a="http://schemas.openxmlformats.org/drawingml/2006/main">
              <a:ext uri="{FF2B5EF4-FFF2-40B4-BE49-F238E27FC236}">
                <a16:creationId xmlns:a16="http://schemas.microsoft.com/office/drawing/2014/main" id="{3C8B9C04-14C2-487F-8B55-33F0A27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MORE FOOLISHNESS</a:t>
            </a:r>
          </a:p>
        </p:txBody>
      </p:sp>
      <p:sp>
        <p:nvSpPr>
          <p:cNvPr id="20" name="small-3">
            <a:extLst xmlns:a="http://schemas.openxmlformats.org/drawingml/2006/main">
              <a:ext uri="{FF2B5EF4-FFF2-40B4-BE49-F238E27FC236}">
                <a16:creationId xmlns:a16="http://schemas.microsoft.com/office/drawing/2014/main" id="{84A0163B-DC7D-4DF6-A472-E917699D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481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Bad habits spread.</a:t>
            </a:r>
          </a:p>
        </p:txBody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FD23FE5C-5F3B-4B44-802E-626558AB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95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The loop is reversible.</a:t>
            </a:r>
          </a:p>
        </p:txBody>
      </p:sp>
      <p:sp>
        <p:nvSpPr>
          <p:cNvPr id="22" name="limit">
            <a:extLst xmlns:a="http://schemas.openxmlformats.org/drawingml/2006/main">
              <a:ext uri="{FF2B5EF4-FFF2-40B4-BE49-F238E27FC236}">
                <a16:creationId xmlns:a16="http://schemas.microsoft.com/office/drawing/2014/main" id="{D8512A9D-112B-4861-8F20-1803439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Better choices require effort.</a:t>
            </a:r>
          </a:p>
        </p:txBody>
      </p:sp>
    </p:spTree>
    <p:extLst>
      <p:ext uri="{BB962C8B-B14F-4D97-AF65-F5344CB8AC3E}">
        <p14:creationId xmlns:p14="http://schemas.microsoft.com/office/powerpoint/2010/main" val="1178044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EE985F91-3014-4B34-9BAD-F496201A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How language conceals harm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D090CB-0162-4108-9DBE-9B28D63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91DA5925-B90C-4FFB-851C-9E71601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08 / 04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3E72D591-A019-45DC-97D1-784D1021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E976557A-C6DD-4401-94DC-53F4D744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F6F435A9-4698-4D33-834D-CCD4BB3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EUPHEMISM</a:t>
            </a:r>
          </a:p>
        </p:txBody>
      </p:sp>
      <p:sp>
        <p:nvSpPr>
          <p:cNvPr id="7" name="soft-0">
            <a:extLst xmlns:a="http://schemas.openxmlformats.org/drawingml/2006/main">
              <a:ext uri="{FF2B5EF4-FFF2-40B4-BE49-F238E27FC236}">
                <a16:creationId xmlns:a16="http://schemas.microsoft.com/office/drawing/2014/main" id="{DBB16681-CD0E-4A24-A178-6072AE2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381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“Pacification”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BC23802E-CE45-414B-B724-45EBF5C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24025"/>
            <a:ext cx="66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9" name="real-0">
            <a:extLst xmlns:a="http://schemas.openxmlformats.org/drawingml/2006/main">
              <a:ext uri="{FF2B5EF4-FFF2-40B4-BE49-F238E27FC236}">
                <a16:creationId xmlns:a16="http://schemas.microsoft.com/office/drawing/2014/main" id="{13D1F5CE-A18D-4B72-8462-54D973E5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24025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Villages bombed.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D6132D16-CC03-400C-BD8E-1F8AFBC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label-1">
            <a:extLst xmlns:a="http://schemas.openxmlformats.org/drawingml/2006/main">
              <a:ext uri="{FF2B5EF4-FFF2-40B4-BE49-F238E27FC236}">
                <a16:creationId xmlns:a16="http://schemas.microsoft.com/office/drawing/2014/main" id="{671A4217-2F23-48FD-B729-BB1B356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23F536A2-63C5-461D-9CB6-4293EE9C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ABSTRACTION</a:t>
            </a:r>
          </a:p>
        </p:txBody>
      </p:sp>
      <p:sp>
        <p:nvSpPr>
          <p:cNvPr id="13" name="soft-1">
            <a:extLst xmlns:a="http://schemas.openxmlformats.org/drawingml/2006/main">
              <a:ext uri="{FF2B5EF4-FFF2-40B4-BE49-F238E27FC236}">
                <a16:creationId xmlns:a16="http://schemas.microsoft.com/office/drawing/2014/main" id="{1EAB8B90-B7D8-4373-9034-CFD28E0B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381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“Population transfer”</a:t>
            </a:r>
          </a:p>
        </p:txBody>
      </p:sp>
      <p:sp>
        <p:nvSpPr>
          <p:cNvPr id="14" name="arrow-1">
            <a:extLst xmlns:a="http://schemas.openxmlformats.org/drawingml/2006/main">
              <a:ext uri="{FF2B5EF4-FFF2-40B4-BE49-F238E27FC236}">
                <a16:creationId xmlns:a16="http://schemas.microsoft.com/office/drawing/2014/main" id="{BDE00EF3-87B8-4A97-A11F-86A89B9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67025"/>
            <a:ext cx="66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15" name="real-1">
            <a:extLst xmlns:a="http://schemas.openxmlformats.org/drawingml/2006/main">
              <a:ext uri="{FF2B5EF4-FFF2-40B4-BE49-F238E27FC236}">
                <a16:creationId xmlns:a16="http://schemas.microsoft.com/office/drawing/2014/main" id="{E59C80E2-0643-4F75-A20A-9C3FE72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67025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People expelled.</a:t>
            </a:r>
          </a:p>
        </p:txBody>
      </p:sp>
      <p:sp>
        <p:nvSpPr>
          <p:cNvPr id="16" name="row-2">
            <a:extLst xmlns:a="http://schemas.openxmlformats.org/drawingml/2006/main">
              <a:ext uri="{FF2B5EF4-FFF2-40B4-BE49-F238E27FC236}">
                <a16:creationId xmlns:a16="http://schemas.microsoft.com/office/drawing/2014/main" id="{F165DB37-E657-4816-83CF-6DA14716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2">
            <a:extLst xmlns:a="http://schemas.openxmlformats.org/drawingml/2006/main">
              <a:ext uri="{FF2B5EF4-FFF2-40B4-BE49-F238E27FC236}">
                <a16:creationId xmlns:a16="http://schemas.microsoft.com/office/drawing/2014/main" id="{1FD25B25-D013-4C34-9426-0019DD4F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k-2">
            <a:extLst xmlns:a="http://schemas.openxmlformats.org/drawingml/2006/main">
              <a:ext uri="{FF2B5EF4-FFF2-40B4-BE49-F238E27FC236}">
                <a16:creationId xmlns:a16="http://schemas.microsoft.com/office/drawing/2014/main" id="{FE5AE096-26C8-417E-8A60-F6FBF828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DEPERSONALISATION</a:t>
            </a:r>
          </a:p>
        </p:txBody>
      </p:sp>
      <p:sp>
        <p:nvSpPr>
          <p:cNvPr id="19" name="soft-2">
            <a:extLst xmlns:a="http://schemas.openxmlformats.org/drawingml/2006/main">
              <a:ext uri="{FF2B5EF4-FFF2-40B4-BE49-F238E27FC236}">
                <a16:creationId xmlns:a16="http://schemas.microsoft.com/office/drawing/2014/main" id="{5583808C-2FAD-485B-87F3-3FEBD17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381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“Elements eliminated”</a:t>
            </a:r>
          </a:p>
        </p:txBody>
      </p:sp>
      <p:sp>
        <p:nvSpPr>
          <p:cNvPr id="20" name="arrow-2">
            <a:extLst xmlns:a="http://schemas.openxmlformats.org/drawingml/2006/main">
              <a:ext uri="{FF2B5EF4-FFF2-40B4-BE49-F238E27FC236}">
                <a16:creationId xmlns:a16="http://schemas.microsoft.com/office/drawing/2014/main" id="{4DE0D67D-4B2A-4BED-B407-72DA715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66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21" name="real-2">
            <a:extLst xmlns:a="http://schemas.openxmlformats.org/drawingml/2006/main">
              <a:ext uri="{FF2B5EF4-FFF2-40B4-BE49-F238E27FC236}">
                <a16:creationId xmlns:a16="http://schemas.microsoft.com/office/drawing/2014/main" id="{E18DA8EB-2760-4EE4-890C-8318747D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0025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Prisoners killed.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CA01B7E4-0919-4240-B32C-AC10834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Concrete verbs restore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444287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A63407DA-A486-470D-8545-9B828586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Orwell’s six working rules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1EA267-9D93-41C1-A2CC-FE42A91A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9026443F-D559-4DC3-9E1D-BCAC407F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08 / 05</a:t>
            </a:r>
          </a:p>
        </p:txBody>
      </p:sp>
      <p:sp>
        <p:nvSpPr>
          <p:cNvPr id="4" name="item-0">
            <a:extLst xmlns:a="http://schemas.openxmlformats.org/drawingml/2006/main">
              <a:ext uri="{FF2B5EF4-FFF2-40B4-BE49-F238E27FC236}">
                <a16:creationId xmlns:a16="http://schemas.microsoft.com/office/drawing/2014/main" id="{B1B273BE-E2CB-4624-9400-AE9B2F66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23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numcircle-0">
            <a:extLst xmlns:a="http://schemas.openxmlformats.org/drawingml/2006/main">
              <a:ext uri="{FF2B5EF4-FFF2-40B4-BE49-F238E27FC236}">
                <a16:creationId xmlns:a16="http://schemas.microsoft.com/office/drawing/2014/main" id="{3E8B0698-CC7E-4A9F-A0C4-021507D3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4D3689FC-0F12-4F37-A93F-A0B915D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26921EE9-272F-4DD5-8A2C-1B4B003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7430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Drop stale figures.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5C2020E2-313E-49E4-BF85-4191DEF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43075"/>
            <a:ext cx="523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9" name="numcircle-1">
            <a:extLst xmlns:a="http://schemas.openxmlformats.org/drawingml/2006/main">
              <a:ext uri="{FF2B5EF4-FFF2-40B4-BE49-F238E27FC236}">
                <a16:creationId xmlns:a16="http://schemas.microsoft.com/office/drawing/2014/main" id="{24DA0A1C-47E9-4D90-B845-387D32E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76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CCFB2372-9CBD-4BA8-95D1-88760DD8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76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1131500A-3D63-419B-9FB6-1C17F6D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430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Prefer shorter words.</a:t>
            </a:r>
          </a:p>
        </p:txBody>
      </p:sp>
      <p:sp>
        <p:nvSpPr>
          <p:cNvPr id="12" name="item-2">
            <a:extLst xmlns:a="http://schemas.openxmlformats.org/drawingml/2006/main">
              <a:ext uri="{FF2B5EF4-FFF2-40B4-BE49-F238E27FC236}">
                <a16:creationId xmlns:a16="http://schemas.microsoft.com/office/drawing/2014/main" id="{034EAF1C-BEB1-4438-9C92-CDA40F77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523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3" name="numcircle-2">
            <a:extLst xmlns:a="http://schemas.openxmlformats.org/drawingml/2006/main">
              <a:ext uri="{FF2B5EF4-FFF2-40B4-BE49-F238E27FC236}">
                <a16:creationId xmlns:a16="http://schemas.microsoft.com/office/drawing/2014/main" id="{5B7C0C55-B776-4D8F-86A2-EA4B203F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39A15D95-3FCB-4537-8106-5CA3E522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043D4B90-E404-41E6-AEAD-0E53141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860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Cut spare words.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395A6F08-5276-4B5E-AC7D-E4861F5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523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7" name="numcircle-3">
            <a:extLst xmlns:a="http://schemas.openxmlformats.org/drawingml/2006/main">
              <a:ext uri="{FF2B5EF4-FFF2-40B4-BE49-F238E27FC236}">
                <a16:creationId xmlns:a16="http://schemas.microsoft.com/office/drawing/2014/main" id="{33198F8C-2D9B-483C-A93A-14143794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39755D20-A6A7-4061-86FF-81DB67B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E60D2694-2B58-489D-AFE5-0F25169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860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Prefer active voice.</a:t>
            </a:r>
          </a:p>
        </p:txBody>
      </p:sp>
      <p:sp>
        <p:nvSpPr>
          <p:cNvPr id="20" name="item-4">
            <a:extLst xmlns:a="http://schemas.openxmlformats.org/drawingml/2006/main">
              <a:ext uri="{FF2B5EF4-FFF2-40B4-BE49-F238E27FC236}">
                <a16:creationId xmlns:a16="http://schemas.microsoft.com/office/drawing/2014/main" id="{AE77F36A-01F1-40E5-9484-2EBB2C7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523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21" name="numcircle-4">
            <a:extLst xmlns:a="http://schemas.openxmlformats.org/drawingml/2006/main">
              <a:ext uri="{FF2B5EF4-FFF2-40B4-BE49-F238E27FC236}">
                <a16:creationId xmlns:a16="http://schemas.microsoft.com/office/drawing/2014/main" id="{3EB88C0C-E5F6-4B9D-BAC3-9AC5E53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22" name="num-4">
            <a:extLst xmlns:a="http://schemas.openxmlformats.org/drawingml/2006/main">
              <a:ext uri="{FF2B5EF4-FFF2-40B4-BE49-F238E27FC236}">
                <a16:creationId xmlns:a16="http://schemas.microsoft.com/office/drawing/2014/main" id="{C59EBABC-7A66-420F-97CA-54C1E82C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3" name="v-4">
            <a:extLst xmlns:a="http://schemas.openxmlformats.org/drawingml/2006/main">
              <a:ext uri="{FF2B5EF4-FFF2-40B4-BE49-F238E27FC236}">
                <a16:creationId xmlns:a16="http://schemas.microsoft.com/office/drawing/2014/main" id="{1FDD569D-E6B5-425E-9757-F533CF8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290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Replace needless jargon.</a:t>
            </a:r>
          </a:p>
        </p:txBody>
      </p:sp>
      <p:sp>
        <p:nvSpPr>
          <p:cNvPr id="24" name="item-5">
            <a:extLst xmlns:a="http://schemas.openxmlformats.org/drawingml/2006/main">
              <a:ext uri="{FF2B5EF4-FFF2-40B4-BE49-F238E27FC236}">
                <a16:creationId xmlns:a16="http://schemas.microsoft.com/office/drawing/2014/main" id="{6996AF9F-1557-4AA7-82C8-1A96383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29075"/>
            <a:ext cx="523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25" name="numcircle-5">
            <a:extLst xmlns:a="http://schemas.openxmlformats.org/drawingml/2006/main">
              <a:ext uri="{FF2B5EF4-FFF2-40B4-BE49-F238E27FC236}">
                <a16:creationId xmlns:a16="http://schemas.microsoft.com/office/drawing/2014/main" id="{AEE74714-4503-4BA3-AED9-FDEFA33D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62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6" name="num-5">
            <a:extLst xmlns:a="http://schemas.openxmlformats.org/drawingml/2006/main">
              <a:ext uri="{FF2B5EF4-FFF2-40B4-BE49-F238E27FC236}">
                <a16:creationId xmlns:a16="http://schemas.microsoft.com/office/drawing/2014/main" id="{ADB77AFC-0245-425A-98FF-6843339C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62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27" name="v-5">
            <a:extLst xmlns:a="http://schemas.openxmlformats.org/drawingml/2006/main">
              <a:ext uri="{FF2B5EF4-FFF2-40B4-BE49-F238E27FC236}">
                <a16:creationId xmlns:a16="http://schemas.microsoft.com/office/drawing/2014/main" id="{8C050FFC-D1F1-4A4C-B49C-1D33143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2907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Break rules when needed.</a:t>
            </a:r>
          </a:p>
        </p:txBody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FBBEA866-7EDA-41B4-935C-55ECB87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625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Meaning comes first.</a:t>
            </a:r>
          </a:p>
        </p:txBody>
      </p:sp>
    </p:spTree>
    <p:extLst>
      <p:ext uri="{BB962C8B-B14F-4D97-AF65-F5344CB8AC3E}">
        <p14:creationId xmlns:p14="http://schemas.microsoft.com/office/powerpoint/2010/main" val="680695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0ECEC2AF-5F08-4D66-924D-AE039943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What later evidence supports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48F669-9128-4848-B2B9-DD0D631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719128EE-222B-45A7-8A30-7CAC752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08 / 06</a:t>
            </a:r>
          </a:p>
        </p:txBody>
      </p:sp>
      <p:sp>
        <p:nvSpPr>
          <p:cNvPr id="4" name="study">
            <a:extLst xmlns:a="http://schemas.openxmlformats.org/drawingml/2006/main">
              <a:ext uri="{FF2B5EF4-FFF2-40B4-BE49-F238E27FC236}">
                <a16:creationId xmlns:a16="http://schemas.microsoft.com/office/drawing/2014/main" id="{C86E6349-EA67-4BE0-AF15-21A8DEF6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69342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study-k">
            <a:extLst xmlns:a="http://schemas.openxmlformats.org/drawingml/2006/main">
              <a:ext uri="{FF2B5EF4-FFF2-40B4-BE49-F238E27FC236}">
                <a16:creationId xmlns:a16="http://schemas.microsoft.com/office/drawing/2014/main" id="{56038FBE-4E73-47A9-B3A2-861742C7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97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FIVE EXPERIMENTS</a:t>
            </a:r>
          </a:p>
        </p:txBody>
      </p:sp>
      <p:sp>
        <p:nvSpPr>
          <p:cNvPr id="6" name="study-big">
            <a:extLst xmlns:a="http://schemas.openxmlformats.org/drawingml/2006/main">
              <a:ext uri="{FF2B5EF4-FFF2-40B4-BE49-F238E27FC236}">
                <a16:creationId xmlns:a16="http://schemas.microsoft.com/office/drawing/2014/main" id="{4CFBB67F-ED1F-4461-8FF5-3F8972BD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Crime metaphors shifted choices.</a:t>
            </a:r>
          </a:p>
        </p:txBody>
      </p:sp>
      <p:sp>
        <p:nvSpPr>
          <p:cNvPr id="7" name="study-rule">
            <a:extLst xmlns:a="http://schemas.openxmlformats.org/drawingml/2006/main">
              <a:ext uri="{FF2B5EF4-FFF2-40B4-BE49-F238E27FC236}">
                <a16:creationId xmlns:a16="http://schemas.microsoft.com/office/drawing/2014/main" id="{62F67DBD-94F8-48BA-8027-CA7981CB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8" name="study-small">
            <a:extLst xmlns:a="http://schemas.openxmlformats.org/drawingml/2006/main">
              <a:ext uri="{FF2B5EF4-FFF2-40B4-BE49-F238E27FC236}">
                <a16:creationId xmlns:a16="http://schemas.microsoft.com/office/drawing/2014/main" id="{D78C7A6F-8564-4782-9AFE-C59E2D8C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Placement changed effects.</a:t>
            </a:r>
          </a:p>
        </p:txBody>
      </p:sp>
      <p:sp>
        <p:nvSpPr>
          <p:cNvPr id="9" name="study-small-2">
            <a:extLst xmlns:a="http://schemas.openxmlformats.org/drawingml/2006/main">
              <a:ext uri="{FF2B5EF4-FFF2-40B4-BE49-F238E27FC236}">
                <a16:creationId xmlns:a16="http://schemas.microsoft.com/office/drawing/2014/main" id="{C98E4E5B-9EFB-4B58-92F5-B507C39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Participants missed influence.</a:t>
            </a:r>
          </a:p>
        </p:txBody>
      </p:sp>
      <p:sp>
        <p:nvSpPr>
          <p:cNvPr id="10" name="limit">
            <a:extLst xmlns:a="http://schemas.openxmlformats.org/drawingml/2006/main">
              <a:ext uri="{FF2B5EF4-FFF2-40B4-BE49-F238E27FC236}">
                <a16:creationId xmlns:a16="http://schemas.microsoft.com/office/drawing/2014/main" id="{EE58D581-7086-4D3B-8A72-125E53D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4671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limit-k">
            <a:extLst xmlns:a="http://schemas.openxmlformats.org/drawingml/2006/main">
              <a:ext uri="{FF2B5EF4-FFF2-40B4-BE49-F238E27FC236}">
                <a16:creationId xmlns:a16="http://schemas.microsoft.com/office/drawing/2014/main" id="{F904B7F8-23B8-47D2-8045-12DD148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97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LIMITS</a:t>
            </a:r>
          </a:p>
        </p:txBody>
      </p:sp>
      <p:sp>
        <p:nvSpPr>
          <p:cNvPr id="12" name="limit-one">
            <a:extLst xmlns:a="http://schemas.openxmlformats.org/drawingml/2006/main">
              <a:ext uri="{FF2B5EF4-FFF2-40B4-BE49-F238E27FC236}">
                <a16:creationId xmlns:a16="http://schemas.microsoft.com/office/drawing/2014/main" id="{0A93EC74-E079-4960-96A7-BD1B9D9E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860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One topic.</a:t>
            </a:r>
          </a:p>
        </p:txBody>
      </p:sp>
      <p:sp>
        <p:nvSpPr>
          <p:cNvPr id="13" name="limit-two">
            <a:extLst xmlns:a="http://schemas.openxmlformats.org/drawingml/2006/main">
              <a:ext uri="{FF2B5EF4-FFF2-40B4-BE49-F238E27FC236}">
                <a16:creationId xmlns:a16="http://schemas.microsoft.com/office/drawing/2014/main" id="{4BA16474-0AE2-4021-86F4-8DD4E0B0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Five experiments.</a:t>
            </a:r>
          </a:p>
        </p:txBody>
      </p:sp>
      <p:sp>
        <p:nvSpPr>
          <p:cNvPr id="14" name="limit-three">
            <a:extLst xmlns:a="http://schemas.openxmlformats.org/drawingml/2006/main">
              <a:ext uri="{FF2B5EF4-FFF2-40B4-BE49-F238E27FC236}">
                <a16:creationId xmlns:a16="http://schemas.microsoft.com/office/drawing/2014/main" id="{1E401ECB-4632-47BF-8EFC-87B1926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No universal proof.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938690D7-38C8-4437-910C-71C98E76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86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Words can steer attention.</a:t>
            </a:r>
          </a:p>
        </p:txBody>
      </p:sp>
    </p:spTree>
    <p:extLst>
      <p:ext uri="{BB962C8B-B14F-4D97-AF65-F5344CB8AC3E}">
        <p14:creationId xmlns:p14="http://schemas.microsoft.com/office/powerpoint/2010/main" val="775716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2CF169BD-3F8D-4402-8400-AD601A86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Criticism: rules need judgment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F77750-5743-4B57-A6C7-7CC97019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C3AC6450-DEA7-403F-A71C-4CD85007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08 / 07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E19684E9-7B0C-4A15-8D42-B205E562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8CD16BD2-5D94-4FEB-B90C-F2AC095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35D58B04-53B5-4A42-BB6D-A7D63D8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TRUTH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AD7A55B7-A1D9-4C7C-899B-51EB1C26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478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Plain prose can lie.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336A07F2-9155-48C4-B625-DD4ED685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91251C6E-0AAE-46B3-B473-36C4140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216F04CB-0982-4C03-8634-22E161FA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VOICE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31E5342A-862D-4DC6-8944-4705358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479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Passive voice can help.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C6373A44-1284-4CE1-AD85-9B72F0EE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3C3E0BF4-8AEC-4401-BF6A-6D72478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314E443D-132E-4E4E-88FC-2F1ED0E8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IMAGERY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62188856-131D-49D7-BBDE-568F4374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480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Fresh metaphors clarify.</a:t>
            </a:r>
          </a:p>
        </p:txBody>
      </p:sp>
      <p:sp>
        <p:nvSpPr>
          <p:cNvPr id="16" name="row-3">
            <a:extLst xmlns:a="http://schemas.openxmlformats.org/drawingml/2006/main">
              <a:ext uri="{FF2B5EF4-FFF2-40B4-BE49-F238E27FC236}">
                <a16:creationId xmlns:a16="http://schemas.microsoft.com/office/drawing/2014/main" id="{692F27CE-DB8B-4DFF-9CB7-DBBB4DF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3A9AB591-1111-43FA-92DB-8892FF10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C88B3D37-8EC2-46B2-B85C-BFFE8C9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ABSTRACTION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1C19932C-77B4-4CD9-8028-EC13B852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481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Abstract terms can matter.</a:t>
            </a:r>
          </a:p>
        </p:txBody>
      </p:sp>
      <p:sp>
        <p:nvSpPr>
          <p:cNvPr id="20" name="row-4">
            <a:extLst xmlns:a="http://schemas.openxmlformats.org/drawingml/2006/main">
              <a:ext uri="{FF2B5EF4-FFF2-40B4-BE49-F238E27FC236}">
                <a16:creationId xmlns:a16="http://schemas.microsoft.com/office/drawing/2014/main" id="{47CB1515-CD06-48A8-B735-3F3805F7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40EAE918-C700-4D34-B271-D5E4C8F7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2" name="k-4">
            <a:extLst xmlns:a="http://schemas.openxmlformats.org/drawingml/2006/main">
              <a:ext uri="{FF2B5EF4-FFF2-40B4-BE49-F238E27FC236}">
                <a16:creationId xmlns:a16="http://schemas.microsoft.com/office/drawing/2014/main" id="{A51FB057-3D16-4DE5-B0E7-7E738F7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PROOF</a:t>
            </a:r>
          </a:p>
        </p:txBody>
      </p:sp>
      <p:sp>
        <p:nvSpPr>
          <p:cNvPr id="23" name="v-4">
            <a:extLst xmlns:a="http://schemas.openxmlformats.org/drawingml/2006/main">
              <a:ext uri="{FF2B5EF4-FFF2-40B4-BE49-F238E27FC236}">
                <a16:creationId xmlns:a16="http://schemas.microsoft.com/office/drawing/2014/main" id="{5078527C-444E-4421-B8C0-185E8DE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482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Rules never prove truth.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6FF9936D-17F3-4743-9517-A5EB1141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Orwell anticipated several limits.</a:t>
            </a:r>
          </a:p>
        </p:txBody>
      </p:sp>
    </p:spTree>
    <p:extLst>
      <p:ext uri="{BB962C8B-B14F-4D97-AF65-F5344CB8AC3E}">
        <p14:creationId xmlns:p14="http://schemas.microsoft.com/office/powerpoint/2010/main" val="1754531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A346850B-ED6C-4805-A3E4-DA3F4976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 practical reading test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A80F4B-82C3-474B-8833-AC2B4DA2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5D5689FD-E7B7-48BD-AD14-EC11A15B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08 / 08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C21709FF-3733-49CC-B78A-74D19664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2000250" cy="2286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top-0">
            <a:extLst xmlns:a="http://schemas.openxmlformats.org/drawingml/2006/main">
              <a:ext uri="{FF2B5EF4-FFF2-40B4-BE49-F238E27FC236}">
                <a16:creationId xmlns:a16="http://schemas.microsoft.com/office/drawing/2014/main" id="{6C367F81-BB0A-49BE-96C4-6948B536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n-0">
            <a:extLst xmlns:a="http://schemas.openxmlformats.org/drawingml/2006/main">
              <a:ext uri="{FF2B5EF4-FFF2-40B4-BE49-F238E27FC236}">
                <a16:creationId xmlns:a16="http://schemas.microsoft.com/office/drawing/2014/main" id="{7614F590-F627-4C9A-BF3C-B8E0714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q-0">
            <a:extLst xmlns:a="http://schemas.openxmlformats.org/drawingml/2006/main">
              <a:ext uri="{FF2B5EF4-FFF2-40B4-BE49-F238E27FC236}">
                <a16:creationId xmlns:a16="http://schemas.microsoft.com/office/drawing/2014/main" id="{D316053E-585C-4B53-A3FA-A2AB89D6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Who acts?</a:t>
            </a:r>
          </a:p>
        </p:txBody>
      </p:sp>
      <p:sp>
        <p:nvSpPr>
          <p:cNvPr id="8" name="card-1">
            <a:extLst xmlns:a="http://schemas.openxmlformats.org/drawingml/2006/main">
              <a:ext uri="{FF2B5EF4-FFF2-40B4-BE49-F238E27FC236}">
                <a16:creationId xmlns:a16="http://schemas.microsoft.com/office/drawing/2014/main" id="{07AFC518-725D-4F24-A7E4-89C75F2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24025"/>
            <a:ext cx="2000250" cy="2286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top-1">
            <a:extLst xmlns:a="http://schemas.openxmlformats.org/drawingml/2006/main">
              <a:ext uri="{FF2B5EF4-FFF2-40B4-BE49-F238E27FC236}">
                <a16:creationId xmlns:a16="http://schemas.microsoft.com/office/drawing/2014/main" id="{059DFAA8-06BB-409C-82EF-6D0B53A8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240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C2EF68E3-8CE9-4732-9D3B-DF75ACB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240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q-1">
            <a:extLst xmlns:a="http://schemas.openxmlformats.org/drawingml/2006/main">
              <a:ext uri="{FF2B5EF4-FFF2-40B4-BE49-F238E27FC236}">
                <a16:creationId xmlns:a16="http://schemas.microsoft.com/office/drawing/2014/main" id="{C11F6A0F-41F3-49BA-9AD4-B74E29E9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What happened?</a:t>
            </a:r>
          </a:p>
        </p:txBody>
      </p:sp>
      <p:sp>
        <p:nvSpPr>
          <p:cNvPr id="12" name="card-2">
            <a:extLst xmlns:a="http://schemas.openxmlformats.org/drawingml/2006/main">
              <a:ext uri="{FF2B5EF4-FFF2-40B4-BE49-F238E27FC236}">
                <a16:creationId xmlns:a16="http://schemas.microsoft.com/office/drawing/2014/main" id="{F2CDD574-470F-4237-9AD8-0F7573A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24025"/>
            <a:ext cx="2000250" cy="2286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top-2">
            <a:extLst xmlns:a="http://schemas.openxmlformats.org/drawingml/2006/main">
              <a:ext uri="{FF2B5EF4-FFF2-40B4-BE49-F238E27FC236}">
                <a16:creationId xmlns:a16="http://schemas.microsoft.com/office/drawing/2014/main" id="{901FEB72-18E4-4285-8494-E8793100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240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n-2">
            <a:extLst xmlns:a="http://schemas.openxmlformats.org/drawingml/2006/main">
              <a:ext uri="{FF2B5EF4-FFF2-40B4-BE49-F238E27FC236}">
                <a16:creationId xmlns:a16="http://schemas.microsoft.com/office/drawing/2014/main" id="{62413B32-6086-4223-8FED-BF127234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240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5" name="q-2">
            <a:extLst xmlns:a="http://schemas.openxmlformats.org/drawingml/2006/main">
              <a:ext uri="{FF2B5EF4-FFF2-40B4-BE49-F238E27FC236}">
                <a16:creationId xmlns:a16="http://schemas.microsoft.com/office/drawing/2014/main" id="{7B40268B-92BD-42EF-8FE7-1647E5B0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Who suffers?</a:t>
            </a:r>
          </a:p>
        </p:txBody>
      </p:sp>
      <p:sp>
        <p:nvSpPr>
          <p:cNvPr id="16" name="card-3">
            <a:extLst xmlns:a="http://schemas.openxmlformats.org/drawingml/2006/main">
              <a:ext uri="{FF2B5EF4-FFF2-40B4-BE49-F238E27FC236}">
                <a16:creationId xmlns:a16="http://schemas.microsoft.com/office/drawing/2014/main" id="{1DD9B6C1-B43E-48A4-BF7C-80956412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2000250" cy="2286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top-3">
            <a:extLst xmlns:a="http://schemas.openxmlformats.org/drawingml/2006/main">
              <a:ext uri="{FF2B5EF4-FFF2-40B4-BE49-F238E27FC236}">
                <a16:creationId xmlns:a16="http://schemas.microsoft.com/office/drawing/2014/main" id="{F5282BF5-BA6C-40E2-BB4B-30051B11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n-3">
            <a:extLst xmlns:a="http://schemas.openxmlformats.org/drawingml/2006/main">
              <a:ext uri="{FF2B5EF4-FFF2-40B4-BE49-F238E27FC236}">
                <a16:creationId xmlns:a16="http://schemas.microsoft.com/office/drawing/2014/main" id="{02349126-7F91-48CE-8BF5-902C7C63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9" name="q-3">
            <a:extLst xmlns:a="http://schemas.openxmlformats.org/drawingml/2006/main">
              <a:ext uri="{FF2B5EF4-FFF2-40B4-BE49-F238E27FC236}">
                <a16:creationId xmlns:a16="http://schemas.microsoft.com/office/drawing/2014/main" id="{17669502-922A-4E22-B077-17BD8D25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Which words soften?</a:t>
            </a:r>
          </a:p>
        </p:txBody>
      </p:sp>
      <p:sp>
        <p:nvSpPr>
          <p:cNvPr id="20" name="card-4">
            <a:extLst xmlns:a="http://schemas.openxmlformats.org/drawingml/2006/main">
              <a:ext uri="{FF2B5EF4-FFF2-40B4-BE49-F238E27FC236}">
                <a16:creationId xmlns:a16="http://schemas.microsoft.com/office/drawing/2014/main" id="{FB5716E2-2CF6-46E0-8D52-7F64AE1D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24025"/>
            <a:ext cx="2000250" cy="2286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top-4">
            <a:extLst xmlns:a="http://schemas.openxmlformats.org/drawingml/2006/main">
              <a:ext uri="{FF2B5EF4-FFF2-40B4-BE49-F238E27FC236}">
                <a16:creationId xmlns:a16="http://schemas.microsoft.com/office/drawing/2014/main" id="{E00E94D2-DBF4-4527-A7C4-5C1168A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240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2" name="n-4">
            <a:extLst xmlns:a="http://schemas.openxmlformats.org/drawingml/2006/main">
              <a:ext uri="{FF2B5EF4-FFF2-40B4-BE49-F238E27FC236}">
                <a16:creationId xmlns:a16="http://schemas.microsoft.com/office/drawing/2014/main" id="{E15C33A5-63CF-4C3F-B5A2-286390C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240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3" name="q-4">
            <a:extLst xmlns:a="http://schemas.openxmlformats.org/drawingml/2006/main">
              <a:ext uri="{FF2B5EF4-FFF2-40B4-BE49-F238E27FC236}">
                <a16:creationId xmlns:a16="http://schemas.microsoft.com/office/drawing/2014/main" id="{21254061-8759-4ED9-AFBD-73F5DEE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93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Which facts verify?</a:t>
            </a:r>
          </a:p>
        </p:txBody>
      </p:sp>
      <p:sp>
        <p:nvSpPr>
          <p:cNvPr id="24" name="sources">
            <a:extLst xmlns:a="http://schemas.openxmlformats.org/drawingml/2006/main">
              <a:ext uri="{FF2B5EF4-FFF2-40B4-BE49-F238E27FC236}">
                <a16:creationId xmlns:a16="http://schemas.microsoft.com/office/drawing/2014/main" id="{6B3ED0B5-A475-4AB9-A68F-B0AD6693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76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25" name="source-one">
            <a:extLst xmlns:a="http://schemas.openxmlformats.org/drawingml/2006/main">
              <a:ext uri="{FF2B5EF4-FFF2-40B4-BE49-F238E27FC236}">
                <a16:creationId xmlns:a16="http://schemas.microsoft.com/office/drawing/2014/main" id="{6E3E80EC-84D3-4E18-BED0-4F341FC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ORWELL FOUNDATION · 1946 ESSAYS</a:t>
            </a:r>
          </a:p>
        </p:txBody>
      </p:sp>
      <p:sp>
        <p:nvSpPr>
          <p:cNvPr id="26" name="source-two">
            <a:extLst xmlns:a="http://schemas.openxmlformats.org/drawingml/2006/main">
              <a:ext uri="{FF2B5EF4-FFF2-40B4-BE49-F238E27FC236}">
                <a16:creationId xmlns:a16="http://schemas.microsoft.com/office/drawing/2014/main" id="{39CC3B19-46EA-4006-AFD3-C3180A4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52925"/>
            <a:ext cx="4524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PLOS ONE · 2011 STUDY</a:t>
            </a:r>
          </a:p>
        </p:txBody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7F4D3DE4-D05A-4DFA-90FA-DB47A7E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Clarity begins accountability.</a:t>
            </a:r>
          </a:p>
        </p:txBody>
      </p:sp>
      <p:sp>
        <p:nvSpPr>
          <p:cNvPr id="28" name="next">
            <a:extLst xmlns:a="http://schemas.openxmlformats.org/drawingml/2006/main">
              <a:ext uri="{FF2B5EF4-FFF2-40B4-BE49-F238E27FC236}">
                <a16:creationId xmlns:a16="http://schemas.microsoft.com/office/drawing/2014/main" id="{BAD12CF9-B401-4135-B22F-5929102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NEXT: The English language business</a:t>
            </a:r>
          </a:p>
        </p:txBody>
      </p:sp>
    </p:spTree>
    <p:extLst>
      <p:ext uri="{BB962C8B-B14F-4D97-AF65-F5344CB8AC3E}">
        <p14:creationId xmlns:p14="http://schemas.microsoft.com/office/powerpoint/2010/main" val="783556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2026-09-25T00:28:41.3340000Z</dcterms:created>
  <dcterms:modified xsi:type="dcterms:W3CDTF">2026-09-25T00:28:41.3350000Z</dcterms:modified>
</coreProperties>
</file>