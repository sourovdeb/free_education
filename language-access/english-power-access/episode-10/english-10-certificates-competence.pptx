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6e7a5dd17b4b4e" /><Relationship Type="http://schemas.openxmlformats.org/officeDocument/2006/relationships/extended-properties" Target="/docProps/app.xml" Id="R9818f228683740da" /><Relationship Type="http://schemas.openxmlformats.org/officeDocument/2006/relationships/officeDocument" Target="/ppt/presentation.xml" Id="Rc3ab75c8ddb04e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402568df1645f5"/>
  </p:sldMasterIdLst>
  <p:notesMasterIdLst>
    <p:notesMasterId xmlns:r="http://schemas.openxmlformats.org/officeDocument/2006/relationships" r:id="Rb5557c6115b7452c"/>
  </p:notesMasterIdLst>
  <p:sldIdLst>
    <p:sldId xmlns:r="http://schemas.openxmlformats.org/officeDocument/2006/relationships" id="256" r:id="R1f522ab7d6f44c81"/>
    <p:sldId xmlns:r="http://schemas.openxmlformats.org/officeDocument/2006/relationships" id="257" r:id="Rab990b9583ee4f77"/>
    <p:sldId xmlns:r="http://schemas.openxmlformats.org/officeDocument/2006/relationships" id="258" r:id="R1224eb8227614952"/>
    <p:sldId xmlns:r="http://schemas.openxmlformats.org/officeDocument/2006/relationships" id="259" r:id="R76ea3c173b394fb4"/>
    <p:sldId xmlns:r="http://schemas.openxmlformats.org/officeDocument/2006/relationships" id="260" r:id="R49ac7dc78bbc42fe"/>
    <p:sldId xmlns:r="http://schemas.openxmlformats.org/officeDocument/2006/relationships" id="261" r:id="R4854af84f13945af"/>
    <p:sldId xmlns:r="http://schemas.openxmlformats.org/officeDocument/2006/relationships" id="262" r:id="R66628ac591404bf8"/>
    <p:sldId xmlns:r="http://schemas.openxmlformats.org/officeDocument/2006/relationships" id="263" r:id="R17e980f9d2394c6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d9a1d94c8e48bc" /><Relationship Type="http://schemas.openxmlformats.org/officeDocument/2006/relationships/slideMaster" Target="/ppt/slideMasters/slideMaster1.xml" Id="Rae402568df1645f5" /><Relationship Type="http://schemas.openxmlformats.org/officeDocument/2006/relationships/notesMaster" Target="/ppt/notesMasters/notesMaster1.xml" Id="Rb5557c6115b7452c" /><Relationship Type="http://schemas.openxmlformats.org/officeDocument/2006/relationships/presProps" Target="/ppt/presProps.xml" Id="R2566ef2935e546c3" /><Relationship Type="http://schemas.openxmlformats.org/officeDocument/2006/relationships/tableStyles" Target="/ppt/tableStyles.xml" Id="R216a0de997674ce6" /><Relationship Type="http://schemas.openxmlformats.org/officeDocument/2006/relationships/slide" Target="/ppt/slides/slide1.xml" Id="R1f522ab7d6f44c81" /><Relationship Type="http://schemas.openxmlformats.org/officeDocument/2006/relationships/slide" Target="/ppt/slides/slide2.xml" Id="Rab990b9583ee4f77" /><Relationship Type="http://schemas.openxmlformats.org/officeDocument/2006/relationships/slide" Target="/ppt/slides/slide3.xml" Id="R1224eb8227614952" /><Relationship Type="http://schemas.openxmlformats.org/officeDocument/2006/relationships/slide" Target="/ppt/slides/slide4.xml" Id="R76ea3c173b394fb4" /><Relationship Type="http://schemas.openxmlformats.org/officeDocument/2006/relationships/slide" Target="/ppt/slides/slide5.xml" Id="R49ac7dc78bbc42fe" /><Relationship Type="http://schemas.openxmlformats.org/officeDocument/2006/relationships/slide" Target="/ppt/slides/slide6.xml" Id="R4854af84f13945af" /><Relationship Type="http://schemas.openxmlformats.org/officeDocument/2006/relationships/slide" Target="/ppt/slides/slide7.xml" Id="R66628ac591404bf8" /><Relationship Type="http://schemas.openxmlformats.org/officeDocument/2006/relationships/slide" Target="/ppt/slides/slide8.xml" Id="R17e980f9d2394c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4900d5c1d445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8819eac5bf4d2f" /><Relationship Type="http://schemas.openxmlformats.org/officeDocument/2006/relationships/notesMaster" Target="/ppt/notesMasters/notesMaster1.xml" Id="Re28a489753d84a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53feb61ec042f9" /><Relationship Type="http://schemas.openxmlformats.org/officeDocument/2006/relationships/notesMaster" Target="/ppt/notesMasters/notesMaster1.xml" Id="R2c75adbcae4e4c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4d1a247fd4f4a23" /><Relationship Type="http://schemas.openxmlformats.org/officeDocument/2006/relationships/notesMaster" Target="/ppt/notesMasters/notesMaster1.xml" Id="R47150dee869140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bed4ee8dbc4e70" /><Relationship Type="http://schemas.openxmlformats.org/officeDocument/2006/relationships/notesMaster" Target="/ppt/notesMasters/notesMaster1.xml" Id="Rddfb15edff5940d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5ecff557cdc4d60" /><Relationship Type="http://schemas.openxmlformats.org/officeDocument/2006/relationships/notesMaster" Target="/ppt/notesMasters/notesMaster1.xml" Id="R3b9236764c3a49b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38612bc8b14faf" /><Relationship Type="http://schemas.openxmlformats.org/officeDocument/2006/relationships/notesMaster" Target="/ppt/notesMasters/notesMaster1.xml" Id="R86fb75fc0085487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3bc8323e3c642ab" /><Relationship Type="http://schemas.openxmlformats.org/officeDocument/2006/relationships/notesMaster" Target="/ppt/notesMasters/notesMaster1.xml" Id="Rddd7e98d53384a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7a397b44b5d45d6" /><Relationship Type="http://schemas.openxmlformats.org/officeDocument/2006/relationships/notesMaster" Target="/ppt/notesMasters/notesMaster1.xml" Id="R9b9b4cdfc78a4f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Credentials serve different purposes.</a:t>
            </a:r>
          </a:p>
          <a:p xmlns:a="http://schemas.openxmlformats.org/drawingml/2006/main">
            <a:r>
              <a:t>Inference: Signals reduce review costs.</a:t>
            </a:r>
          </a:p>
          <a:p xmlns:a="http://schemas.openxmlformats.org/drawingml/2006/main">
            <a:r>
              <a:t>Unproven: Prestige proves full competence.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https://www.cambridgeenglish.org/Images/21816-celta-syllabus.pdf</a:t>
            </a:r>
          </a:p>
          <a:p xmlns:a="http://schemas.openxmlformats.org/drawingml/2006/main">
            <a:r>
              <a:t>https://ielts.org/take-a-test/your-results/ielts-scoring-in-detail</a:t>
            </a:r>
          </a:p>
          <a:p xmlns:a="http://schemas.openxmlformats.org/drawingml/2006/main">
            <a:r>
              <a:t>https://rm.coe.int/common-european-framework-of-reference-for-languages-learning-teaching/16809ea0d4</a:t>
            </a:r>
          </a:p>
          <a:p xmlns:a="http://schemas.openxmlformats.org/drawingml/2006/main">
            <a:r>
              <a:t>Artwork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CELTA assesses teaching.</a:t>
            </a:r>
          </a:p>
          <a:p xmlns:a="http://schemas.openxmlformats.org/drawingml/2006/main">
            <a:r>
              <a:t>Evidence: IELTS scores language use.</a:t>
            </a:r>
          </a:p>
          <a:p xmlns:a="http://schemas.openxmlformats.org/drawingml/2006/main">
            <a:r>
              <a:t>Evidence: CEFR supplies descriptors.</a:t>
            </a:r>
          </a:p>
          <a:p xmlns:a="http://schemas.openxmlformats.org/drawingml/2006/main">
            <a:r>
              <a:t>Inference: Portfolios show applied work.</a:t>
            </a:r>
          </a:p>
          <a:p xmlns:a="http://schemas.openxmlformats.org/drawingml/2006/main">
            <a:r>
              <a:t>Unproven: Any signal proves everything.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https://www.cambridgeenglish.org/Images/21816-celta-syllabus.pdf</a:t>
            </a:r>
          </a:p>
          <a:p xmlns:a="http://schemas.openxmlformats.org/drawingml/2006/main">
            <a:r>
              <a:t>https://ielts.org/take-a-test/your-results/ielts-scoring-in-detail</a:t>
            </a:r>
          </a:p>
          <a:p xmlns:a="http://schemas.openxmlformats.org/drawingml/2006/main">
            <a:r>
              <a:t>https://rm.coe.int/common-european-framework-of-reference-for-languages-learning-teaching/16809ea0d4</a:t>
            </a:r>
          </a:p>
          <a:p xmlns:a="http://schemas.openxmlformats.org/drawingml/2006/main">
            <a:r>
              <a:t>Artwork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Minimum 120 contact hours.</a:t>
            </a:r>
          </a:p>
          <a:p xmlns:a="http://schemas.openxmlformats.org/drawingml/2006/main">
            <a:r>
              <a:t>Evidence: Six assessed teaching hours.</a:t>
            </a:r>
          </a:p>
          <a:p xmlns:a="http://schemas.openxmlformats.org/drawingml/2006/main">
            <a:r>
              <a:t>Evidence: Four written assignments.</a:t>
            </a:r>
          </a:p>
          <a:p xmlns:a="http://schemas.openxmlformats.org/drawingml/2006/main">
            <a:r>
              <a:t>Evidence: Cambridge moderation samples work.</a:t>
            </a:r>
          </a:p>
          <a:p xmlns:a="http://schemas.openxmlformats.org/drawingml/2006/main">
            <a:r>
              <a:t>Inference: Completion signals entry readiness.</a:t>
            </a:r>
          </a:p>
          <a:p xmlns:a="http://schemas.openxmlformats.org/drawingml/2006/main">
            <a:r>
              <a:t>Unproven: It guarantees future quality.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https://www.cambridgeenglish.org/educators-organisations/professional-development/teaching-qualifications/celta/</a:t>
            </a:r>
          </a:p>
          <a:p xmlns:a="http://schemas.openxmlformats.org/drawingml/2006/main">
            <a:r>
              <a:t>https://www.cambridgeenglish.org/Images/21816-celta-syllabus.pdf</a:t>
            </a:r>
          </a:p>
          <a:p xmlns:a="http://schemas.openxmlformats.org/drawingml/2006/main">
            <a:r>
              <a:t>Artwork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IELTS reports four sections.</a:t>
            </a:r>
          </a:p>
          <a:p xmlns:a="http://schemas.openxmlformats.org/drawingml/2006/main">
            <a:r>
              <a:t>Evidence: Overall scores average sections.</a:t>
            </a:r>
          </a:p>
          <a:p xmlns:a="http://schemas.openxmlformats.org/drawingml/2006/main">
            <a:r>
              <a:t>Evidence: Results describe language performance.</a:t>
            </a:r>
          </a:p>
          <a:p xmlns:a="http://schemas.openxmlformats.org/drawingml/2006/main">
            <a:r>
              <a:t>Inference: Teaching requires other evidence.</a:t>
            </a:r>
          </a:p>
          <a:p xmlns:a="http://schemas.openxmlformats.org/drawingml/2006/main">
            <a:r>
              <a:t>Unproven: High bands ensure pedagogy.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https://ielts.org/take-a-test/your-results/ielts-scoring-in-detail</a:t>
            </a:r>
          </a:p>
          <a:p xmlns:a="http://schemas.openxmlformats.org/drawingml/2006/main">
            <a:r>
              <a:t>https://ielts.org/organisations/ielts-for-organisations/compare-ielts/ielts-and-the-cefr</a:t>
            </a:r>
          </a:p>
          <a:p xmlns:a="http://schemas.openxmlformats.org/drawingml/2006/main">
            <a:r>
              <a:t>Artwork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CEFR offers A1–C2 levels.</a:t>
            </a:r>
          </a:p>
          <a:p xmlns:a="http://schemas.openxmlformats.org/drawingml/2006/main">
            <a:r>
              <a:t>Evidence: Levels are broad bands.</a:t>
            </a:r>
          </a:p>
          <a:p xmlns:a="http://schemas.openxmlformats.org/drawingml/2006/main">
            <a:r>
              <a:t>Evidence: Boundaries form a continuum.</a:t>
            </a:r>
          </a:p>
          <a:p xmlns:a="http://schemas.openxmlformats.org/drawingml/2006/main">
            <a:r>
              <a:t>Evidence: No body monitors usage.</a:t>
            </a:r>
          </a:p>
          <a:p xmlns:a="http://schemas.openxmlformats.org/drawingml/2006/main">
            <a:r>
              <a:t>Inference: Institutions must justify mappings.</a:t>
            </a:r>
          </a:p>
          <a:p xmlns:a="http://schemas.openxmlformats.org/drawingml/2006/main">
            <a:r>
              <a:t>Unproven: CEFR labels ensure equivalence.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https://rm.coe.int/common-european-framework-of-reference-for-languages-learning-teaching/16809ea0d4</a:t>
            </a:r>
          </a:p>
          <a:p xmlns:a="http://schemas.openxmlformats.org/drawingml/2006/main">
            <a:r>
              <a:t>https://ielts.org/organisations/ielts-for-organisations/compare-ielts/ielts-and-the-cefr</a:t>
            </a:r>
          </a:p>
          <a:p xmlns:a="http://schemas.openxmlformats.org/drawingml/2006/main">
            <a:r>
              <a:t>Artwork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CELTA observes teaching practice.</a:t>
            </a:r>
          </a:p>
          <a:p xmlns:a="http://schemas.openxmlformats.org/drawingml/2006/main">
            <a:r>
              <a:t>Evidence: Reliability varies by design.</a:t>
            </a:r>
          </a:p>
          <a:p xmlns:a="http://schemas.openxmlformats.org/drawingml/2006/main">
            <a:r>
              <a:t>Evidence: More occasions can help.</a:t>
            </a:r>
          </a:p>
          <a:p xmlns:a="http://schemas.openxmlformats.org/drawingml/2006/main">
            <a:r>
              <a:t>Inference: Observation reveals applied judgment.</a:t>
            </a:r>
          </a:p>
          <a:p xmlns:a="http://schemas.openxmlformats.org/drawingml/2006/main">
            <a:r>
              <a:t>Unproven: One lesson predicts careers.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https://www.cambridgeenglish.org/Images/21816-celta-syllabus.pdf</a:t>
            </a:r>
          </a:p>
          <a:p xmlns:a="http://schemas.openxmlformats.org/drawingml/2006/main">
            <a:r>
              <a:t>https://cepr.harvard.edu/resource/reliability-classroom-observations-school-personnel</a:t>
            </a:r>
          </a:p>
          <a:p xmlns:a="http://schemas.openxmlformats.org/drawingml/2006/main">
            <a:r>
              <a:t>https://doi.org/10.26300/nvmr-5e94</a:t>
            </a:r>
          </a:p>
          <a:p xmlns:a="http://schemas.openxmlformats.org/drawingml/2006/main">
            <a:r>
              <a:t>Artwork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CELTA uses moderation.</a:t>
            </a:r>
          </a:p>
          <a:p xmlns:a="http://schemas.openxmlformats.org/drawingml/2006/main">
            <a:r>
              <a:t>Evidence: CEFR supports shared language.</a:t>
            </a:r>
          </a:p>
          <a:p xmlns:a="http://schemas.openxmlformats.org/drawingml/2006/main">
            <a:r>
              <a:t>Inference: Brands reduce review costs.</a:t>
            </a:r>
          </a:p>
          <a:p xmlns:a="http://schemas.openxmlformats.org/drawingml/2006/main">
            <a:r>
              <a:t>Inference: Costs can exclude candidates.</a:t>
            </a:r>
          </a:p>
          <a:p xmlns:a="http://schemas.openxmlformats.org/drawingml/2006/main">
            <a:r>
              <a:t>Unproven: Prestige guarantees competence.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https://www.cambridgeenglish.org/Images/21816-celta-syllabus.pdf</a:t>
            </a:r>
          </a:p>
          <a:p xmlns:a="http://schemas.openxmlformats.org/drawingml/2006/main">
            <a:r>
              <a:t>https://rm.coe.int/common-european-framework-of-reference-for-languages-learning-teaching/16809ea0d4</a:t>
            </a:r>
          </a:p>
          <a:p xmlns:a="http://schemas.openxmlformats.org/drawingml/2006/main">
            <a:r>
              <a:t>https://cepr.harvard.edu/resource/reliability-classroom-observations-school-personnel</a:t>
            </a:r>
          </a:p>
          <a:p xmlns:a="http://schemas.openxmlformats.org/drawingml/2006/main">
            <a:r>
              <a:t>Artwork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Each source defines limits.</a:t>
            </a:r>
          </a:p>
          <a:p xmlns:a="http://schemas.openxmlformats.org/drawingml/2006/main">
            <a:r>
              <a:t>Inference: Combined evidence improves judgment.</a:t>
            </a:r>
          </a:p>
          <a:p xmlns:a="http://schemas.openxmlformats.org/drawingml/2006/main">
            <a:r>
              <a:t>Unproven: Any stack removes bias.</a:t>
            </a:r>
          </a:p>
          <a:p xmlns:a="http://schemas.openxmlformats.org/drawingml/2006/main">
            <a:r>
              <a:t>Action: Publish alternative routes.</a:t>
            </a:r>
          </a:p>
          <a:p xmlns:a="http://schemas.openxmlformats.org/drawingml/2006/main">
            <a:r>
              <a:t>Action: Accept practical demonstrations.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https://www.cambridgeenglish.org/Images/21816-celta-syllabus.pdf</a:t>
            </a:r>
          </a:p>
          <a:p xmlns:a="http://schemas.openxmlformats.org/drawingml/2006/main">
            <a:r>
              <a:t>https://ielts.org/take-a-test/your-results/ielts-scoring-in-detail</a:t>
            </a:r>
          </a:p>
          <a:p xmlns:a="http://schemas.openxmlformats.org/drawingml/2006/main">
            <a:r>
              <a:t>https://rm.coe.int/common-european-framework-of-reference-for-languages-learning-teaching/16809ea0d4</a:t>
            </a:r>
          </a:p>
          <a:p xmlns:a="http://schemas.openxmlformats.org/drawingml/2006/main">
            <a:r>
              <a:t>https://cepr.harvard.edu/resource/reliability-classroom-observations-school-personnel</a:t>
            </a:r>
          </a:p>
          <a:p xmlns:a="http://schemas.openxmlformats.org/drawingml/2006/main">
            <a:r>
              <a:t>https://doi.org/10.26300/nvmr-5e94</a:t>
            </a:r>
          </a:p>
          <a:p xmlns:a="http://schemas.openxmlformats.org/drawingml/2006/main">
            <a:r>
              <a:t>Artwork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cf3b48481b43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99572953aa4730" /><Relationship Type="http://schemas.openxmlformats.org/officeDocument/2006/relationships/slideLayout" Target="/ppt/slideLayouts/slideLayout1.xml" Id="R2927180cb5654de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27180cb5654d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805ef37fc64c22" /><Relationship Type="http://schemas.openxmlformats.org/officeDocument/2006/relationships/image" Target="/ppt/media/image.png" Id="R44ab76ec37554d89" /><Relationship Type="http://schemas.openxmlformats.org/officeDocument/2006/relationships/notesSlide" Target="/ppt/notesSlides/notesSlide1.xml" Id="Rd0da12985a4a40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f94e1fffd246fd" /><Relationship Type="http://schemas.openxmlformats.org/officeDocument/2006/relationships/notesSlide" Target="/ppt/notesSlides/notesSlide2.xml" Id="R558ac810827d46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759afcd6e648d2" /><Relationship Type="http://schemas.openxmlformats.org/officeDocument/2006/relationships/notesSlide" Target="/ppt/notesSlides/notesSlide3.xml" Id="R0258bb28ee4546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ad5436d5394e9a" /><Relationship Type="http://schemas.openxmlformats.org/officeDocument/2006/relationships/notesSlide" Target="/ppt/notesSlides/notesSlide4.xml" Id="Ra515db5f30864d5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3592d5ecd04ee5" /><Relationship Type="http://schemas.openxmlformats.org/officeDocument/2006/relationships/notesSlide" Target="/ppt/notesSlides/notesSlide5.xml" Id="R10f74a31bd564e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b50c72d81145a2" /><Relationship Type="http://schemas.openxmlformats.org/officeDocument/2006/relationships/notesSlide" Target="/ppt/notesSlides/notesSlide6.xml" Id="Re327e2bff4bd459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2705664a5c4646" /><Relationship Type="http://schemas.openxmlformats.org/officeDocument/2006/relationships/notesSlide" Target="/ppt/notesSlides/notesSlide7.xml" Id="Rc8c8f118ad374ab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bb2677bd604ca8" /><Relationship Type="http://schemas.openxmlformats.org/officeDocument/2006/relationships/notesSlide" Target="/ppt/notesSlides/notesSlide8.xml" Id="R98a2577ddee64bf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ab76ec37554d8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67F051E5-54EE-495F-B818-9BEAC4C0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007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ENGLISH, POWER, ACCESS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4A645A1-89AD-48D8-A880-40F7EC71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3714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39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Certificates</a:t>
            </a:r>
          </a:p>
          <a:p xmlns:a="http://schemas.openxmlformats.org/drawingml/2006/main">
            <a:pPr algn="l">
              <a:defRPr sz="39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39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And</a:t>
            </a:r>
          </a:p>
          <a:p xmlns:a="http://schemas.openxmlformats.org/drawingml/2006/main">
            <a:pPr algn="l">
              <a:defRPr sz="39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39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Competence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5892A4CE-3626-423B-9ED5-541783D4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1482C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A1482C"/>
                </a:solidFill>
                <a:latin typeface="Nimbus Sans"/>
                <a:ea typeface="Nimbus Sans"/>
                <a:cs typeface="Nimbus Sans"/>
              </a:rPr>
              <a:t>SIGNALS ARE NOT WHOLE SKILL</a:t>
            </a:r>
          </a:p>
        </p:txBody>
      </p:sp>
      <p:sp>
        <p:nvSpPr>
          <p:cNvPr id="5" name="tag">
            <a:extLst xmlns:a="http://schemas.openxmlformats.org/drawingml/2006/main">
              <a:ext uri="{FF2B5EF4-FFF2-40B4-BE49-F238E27FC236}">
                <a16:creationId xmlns:a16="http://schemas.microsoft.com/office/drawing/2014/main" id="{F3E3A357-4379-4584-BFD9-4D23EE260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72150"/>
            <a:ext cx="12001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32331"/>
          </a:solidFill>
          <a:ln xmlns:a="http://schemas.openxmlformats.org/drawingml/2006/main" w="0">
            <a:noFill/>
          </a:ln>
        </p:spPr>
      </p:sp>
      <p:sp>
        <p:nvSpPr>
          <p:cNvPr id="6" name="series">
            <a:extLst xmlns:a="http://schemas.openxmlformats.org/drawingml/2006/main">
              <a:ext uri="{FF2B5EF4-FFF2-40B4-BE49-F238E27FC236}">
                <a16:creationId xmlns:a16="http://schemas.microsoft.com/office/drawing/2014/main" id="{45E8DBAF-DF84-47F9-93FB-13CCA0E5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72150"/>
            <a:ext cx="1200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10 / 12</a:t>
            </a:r>
          </a:p>
        </p:txBody>
      </p:sp>
    </p:spTree>
    <p:extLst>
      <p:ext uri="{BB962C8B-B14F-4D97-AF65-F5344CB8AC3E}">
        <p14:creationId xmlns:p14="http://schemas.microsoft.com/office/powerpoint/2010/main" val="8814446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itle">
            <a:extLst xmlns:a="http://schemas.openxmlformats.org/drawingml/2006/main">
              <a:ext uri="{FF2B5EF4-FFF2-40B4-BE49-F238E27FC236}">
                <a16:creationId xmlns:a16="http://schemas.microsoft.com/office/drawing/2014/main" id="{40C09E13-BE1B-494D-A6E3-62B0CEE1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Four signals answer differently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0CE9106B-44C3-4AE8-B694-02044E9C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3" name="series">
            <a:extLst xmlns:a="http://schemas.openxmlformats.org/drawingml/2006/main">
              <a:ext uri="{FF2B5EF4-FFF2-40B4-BE49-F238E27FC236}">
                <a16:creationId xmlns:a16="http://schemas.microsoft.com/office/drawing/2014/main" id="{B738FD60-1E3E-4749-9670-10FB47BE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ENGLISH / 10 / 02</a:t>
            </a:r>
          </a:p>
        </p:txBody>
      </p:sp>
      <p:sp>
        <p:nvSpPr>
          <p:cNvPr id="4" name="card-0">
            <a:extLst xmlns:a="http://schemas.openxmlformats.org/drawingml/2006/main">
              <a:ext uri="{FF2B5EF4-FFF2-40B4-BE49-F238E27FC236}">
                <a16:creationId xmlns:a16="http://schemas.microsoft.com/office/drawing/2014/main" id="{639F77E1-1BD3-4758-8419-E719436A4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438400" cy="28575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5" name="band-0">
            <a:extLst xmlns:a="http://schemas.openxmlformats.org/drawingml/2006/main">
              <a:ext uri="{FF2B5EF4-FFF2-40B4-BE49-F238E27FC236}">
                <a16:creationId xmlns:a16="http://schemas.microsoft.com/office/drawing/2014/main" id="{F0F3E86E-7C7D-4E32-8615-78824C4C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438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482C"/>
          </a:solidFill>
          <a:ln xmlns:a="http://schemas.openxmlformats.org/drawingml/2006/main" w="0">
            <a:noFill/>
          </a:ln>
        </p:spPr>
      </p:sp>
      <p:sp>
        <p:nvSpPr>
          <p:cNvPr id="6" name="k-0">
            <a:extLst xmlns:a="http://schemas.openxmlformats.org/drawingml/2006/main">
              <a:ext uri="{FF2B5EF4-FFF2-40B4-BE49-F238E27FC236}">
                <a16:creationId xmlns:a16="http://schemas.microsoft.com/office/drawing/2014/main" id="{ACD8BE49-8F54-4FDA-B0D2-68D7E9201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1482C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A1482C"/>
                </a:solidFill>
                <a:latin typeface="Nimbus Sans"/>
                <a:ea typeface="Nimbus Sans"/>
                <a:cs typeface="Nimbus Sans"/>
              </a:rPr>
              <a:t>CELTA</a:t>
            </a:r>
          </a:p>
        </p:txBody>
      </p:sp>
      <p:sp>
        <p:nvSpPr>
          <p:cNvPr id="7" name="big-0">
            <a:extLst xmlns:a="http://schemas.openxmlformats.org/drawingml/2006/main">
              <a:ext uri="{FF2B5EF4-FFF2-40B4-BE49-F238E27FC236}">
                <a16:creationId xmlns:a16="http://schemas.microsoft.com/office/drawing/2014/main" id="{8ED913EE-7703-46DC-928B-DAE1D601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95575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32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Teaching entry</a:t>
            </a:r>
          </a:p>
        </p:txBody>
      </p:sp>
      <p:sp>
        <p:nvSpPr>
          <p:cNvPr id="8" name="rule-0">
            <a:extLst xmlns:a="http://schemas.openxmlformats.org/drawingml/2006/main">
              <a:ext uri="{FF2B5EF4-FFF2-40B4-BE49-F238E27FC236}">
                <a16:creationId xmlns:a16="http://schemas.microsoft.com/office/drawing/2014/main" id="{5BD772F1-8201-4216-B69D-B9F5AC02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76625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482C"/>
          </a:solidFill>
          <a:ln xmlns:a="http://schemas.openxmlformats.org/drawingml/2006/main" w="0">
            <a:noFill/>
          </a:ln>
        </p:spPr>
      </p:sp>
      <p:sp>
        <p:nvSpPr>
          <p:cNvPr id="9" name="small-0">
            <a:extLst xmlns:a="http://schemas.openxmlformats.org/drawingml/2006/main">
              <a:ext uri="{FF2B5EF4-FFF2-40B4-BE49-F238E27FC236}">
                <a16:creationId xmlns:a16="http://schemas.microsoft.com/office/drawing/2014/main" id="{CB674BB5-1B89-4FDD-A74C-741CB8211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9525"/>
            <a:ext cx="205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Observed course performance.</a:t>
            </a:r>
          </a:p>
        </p:txBody>
      </p:sp>
      <p:sp>
        <p:nvSpPr>
          <p:cNvPr id="10" name="card-1">
            <a:extLst xmlns:a="http://schemas.openxmlformats.org/drawingml/2006/main">
              <a:ext uri="{FF2B5EF4-FFF2-40B4-BE49-F238E27FC236}">
                <a16:creationId xmlns:a16="http://schemas.microsoft.com/office/drawing/2014/main" id="{55F90202-3808-4994-9F79-461AF651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809750"/>
            <a:ext cx="2438400" cy="28575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11" name="band-1">
            <a:extLst xmlns:a="http://schemas.openxmlformats.org/drawingml/2006/main">
              <a:ext uri="{FF2B5EF4-FFF2-40B4-BE49-F238E27FC236}">
                <a16:creationId xmlns:a16="http://schemas.microsoft.com/office/drawing/2014/main" id="{1A724322-1975-4FA2-AA11-B050195A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809750"/>
            <a:ext cx="2438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12" name="k-1">
            <a:extLst xmlns:a="http://schemas.openxmlformats.org/drawingml/2006/main">
              <a:ext uri="{FF2B5EF4-FFF2-40B4-BE49-F238E27FC236}">
                <a16:creationId xmlns:a16="http://schemas.microsoft.com/office/drawing/2014/main" id="{2F915B98-38E5-45BD-B83C-0926D357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431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IELTS</a:t>
            </a:r>
          </a:p>
        </p:txBody>
      </p:sp>
      <p:sp>
        <p:nvSpPr>
          <p:cNvPr id="13" name="big-1">
            <a:extLst xmlns:a="http://schemas.openxmlformats.org/drawingml/2006/main">
              <a:ext uri="{FF2B5EF4-FFF2-40B4-BE49-F238E27FC236}">
                <a16:creationId xmlns:a16="http://schemas.microsoft.com/office/drawing/2014/main" id="{40D78045-DDA7-4FA1-A652-7B9009F6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95575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32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Language score</a:t>
            </a:r>
          </a:p>
        </p:txBody>
      </p:sp>
      <p:sp>
        <p:nvSpPr>
          <p:cNvPr id="14" name="rule-1">
            <a:extLst xmlns:a="http://schemas.openxmlformats.org/drawingml/2006/main">
              <a:ext uri="{FF2B5EF4-FFF2-40B4-BE49-F238E27FC236}">
                <a16:creationId xmlns:a16="http://schemas.microsoft.com/office/drawing/2014/main" id="{E988B19A-7655-4693-BD5C-0030AC0F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476625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15" name="small-1">
            <a:extLst xmlns:a="http://schemas.openxmlformats.org/drawingml/2006/main">
              <a:ext uri="{FF2B5EF4-FFF2-40B4-BE49-F238E27FC236}">
                <a16:creationId xmlns:a16="http://schemas.microsoft.com/office/drawing/2014/main" id="{9E77C93E-2279-4696-AB89-BE860D3E3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819525"/>
            <a:ext cx="205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Timed test performance.</a:t>
            </a:r>
          </a:p>
        </p:txBody>
      </p:sp>
      <p:sp>
        <p:nvSpPr>
          <p:cNvPr id="16" name="card-2">
            <a:extLst xmlns:a="http://schemas.openxmlformats.org/drawingml/2006/main">
              <a:ext uri="{FF2B5EF4-FFF2-40B4-BE49-F238E27FC236}">
                <a16:creationId xmlns:a16="http://schemas.microsoft.com/office/drawing/2014/main" id="{71C2BC23-84AF-488A-8C04-713BA19B6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2438400" cy="28575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17" name="band-2">
            <a:extLst xmlns:a="http://schemas.openxmlformats.org/drawingml/2006/main">
              <a:ext uri="{FF2B5EF4-FFF2-40B4-BE49-F238E27FC236}">
                <a16:creationId xmlns:a16="http://schemas.microsoft.com/office/drawing/2014/main" id="{716E9AAC-C3B1-4242-8EDB-57C1665B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2438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657"/>
          </a:solidFill>
          <a:ln xmlns:a="http://schemas.openxmlformats.org/drawingml/2006/main" w="0">
            <a:noFill/>
          </a:ln>
        </p:spPr>
      </p:sp>
      <p:sp>
        <p:nvSpPr>
          <p:cNvPr id="18" name="k-2">
            <a:extLst xmlns:a="http://schemas.openxmlformats.org/drawingml/2006/main">
              <a:ext uri="{FF2B5EF4-FFF2-40B4-BE49-F238E27FC236}">
                <a16:creationId xmlns:a16="http://schemas.microsoft.com/office/drawing/2014/main" id="{8209E9D2-2562-421E-BFDB-32C35185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431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D6657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4D6657"/>
                </a:solidFill>
                <a:latin typeface="Nimbus Sans"/>
                <a:ea typeface="Nimbus Sans"/>
                <a:cs typeface="Nimbus Sans"/>
              </a:rPr>
              <a:t>CEFR</a:t>
            </a:r>
          </a:p>
        </p:txBody>
      </p:sp>
      <p:sp>
        <p:nvSpPr>
          <p:cNvPr id="19" name="big-2">
            <a:extLst xmlns:a="http://schemas.openxmlformats.org/drawingml/2006/main">
              <a:ext uri="{FF2B5EF4-FFF2-40B4-BE49-F238E27FC236}">
                <a16:creationId xmlns:a16="http://schemas.microsoft.com/office/drawing/2014/main" id="{1DBC8B92-6DC7-4DA0-AD22-41CCB93E2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95575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32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Shared scale</a:t>
            </a:r>
          </a:p>
        </p:txBody>
      </p:sp>
      <p:sp>
        <p:nvSpPr>
          <p:cNvPr id="20" name="rule-2">
            <a:extLst xmlns:a="http://schemas.openxmlformats.org/drawingml/2006/main">
              <a:ext uri="{FF2B5EF4-FFF2-40B4-BE49-F238E27FC236}">
                <a16:creationId xmlns:a16="http://schemas.microsoft.com/office/drawing/2014/main" id="{FD2412BD-7618-468F-8E92-997F1AFB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476625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657"/>
          </a:solidFill>
          <a:ln xmlns:a="http://schemas.openxmlformats.org/drawingml/2006/main" w="0">
            <a:noFill/>
          </a:ln>
        </p:spPr>
      </p:sp>
      <p:sp>
        <p:nvSpPr>
          <p:cNvPr id="21" name="small-2">
            <a:extLst xmlns:a="http://schemas.openxmlformats.org/drawingml/2006/main">
              <a:ext uri="{FF2B5EF4-FFF2-40B4-BE49-F238E27FC236}">
                <a16:creationId xmlns:a16="http://schemas.microsoft.com/office/drawing/2014/main" id="{20D57AFF-56C9-491C-81A8-CDCDC51C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19525"/>
            <a:ext cx="205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Broad proficiency descriptors.</a:t>
            </a:r>
          </a:p>
        </p:txBody>
      </p:sp>
      <p:sp>
        <p:nvSpPr>
          <p:cNvPr id="22" name="card-3">
            <a:extLst xmlns:a="http://schemas.openxmlformats.org/drawingml/2006/main">
              <a:ext uri="{FF2B5EF4-FFF2-40B4-BE49-F238E27FC236}">
                <a16:creationId xmlns:a16="http://schemas.microsoft.com/office/drawing/2014/main" id="{7EC55637-0378-40A1-9044-F32049373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09750"/>
            <a:ext cx="2438400" cy="28575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23" name="band-3">
            <a:extLst xmlns:a="http://schemas.openxmlformats.org/drawingml/2006/main">
              <a:ext uri="{FF2B5EF4-FFF2-40B4-BE49-F238E27FC236}">
                <a16:creationId xmlns:a16="http://schemas.microsoft.com/office/drawing/2014/main" id="{8D4FBCA3-E86C-497D-BF74-2A72CA75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09750"/>
            <a:ext cx="2438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04B"/>
          </a:solidFill>
          <a:ln xmlns:a="http://schemas.openxmlformats.org/drawingml/2006/main" w="0">
            <a:noFill/>
          </a:ln>
        </p:spPr>
      </p:sp>
      <p:sp>
        <p:nvSpPr>
          <p:cNvPr id="24" name="k-3">
            <a:extLst xmlns:a="http://schemas.openxmlformats.org/drawingml/2006/main">
              <a:ext uri="{FF2B5EF4-FFF2-40B4-BE49-F238E27FC236}">
                <a16:creationId xmlns:a16="http://schemas.microsoft.com/office/drawing/2014/main" id="{3FDFA2C4-7A4C-4818-A6F1-9723D923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1431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1A04B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D1A04B"/>
                </a:solidFill>
                <a:latin typeface="Nimbus Sans"/>
                <a:ea typeface="Nimbus Sans"/>
                <a:cs typeface="Nimbus Sans"/>
              </a:rPr>
              <a:t>PORTFOLIO</a:t>
            </a:r>
          </a:p>
        </p:txBody>
      </p:sp>
      <p:sp>
        <p:nvSpPr>
          <p:cNvPr id="25" name="big-3">
            <a:extLst xmlns:a="http://schemas.openxmlformats.org/drawingml/2006/main">
              <a:ext uri="{FF2B5EF4-FFF2-40B4-BE49-F238E27FC236}">
                <a16:creationId xmlns:a16="http://schemas.microsoft.com/office/drawing/2014/main" id="{4E8881F2-5BD3-46A6-9783-DCE4FC80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95575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32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Work evidence</a:t>
            </a:r>
          </a:p>
        </p:txBody>
      </p:sp>
      <p:sp>
        <p:nvSpPr>
          <p:cNvPr id="26" name="rule-3">
            <a:extLst xmlns:a="http://schemas.openxmlformats.org/drawingml/2006/main">
              <a:ext uri="{FF2B5EF4-FFF2-40B4-BE49-F238E27FC236}">
                <a16:creationId xmlns:a16="http://schemas.microsoft.com/office/drawing/2014/main" id="{EFF453BE-5CBE-4D7B-8F5C-70CDA336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476625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04B"/>
          </a:solidFill>
          <a:ln xmlns:a="http://schemas.openxmlformats.org/drawingml/2006/main" w="0">
            <a:noFill/>
          </a:ln>
        </p:spPr>
      </p:sp>
      <p:sp>
        <p:nvSpPr>
          <p:cNvPr id="27" name="small-3">
            <a:extLst xmlns:a="http://schemas.openxmlformats.org/drawingml/2006/main">
              <a:ext uri="{FF2B5EF4-FFF2-40B4-BE49-F238E27FC236}">
                <a16:creationId xmlns:a16="http://schemas.microsoft.com/office/drawing/2014/main" id="{C162E793-CCDE-4142-A68B-E1982CD4F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19525"/>
            <a:ext cx="205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Applied tasks shown.</a:t>
            </a:r>
          </a:p>
        </p:txBody>
      </p:sp>
      <p:sp>
        <p:nvSpPr>
          <p:cNvPr id="28" name="takeaway">
            <a:extLst xmlns:a="http://schemas.openxmlformats.org/drawingml/2006/main">
              <a:ext uri="{FF2B5EF4-FFF2-40B4-BE49-F238E27FC236}">
                <a16:creationId xmlns:a16="http://schemas.microsoft.com/office/drawing/2014/main" id="{64261AB5-40C8-4FC9-9349-5B0EA4CE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673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Names must match purposes.</a:t>
            </a:r>
          </a:p>
        </p:txBody>
      </p:sp>
    </p:spTree>
    <p:extLst>
      <p:ext uri="{BB962C8B-B14F-4D97-AF65-F5344CB8AC3E}">
        <p14:creationId xmlns:p14="http://schemas.microsoft.com/office/powerpoint/2010/main" val="499378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323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itle">
            <a:extLst xmlns:a="http://schemas.openxmlformats.org/drawingml/2006/main">
              <a:ext uri="{FF2B5EF4-FFF2-40B4-BE49-F238E27FC236}">
                <a16:creationId xmlns:a16="http://schemas.microsoft.com/office/drawing/2014/main" id="{CBD4B170-3480-46DA-A1FC-539AAE0D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What CELTA actually assesses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04640C82-AC07-4FA2-B6D2-6812EE7A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04B"/>
          </a:solidFill>
          <a:ln xmlns:a="http://schemas.openxmlformats.org/drawingml/2006/main" w="0">
            <a:noFill/>
          </a:ln>
        </p:spPr>
      </p:sp>
      <p:sp>
        <p:nvSpPr>
          <p:cNvPr id="3" name="series">
            <a:extLst xmlns:a="http://schemas.openxmlformats.org/drawingml/2006/main">
              <a:ext uri="{FF2B5EF4-FFF2-40B4-BE49-F238E27FC236}">
                <a16:creationId xmlns:a16="http://schemas.microsoft.com/office/drawing/2014/main" id="{A035113B-1191-498A-ACD4-09321E20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ENGLISH / 10 / 03</a:t>
            </a:r>
          </a:p>
        </p:txBody>
      </p:sp>
      <p:sp>
        <p:nvSpPr>
          <p:cNvPr id="4" name="card-0">
            <a:extLst xmlns:a="http://schemas.openxmlformats.org/drawingml/2006/main">
              <a:ext uri="{FF2B5EF4-FFF2-40B4-BE49-F238E27FC236}">
                <a16:creationId xmlns:a16="http://schemas.microsoft.com/office/drawing/2014/main" id="{755B198F-FEDA-462F-BF8B-EEFE20FC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286000" cy="30861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C3141"/>
          </a:solidFill>
          <a:ln xmlns:a="http://schemas.openxmlformats.org/drawingml/2006/main" w="19050">
            <a:solidFill>
              <a:srgbClr val="516472"/>
            </a:solidFill>
          </a:ln>
        </p:spPr>
      </p:sp>
      <p:sp>
        <p:nvSpPr>
          <p:cNvPr id="5" name="n-0">
            <a:extLst xmlns:a="http://schemas.openxmlformats.org/drawingml/2006/main">
              <a:ext uri="{FF2B5EF4-FFF2-40B4-BE49-F238E27FC236}">
                <a16:creationId xmlns:a16="http://schemas.microsoft.com/office/drawing/2014/main" id="{9B823492-C2BD-4AFD-A021-19E8D2885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28825"/>
            <a:ext cx="190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A1482C"/>
                </a:solidFill>
                <a:latin typeface="Nimbus Sans"/>
                <a:ea typeface="Nimbus Sans"/>
                <a:cs typeface="Nimbus Sans"/>
              </a:defRPr>
            </a:pPr>
            <a:r>
              <a:rPr sz="4050" b="1">
                <a:solidFill>
                  <a:srgbClr val="A1482C"/>
                </a:solidFill>
                <a:latin typeface="Nimbus Sans"/>
                <a:ea typeface="Nimbus Sans"/>
                <a:cs typeface="Nimbus Sans"/>
              </a:rPr>
              <a:t>120</a:t>
            </a:r>
          </a:p>
        </p:txBody>
      </p:sp>
      <p:sp>
        <p:nvSpPr>
          <p:cNvPr id="6" name="rule-0">
            <a:extLst xmlns:a="http://schemas.openxmlformats.org/drawingml/2006/main">
              <a:ext uri="{FF2B5EF4-FFF2-40B4-BE49-F238E27FC236}">
                <a16:creationId xmlns:a16="http://schemas.microsoft.com/office/drawing/2014/main" id="{1C492C8B-85FE-4588-849E-97E66D1B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00375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482C"/>
          </a:solidFill>
          <a:ln xmlns:a="http://schemas.openxmlformats.org/drawingml/2006/main" w="0">
            <a:noFill/>
          </a:ln>
        </p:spPr>
      </p:sp>
      <p:sp>
        <p:nvSpPr>
          <p:cNvPr id="7" name="k-0">
            <a:extLst xmlns:a="http://schemas.openxmlformats.org/drawingml/2006/main">
              <a:ext uri="{FF2B5EF4-FFF2-40B4-BE49-F238E27FC236}">
                <a16:creationId xmlns:a16="http://schemas.microsoft.com/office/drawing/2014/main" id="{AE26A22F-CFB2-448B-B066-140D5709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2897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CONTACT HOURS</a:t>
            </a:r>
          </a:p>
        </p:txBody>
      </p:sp>
      <p:sp>
        <p:nvSpPr>
          <p:cNvPr id="8" name="v-0">
            <a:extLst xmlns:a="http://schemas.openxmlformats.org/drawingml/2006/main">
              <a:ext uri="{FF2B5EF4-FFF2-40B4-BE49-F238E27FC236}">
                <a16:creationId xmlns:a16="http://schemas.microsoft.com/office/drawing/2014/main" id="{D90394D2-8B14-413E-AF3D-3CAC4D04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76675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Minimum course time.</a:t>
            </a:r>
          </a:p>
        </p:txBody>
      </p:sp>
      <p:sp>
        <p:nvSpPr>
          <p:cNvPr id="9" name="card-1">
            <a:extLst xmlns:a="http://schemas.openxmlformats.org/drawingml/2006/main">
              <a:ext uri="{FF2B5EF4-FFF2-40B4-BE49-F238E27FC236}">
                <a16:creationId xmlns:a16="http://schemas.microsoft.com/office/drawing/2014/main" id="{059BE356-4818-4BD3-95EA-B388FFF0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714500"/>
            <a:ext cx="2286000" cy="30861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C3141"/>
          </a:solidFill>
          <a:ln xmlns:a="http://schemas.openxmlformats.org/drawingml/2006/main" w="19050">
            <a:solidFill>
              <a:srgbClr val="516472"/>
            </a:solidFill>
          </a:ln>
        </p:spPr>
      </p:sp>
      <p:sp>
        <p:nvSpPr>
          <p:cNvPr id="10" name="n-1">
            <a:extLst xmlns:a="http://schemas.openxmlformats.org/drawingml/2006/main">
              <a:ext uri="{FF2B5EF4-FFF2-40B4-BE49-F238E27FC236}">
                <a16:creationId xmlns:a16="http://schemas.microsoft.com/office/drawing/2014/main" id="{80FAD857-50DA-4F96-AD39-5B2EB4E7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28825"/>
            <a:ext cx="190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4050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6</a:t>
            </a:r>
          </a:p>
        </p:txBody>
      </p:sp>
      <p:sp>
        <p:nvSpPr>
          <p:cNvPr id="11" name="rule-1">
            <a:extLst xmlns:a="http://schemas.openxmlformats.org/drawingml/2006/main">
              <a:ext uri="{FF2B5EF4-FFF2-40B4-BE49-F238E27FC236}">
                <a16:creationId xmlns:a16="http://schemas.microsoft.com/office/drawing/2014/main" id="{836702AB-F67A-4FBD-B731-3C019986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00375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12" name="k-1">
            <a:extLst xmlns:a="http://schemas.openxmlformats.org/drawingml/2006/main">
              <a:ext uri="{FF2B5EF4-FFF2-40B4-BE49-F238E27FC236}">
                <a16:creationId xmlns:a16="http://schemas.microsoft.com/office/drawing/2014/main" id="{5AB8515A-3B9C-4724-BCA8-EC98420C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2897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ASSESSED HOURS</a:t>
            </a:r>
          </a:p>
        </p:txBody>
      </p:sp>
      <p:sp>
        <p:nvSpPr>
          <p:cNvPr id="13" name="v-1">
            <a:extLst xmlns:a="http://schemas.openxmlformats.org/drawingml/2006/main">
              <a:ext uri="{FF2B5EF4-FFF2-40B4-BE49-F238E27FC236}">
                <a16:creationId xmlns:a16="http://schemas.microsoft.com/office/drawing/2014/main" id="{02922B66-9F7F-482E-A88F-F826CF60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76675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Teaching practice sampled.</a:t>
            </a:r>
          </a:p>
        </p:txBody>
      </p:sp>
      <p:sp>
        <p:nvSpPr>
          <p:cNvPr id="14" name="card-2">
            <a:extLst xmlns:a="http://schemas.openxmlformats.org/drawingml/2006/main">
              <a:ext uri="{FF2B5EF4-FFF2-40B4-BE49-F238E27FC236}">
                <a16:creationId xmlns:a16="http://schemas.microsoft.com/office/drawing/2014/main" id="{CCE78E90-7576-48E5-91C3-0F22830C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14500"/>
            <a:ext cx="2286000" cy="30861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C3141"/>
          </a:solidFill>
          <a:ln xmlns:a="http://schemas.openxmlformats.org/drawingml/2006/main" w="19050">
            <a:solidFill>
              <a:srgbClr val="516472"/>
            </a:solidFill>
          </a:ln>
        </p:spPr>
      </p:sp>
      <p:sp>
        <p:nvSpPr>
          <p:cNvPr id="15" name="n-2">
            <a:extLst xmlns:a="http://schemas.openxmlformats.org/drawingml/2006/main">
              <a:ext uri="{FF2B5EF4-FFF2-40B4-BE49-F238E27FC236}">
                <a16:creationId xmlns:a16="http://schemas.microsoft.com/office/drawing/2014/main" id="{A71FC2E0-5612-4E86-9126-AB4D0520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28825"/>
            <a:ext cx="190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4D6657"/>
                </a:solidFill>
                <a:latin typeface="Nimbus Sans"/>
                <a:ea typeface="Nimbus Sans"/>
                <a:cs typeface="Nimbus Sans"/>
              </a:defRPr>
            </a:pPr>
            <a:r>
              <a:rPr sz="4050" b="1">
                <a:solidFill>
                  <a:srgbClr val="4D6657"/>
                </a:solidFill>
                <a:latin typeface="Nimbus Sans"/>
                <a:ea typeface="Nimbus Sans"/>
                <a:cs typeface="Nimbus Sans"/>
              </a:rPr>
              <a:t>4</a:t>
            </a:r>
          </a:p>
        </p:txBody>
      </p:sp>
      <p:sp>
        <p:nvSpPr>
          <p:cNvPr id="16" name="rule-2">
            <a:extLst xmlns:a="http://schemas.openxmlformats.org/drawingml/2006/main">
              <a:ext uri="{FF2B5EF4-FFF2-40B4-BE49-F238E27FC236}">
                <a16:creationId xmlns:a16="http://schemas.microsoft.com/office/drawing/2014/main" id="{EB0098BC-297B-457A-A558-2B8651A7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00375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657"/>
          </a:solidFill>
          <a:ln xmlns:a="http://schemas.openxmlformats.org/drawingml/2006/main" w="0">
            <a:noFill/>
          </a:ln>
        </p:spPr>
      </p:sp>
      <p:sp>
        <p:nvSpPr>
          <p:cNvPr id="17" name="k-2">
            <a:extLst xmlns:a="http://schemas.openxmlformats.org/drawingml/2006/main">
              <a:ext uri="{FF2B5EF4-FFF2-40B4-BE49-F238E27FC236}">
                <a16:creationId xmlns:a16="http://schemas.microsoft.com/office/drawing/2014/main" id="{2B458E77-11E2-475C-99E1-3BD01404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2897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ASSIGNMENTS</a:t>
            </a:r>
          </a:p>
        </p:txBody>
      </p:sp>
      <p:sp>
        <p:nvSpPr>
          <p:cNvPr id="18" name="v-2">
            <a:extLst xmlns:a="http://schemas.openxmlformats.org/drawingml/2006/main">
              <a:ext uri="{FF2B5EF4-FFF2-40B4-BE49-F238E27FC236}">
                <a16:creationId xmlns:a16="http://schemas.microsoft.com/office/drawing/2014/main" id="{A4E85B2B-37FB-45D9-AF0F-EADD287B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76675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Written tasks assessed.</a:t>
            </a:r>
          </a:p>
        </p:txBody>
      </p:sp>
      <p:sp>
        <p:nvSpPr>
          <p:cNvPr id="19" name="card-3">
            <a:extLst xmlns:a="http://schemas.openxmlformats.org/drawingml/2006/main">
              <a:ext uri="{FF2B5EF4-FFF2-40B4-BE49-F238E27FC236}">
                <a16:creationId xmlns:a16="http://schemas.microsoft.com/office/drawing/2014/main" id="{3847150E-702C-4B1E-8B5A-217703EA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14500"/>
            <a:ext cx="2286000" cy="30861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C3141"/>
          </a:solidFill>
          <a:ln xmlns:a="http://schemas.openxmlformats.org/drawingml/2006/main" w="19050">
            <a:solidFill>
              <a:srgbClr val="516472"/>
            </a:solidFill>
          </a:ln>
        </p:spPr>
      </p:sp>
      <p:sp>
        <p:nvSpPr>
          <p:cNvPr id="20" name="n-3">
            <a:extLst xmlns:a="http://schemas.openxmlformats.org/drawingml/2006/main">
              <a:ext uri="{FF2B5EF4-FFF2-40B4-BE49-F238E27FC236}">
                <a16:creationId xmlns:a16="http://schemas.microsoft.com/office/drawing/2014/main" id="{263533BA-3F99-4998-B666-4A1562C8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28825"/>
            <a:ext cx="190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D1A04B"/>
                </a:solidFill>
                <a:latin typeface="Nimbus Sans"/>
                <a:ea typeface="Nimbus Sans"/>
                <a:cs typeface="Nimbus Sans"/>
              </a:defRPr>
            </a:pPr>
            <a:r>
              <a:rPr sz="4050" b="1">
                <a:solidFill>
                  <a:srgbClr val="D1A04B"/>
                </a:solidFill>
                <a:latin typeface="Nimbus Sans"/>
                <a:ea typeface="Nimbus Sans"/>
                <a:cs typeface="Nimbus Sans"/>
              </a:rPr>
              <a:t>1</a:t>
            </a:r>
          </a:p>
        </p:txBody>
      </p:sp>
      <p:sp>
        <p:nvSpPr>
          <p:cNvPr id="21" name="rule-3">
            <a:extLst xmlns:a="http://schemas.openxmlformats.org/drawingml/2006/main">
              <a:ext uri="{FF2B5EF4-FFF2-40B4-BE49-F238E27FC236}">
                <a16:creationId xmlns:a16="http://schemas.microsoft.com/office/drawing/2014/main" id="{8A597132-39BE-46B9-9F25-6A8C1735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00375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04B"/>
          </a:solidFill>
          <a:ln xmlns:a="http://schemas.openxmlformats.org/drawingml/2006/main" w="0">
            <a:noFill/>
          </a:ln>
        </p:spPr>
      </p:sp>
      <p:sp>
        <p:nvSpPr>
          <p:cNvPr id="22" name="k-3">
            <a:extLst xmlns:a="http://schemas.openxmlformats.org/drawingml/2006/main">
              <a:ext uri="{FF2B5EF4-FFF2-40B4-BE49-F238E27FC236}">
                <a16:creationId xmlns:a16="http://schemas.microsoft.com/office/drawing/2014/main" id="{605DA19A-7879-45C8-8CD0-75818C47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2897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MODERATION</a:t>
            </a:r>
          </a:p>
        </p:txBody>
      </p:sp>
      <p:sp>
        <p:nvSpPr>
          <p:cNvPr id="23" name="v-3">
            <a:extLst xmlns:a="http://schemas.openxmlformats.org/drawingml/2006/main">
              <a:ext uri="{FF2B5EF4-FFF2-40B4-BE49-F238E27FC236}">
                <a16:creationId xmlns:a16="http://schemas.microsoft.com/office/drawing/2014/main" id="{351E664F-D822-46DB-AB63-CDCB0004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876675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External assessor samples.</a:t>
            </a:r>
          </a:p>
        </p:txBody>
      </p:sp>
      <p:sp>
        <p:nvSpPr>
          <p:cNvPr id="24" name="proof">
            <a:extLst xmlns:a="http://schemas.openxmlformats.org/drawingml/2006/main">
              <a:ext uri="{FF2B5EF4-FFF2-40B4-BE49-F238E27FC236}">
                <a16:creationId xmlns:a16="http://schemas.microsoft.com/office/drawing/2014/main" id="{2EF1507C-8744-40D4-BA2A-7A0AA08F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006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D1A04B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D1A04B"/>
                </a:solidFill>
                <a:latin typeface="Nimbus Sans"/>
                <a:ea typeface="Nimbus Sans"/>
                <a:cs typeface="Nimbus Sans"/>
              </a:rPr>
              <a:t>Proof: entry-level criteria met.</a:t>
            </a:r>
          </a:p>
        </p:txBody>
      </p:sp>
      <p:sp>
        <p:nvSpPr>
          <p:cNvPr id="25" name="limit">
            <a:extLst xmlns:a="http://schemas.openxmlformats.org/drawingml/2006/main">
              <a:ext uri="{FF2B5EF4-FFF2-40B4-BE49-F238E27FC236}">
                <a16:creationId xmlns:a16="http://schemas.microsoft.com/office/drawing/2014/main" id="{A0A95214-F16C-484A-BD8D-ADAB034D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388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A1482C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A1482C"/>
                </a:solidFill>
                <a:latin typeface="Nimbus Sans"/>
                <a:ea typeface="Nimbus Sans"/>
                <a:cs typeface="Nimbus Sans"/>
              </a:rPr>
              <a:t>Limit: performance remains sampled.</a:t>
            </a:r>
          </a:p>
        </p:txBody>
      </p:sp>
    </p:spTree>
    <p:extLst>
      <p:ext uri="{BB962C8B-B14F-4D97-AF65-F5344CB8AC3E}">
        <p14:creationId xmlns:p14="http://schemas.microsoft.com/office/powerpoint/2010/main" val="16783755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itle">
            <a:extLst xmlns:a="http://schemas.openxmlformats.org/drawingml/2006/main">
              <a:ext uri="{FF2B5EF4-FFF2-40B4-BE49-F238E27FC236}">
                <a16:creationId xmlns:a16="http://schemas.microsoft.com/office/drawing/2014/main" id="{5C192D12-FA72-4CEC-AFD6-91BF8D87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IELTS measures language performance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C3E792D3-C545-4413-A2BE-BF2E8C7B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3" name="series">
            <a:extLst xmlns:a="http://schemas.openxmlformats.org/drawingml/2006/main">
              <a:ext uri="{FF2B5EF4-FFF2-40B4-BE49-F238E27FC236}">
                <a16:creationId xmlns:a16="http://schemas.microsoft.com/office/drawing/2014/main" id="{85B06EC2-A2BB-4DAA-BAD2-5A859E68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ENGLISH / 10 / 04</a:t>
            </a:r>
          </a:p>
        </p:txBody>
      </p:sp>
      <p:sp>
        <p:nvSpPr>
          <p:cNvPr id="4" name="skill-0">
            <a:extLst xmlns:a="http://schemas.openxmlformats.org/drawingml/2006/main">
              <a:ext uri="{FF2B5EF4-FFF2-40B4-BE49-F238E27FC236}">
                <a16:creationId xmlns:a16="http://schemas.microsoft.com/office/drawing/2014/main" id="{A6EF7E56-73C3-4659-83DC-0C9D6761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24193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5" name="dot-0">
            <a:extLst xmlns:a="http://schemas.openxmlformats.org/drawingml/2006/main">
              <a:ext uri="{FF2B5EF4-FFF2-40B4-BE49-F238E27FC236}">
                <a16:creationId xmlns:a16="http://schemas.microsoft.com/office/drawing/2014/main" id="{3BE8950B-1CFC-4ED7-AEA5-8C85239F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05740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482C"/>
          </a:solidFill>
          <a:ln xmlns:a="http://schemas.openxmlformats.org/drawingml/2006/main" w="0">
            <a:noFill/>
          </a:ln>
        </p:spPr>
      </p:sp>
      <p:sp>
        <p:nvSpPr>
          <p:cNvPr id="6" name="num-0">
            <a:extLst xmlns:a="http://schemas.openxmlformats.org/drawingml/2006/main">
              <a:ext uri="{FF2B5EF4-FFF2-40B4-BE49-F238E27FC236}">
                <a16:creationId xmlns:a16="http://schemas.microsoft.com/office/drawing/2014/main" id="{7854703C-F83D-4E9E-A0DA-3C27E813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05740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9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1</a:t>
            </a:r>
          </a:p>
        </p:txBody>
      </p:sp>
      <p:sp>
        <p:nvSpPr>
          <p:cNvPr id="7" name="k-0">
            <a:extLst xmlns:a="http://schemas.openxmlformats.org/drawingml/2006/main">
              <a:ext uri="{FF2B5EF4-FFF2-40B4-BE49-F238E27FC236}">
                <a16:creationId xmlns:a16="http://schemas.microsoft.com/office/drawing/2014/main" id="{5D16A740-D93E-49E7-9BB4-A294F7D40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1482C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A1482C"/>
                </a:solidFill>
                <a:latin typeface="Nimbus Sans"/>
                <a:ea typeface="Nimbus Sans"/>
                <a:cs typeface="Nimbus Sans"/>
              </a:rPr>
              <a:t>LISTENING</a:t>
            </a:r>
          </a:p>
        </p:txBody>
      </p:sp>
      <p:sp>
        <p:nvSpPr>
          <p:cNvPr id="8" name="skill-1">
            <a:extLst xmlns:a="http://schemas.openxmlformats.org/drawingml/2006/main">
              <a:ext uri="{FF2B5EF4-FFF2-40B4-BE49-F238E27FC236}">
                <a16:creationId xmlns:a16="http://schemas.microsoft.com/office/drawing/2014/main" id="{89537FF3-293A-4C17-821B-80F584AB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790700"/>
            <a:ext cx="24193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9" name="dot-1">
            <a:extLst xmlns:a="http://schemas.openxmlformats.org/drawingml/2006/main">
              <a:ext uri="{FF2B5EF4-FFF2-40B4-BE49-F238E27FC236}">
                <a16:creationId xmlns:a16="http://schemas.microsoft.com/office/drawing/2014/main" id="{25FCE1D1-4F3A-49BC-9309-3D07EC97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5740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10" name="num-1">
            <a:extLst xmlns:a="http://schemas.openxmlformats.org/drawingml/2006/main">
              <a:ext uri="{FF2B5EF4-FFF2-40B4-BE49-F238E27FC236}">
                <a16:creationId xmlns:a16="http://schemas.microsoft.com/office/drawing/2014/main" id="{369B67BA-28FE-4E21-BF3D-AF24883E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5740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9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2</a:t>
            </a:r>
          </a:p>
        </p:txBody>
      </p:sp>
      <p:sp>
        <p:nvSpPr>
          <p:cNvPr id="11" name="k-1">
            <a:extLst xmlns:a="http://schemas.openxmlformats.org/drawingml/2006/main">
              <a:ext uri="{FF2B5EF4-FFF2-40B4-BE49-F238E27FC236}">
                <a16:creationId xmlns:a16="http://schemas.microsoft.com/office/drawing/2014/main" id="{386399E0-1DFE-421C-85B7-A020240B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765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READING</a:t>
            </a:r>
          </a:p>
        </p:txBody>
      </p:sp>
      <p:sp>
        <p:nvSpPr>
          <p:cNvPr id="12" name="skill-2">
            <a:extLst xmlns:a="http://schemas.openxmlformats.org/drawingml/2006/main">
              <a:ext uri="{FF2B5EF4-FFF2-40B4-BE49-F238E27FC236}">
                <a16:creationId xmlns:a16="http://schemas.microsoft.com/office/drawing/2014/main" id="{9B5E32C3-111D-432E-92A3-76E28389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90700"/>
            <a:ext cx="24193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13" name="dot-2">
            <a:extLst xmlns:a="http://schemas.openxmlformats.org/drawingml/2006/main">
              <a:ext uri="{FF2B5EF4-FFF2-40B4-BE49-F238E27FC236}">
                <a16:creationId xmlns:a16="http://schemas.microsoft.com/office/drawing/2014/main" id="{754DDA64-E7F8-4C4D-A649-B9B5E113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05740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6657"/>
          </a:solidFill>
          <a:ln xmlns:a="http://schemas.openxmlformats.org/drawingml/2006/main" w="0">
            <a:noFill/>
          </a:ln>
        </p:spPr>
      </p:sp>
      <p:sp>
        <p:nvSpPr>
          <p:cNvPr id="14" name="num-2">
            <a:extLst xmlns:a="http://schemas.openxmlformats.org/drawingml/2006/main">
              <a:ext uri="{FF2B5EF4-FFF2-40B4-BE49-F238E27FC236}">
                <a16:creationId xmlns:a16="http://schemas.microsoft.com/office/drawing/2014/main" id="{BD2BAF97-1349-4A86-8978-D2D110A0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05740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9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3</a:t>
            </a:r>
          </a:p>
        </p:txBody>
      </p:sp>
      <p:sp>
        <p:nvSpPr>
          <p:cNvPr id="15" name="k-2">
            <a:extLst xmlns:a="http://schemas.openxmlformats.org/drawingml/2006/main">
              <a:ext uri="{FF2B5EF4-FFF2-40B4-BE49-F238E27FC236}">
                <a16:creationId xmlns:a16="http://schemas.microsoft.com/office/drawing/2014/main" id="{829642B9-5474-4879-BAC8-6FA52AAB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765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D6657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4D6657"/>
                </a:solidFill>
                <a:latin typeface="Nimbus Sans"/>
                <a:ea typeface="Nimbus Sans"/>
                <a:cs typeface="Nimbus Sans"/>
              </a:rPr>
              <a:t>WRITING</a:t>
            </a:r>
          </a:p>
        </p:txBody>
      </p:sp>
      <p:sp>
        <p:nvSpPr>
          <p:cNvPr id="16" name="skill-3">
            <a:extLst xmlns:a="http://schemas.openxmlformats.org/drawingml/2006/main">
              <a:ext uri="{FF2B5EF4-FFF2-40B4-BE49-F238E27FC236}">
                <a16:creationId xmlns:a16="http://schemas.microsoft.com/office/drawing/2014/main" id="{9E81E157-D832-41B4-A89E-335788220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790700"/>
            <a:ext cx="24193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17" name="dot-3">
            <a:extLst xmlns:a="http://schemas.openxmlformats.org/drawingml/2006/main">
              <a:ext uri="{FF2B5EF4-FFF2-40B4-BE49-F238E27FC236}">
                <a16:creationId xmlns:a16="http://schemas.microsoft.com/office/drawing/2014/main" id="{4EC11CCD-C158-454B-B9FC-43168F97A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5740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A04B"/>
          </a:solidFill>
          <a:ln xmlns:a="http://schemas.openxmlformats.org/drawingml/2006/main" w="0">
            <a:noFill/>
          </a:ln>
        </p:spPr>
      </p:sp>
      <p:sp>
        <p:nvSpPr>
          <p:cNvPr id="18" name="num-3">
            <a:extLst xmlns:a="http://schemas.openxmlformats.org/drawingml/2006/main">
              <a:ext uri="{FF2B5EF4-FFF2-40B4-BE49-F238E27FC236}">
                <a16:creationId xmlns:a16="http://schemas.microsoft.com/office/drawing/2014/main" id="{0DEC950F-6AB0-4BC7-8D5F-F2C9E824C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5740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9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4</a:t>
            </a:r>
          </a:p>
        </p:txBody>
      </p:sp>
      <p:sp>
        <p:nvSpPr>
          <p:cNvPr id="19" name="k-3">
            <a:extLst xmlns:a="http://schemas.openxmlformats.org/drawingml/2006/main">
              <a:ext uri="{FF2B5EF4-FFF2-40B4-BE49-F238E27FC236}">
                <a16:creationId xmlns:a16="http://schemas.microsoft.com/office/drawing/2014/main" id="{5CC5D054-5C6A-4B01-B757-262D994F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8765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1A04B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D1A04B"/>
                </a:solidFill>
                <a:latin typeface="Nimbus Sans"/>
                <a:ea typeface="Nimbus Sans"/>
                <a:cs typeface="Nimbus Sans"/>
              </a:rPr>
              <a:t>SPEAKING</a:t>
            </a:r>
          </a:p>
        </p:txBody>
      </p:sp>
      <p:sp>
        <p:nvSpPr>
          <p:cNvPr id="20" name="score">
            <a:extLst xmlns:a="http://schemas.openxmlformats.org/drawingml/2006/main">
              <a:ext uri="{FF2B5EF4-FFF2-40B4-BE49-F238E27FC236}">
                <a16:creationId xmlns:a16="http://schemas.microsoft.com/office/drawing/2014/main" id="{4EF3A56B-9969-4A88-B7EB-094948D6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38550"/>
            <a:ext cx="10448925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EE5D7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21" name="score-left">
            <a:extLst xmlns:a="http://schemas.openxmlformats.org/drawingml/2006/main">
              <a:ext uri="{FF2B5EF4-FFF2-40B4-BE49-F238E27FC236}">
                <a16:creationId xmlns:a16="http://schemas.microsoft.com/office/drawing/2014/main" id="{C80412CB-D566-49CC-B146-F7DDC1C1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4095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FOUR SECTION SCORES</a:t>
            </a:r>
          </a:p>
        </p:txBody>
      </p:sp>
      <p:sp>
        <p:nvSpPr>
          <p:cNvPr id="22" name="score-mid">
            <a:extLst xmlns:a="http://schemas.openxmlformats.org/drawingml/2006/main">
              <a:ext uri="{FF2B5EF4-FFF2-40B4-BE49-F238E27FC236}">
                <a16:creationId xmlns:a16="http://schemas.microsoft.com/office/drawing/2014/main" id="{053A42CE-2802-4F9E-BB49-12296F82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638550"/>
            <a:ext cx="2095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9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AVERAGED</a:t>
            </a:r>
          </a:p>
        </p:txBody>
      </p:sp>
      <p:sp>
        <p:nvSpPr>
          <p:cNvPr id="23" name="score-right">
            <a:extLst xmlns:a="http://schemas.openxmlformats.org/drawingml/2006/main">
              <a:ext uri="{FF2B5EF4-FFF2-40B4-BE49-F238E27FC236}">
                <a16:creationId xmlns:a16="http://schemas.microsoft.com/office/drawing/2014/main" id="{2E05E532-A7C8-45AC-84B1-2A8532DB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638550"/>
            <a:ext cx="34861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A1482C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A1482C"/>
                </a:solidFill>
                <a:latin typeface="Nimbus Sans"/>
                <a:ea typeface="Nimbus Sans"/>
                <a:cs typeface="Nimbus Sans"/>
              </a:rPr>
              <a:t>ONE OVERALL BAND</a:t>
            </a:r>
          </a:p>
        </p:txBody>
      </p:sp>
      <p:sp>
        <p:nvSpPr>
          <p:cNvPr id="24" name="limit">
            <a:extLst xmlns:a="http://schemas.openxmlformats.org/drawingml/2006/main">
              <a:ext uri="{FF2B5EF4-FFF2-40B4-BE49-F238E27FC236}">
                <a16:creationId xmlns:a16="http://schemas.microsoft.com/office/drawing/2014/main" id="{17FB279D-8121-44FF-B55C-E4CE50DD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9587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D6657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4D6657"/>
                </a:solidFill>
                <a:latin typeface="Nimbus Sans"/>
                <a:ea typeface="Nimbus Sans"/>
                <a:cs typeface="Nimbus Sans"/>
              </a:rPr>
              <a:t>Language skill differs.</a:t>
            </a:r>
          </a:p>
        </p:txBody>
      </p:sp>
      <p:sp>
        <p:nvSpPr>
          <p:cNvPr id="25" name="limit-two">
            <a:extLst xmlns:a="http://schemas.openxmlformats.org/drawingml/2006/main">
              <a:ext uri="{FF2B5EF4-FFF2-40B4-BE49-F238E27FC236}">
                <a16:creationId xmlns:a16="http://schemas.microsoft.com/office/drawing/2014/main" id="{ECDD37B2-65FD-499B-9866-331B721F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509587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A1482C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A1482C"/>
                </a:solidFill>
                <a:latin typeface="Nimbus Sans"/>
                <a:ea typeface="Nimbus Sans"/>
                <a:cs typeface="Nimbus Sans"/>
              </a:rPr>
              <a:t>Teaching skill differs.</a:t>
            </a:r>
          </a:p>
        </p:txBody>
      </p:sp>
      <p:sp>
        <p:nvSpPr>
          <p:cNvPr id="26" name="takeaway">
            <a:extLst xmlns:a="http://schemas.openxmlformats.org/drawingml/2006/main">
              <a:ext uri="{FF2B5EF4-FFF2-40B4-BE49-F238E27FC236}">
                <a16:creationId xmlns:a16="http://schemas.microsoft.com/office/drawing/2014/main" id="{05AC1A68-15D2-4D38-AF0F-8932313C3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388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A band cannot prove teaching.</a:t>
            </a:r>
          </a:p>
        </p:txBody>
      </p:sp>
    </p:spTree>
    <p:extLst>
      <p:ext uri="{BB962C8B-B14F-4D97-AF65-F5344CB8AC3E}">
        <p14:creationId xmlns:p14="http://schemas.microsoft.com/office/powerpoint/2010/main" val="20500956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itle">
            <a:extLst xmlns:a="http://schemas.openxmlformats.org/drawingml/2006/main">
              <a:ext uri="{FF2B5EF4-FFF2-40B4-BE49-F238E27FC236}">
                <a16:creationId xmlns:a16="http://schemas.microsoft.com/office/drawing/2014/main" id="{F2BF5F11-E4BB-4BF6-BE5C-6547C25C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CEFR is a reference framework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D730D095-8FC3-44F0-932C-7D068480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3" name="series">
            <a:extLst xmlns:a="http://schemas.openxmlformats.org/drawingml/2006/main">
              <a:ext uri="{FF2B5EF4-FFF2-40B4-BE49-F238E27FC236}">
                <a16:creationId xmlns:a16="http://schemas.microsoft.com/office/drawing/2014/main" id="{805BA67C-04AD-4E5C-AE54-46B9C0E4A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ENGLISH / 10 / 05</a:t>
            </a:r>
          </a:p>
        </p:txBody>
      </p:sp>
      <p:sp>
        <p:nvSpPr>
          <p:cNvPr id="4" name="axis">
            <a:extLst xmlns:a="http://schemas.openxmlformats.org/drawingml/2006/main">
              <a:ext uri="{FF2B5EF4-FFF2-40B4-BE49-F238E27FC236}">
                <a16:creationId xmlns:a16="http://schemas.microsoft.com/office/drawing/2014/main" id="{89190FCF-1BBA-4E85-96B6-382CC75D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47975"/>
            <a:ext cx="904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BE"/>
          </a:solidFill>
          <a:ln xmlns:a="http://schemas.openxmlformats.org/drawingml/2006/main" w="0">
            <a:noFill/>
          </a:ln>
        </p:spPr>
      </p:sp>
      <p:sp>
        <p:nvSpPr>
          <p:cNvPr id="5" name="level-0">
            <a:extLst xmlns:a="http://schemas.openxmlformats.org/drawingml/2006/main">
              <a:ext uri="{FF2B5EF4-FFF2-40B4-BE49-F238E27FC236}">
                <a16:creationId xmlns:a16="http://schemas.microsoft.com/office/drawing/2014/main" id="{84A6D58E-2D8F-40E2-BF02-109994DA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6220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14A32"/>
          </a:solidFill>
          <a:ln xmlns:a="http://schemas.openxmlformats.org/drawingml/2006/main" w="47625">
            <a:solidFill>
              <a:srgbClr val="F7F1E5"/>
            </a:solidFill>
          </a:ln>
        </p:spPr>
      </p:sp>
      <p:sp>
        <p:nvSpPr>
          <p:cNvPr id="6" name="k-0">
            <a:extLst xmlns:a="http://schemas.openxmlformats.org/drawingml/2006/main">
              <a:ext uri="{FF2B5EF4-FFF2-40B4-BE49-F238E27FC236}">
                <a16:creationId xmlns:a16="http://schemas.microsoft.com/office/drawing/2014/main" id="{B5E99E58-7735-452E-AA42-07BAB5583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62200"/>
            <a:ext cx="990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4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A1</a:t>
            </a:r>
          </a:p>
        </p:txBody>
      </p:sp>
      <p:sp>
        <p:nvSpPr>
          <p:cNvPr id="7" name="v-0">
            <a:extLst xmlns:a="http://schemas.openxmlformats.org/drawingml/2006/main">
              <a:ext uri="{FF2B5EF4-FFF2-40B4-BE49-F238E27FC236}">
                <a16:creationId xmlns:a16="http://schemas.microsoft.com/office/drawing/2014/main" id="{7338C52B-994A-4C40-9EEA-FB844D91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75"/>
            <a:ext cx="160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14A32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B14A32"/>
                </a:solidFill>
                <a:latin typeface="Nimbus Sans"/>
                <a:ea typeface="Nimbus Sans"/>
                <a:cs typeface="Nimbus Sans"/>
              </a:rPr>
              <a:t>Basic</a:t>
            </a:r>
          </a:p>
        </p:txBody>
      </p:sp>
      <p:sp>
        <p:nvSpPr>
          <p:cNvPr id="8" name="level-1">
            <a:extLst xmlns:a="http://schemas.openxmlformats.org/drawingml/2006/main">
              <a:ext uri="{FF2B5EF4-FFF2-40B4-BE49-F238E27FC236}">
                <a16:creationId xmlns:a16="http://schemas.microsoft.com/office/drawing/2014/main" id="{0587740E-C7E9-4DE6-9FB3-3CE19706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36220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7835"/>
          </a:solidFill>
          <a:ln xmlns:a="http://schemas.openxmlformats.org/drawingml/2006/main" w="47625">
            <a:solidFill>
              <a:srgbClr val="F7F1E5"/>
            </a:solidFill>
          </a:ln>
        </p:spPr>
      </p:sp>
      <p:sp>
        <p:nvSpPr>
          <p:cNvPr id="9" name="k-1">
            <a:extLst xmlns:a="http://schemas.openxmlformats.org/drawingml/2006/main">
              <a:ext uri="{FF2B5EF4-FFF2-40B4-BE49-F238E27FC236}">
                <a16:creationId xmlns:a16="http://schemas.microsoft.com/office/drawing/2014/main" id="{5F2EC824-02AF-4B1E-AC94-EEC65610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362200"/>
            <a:ext cx="990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4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A2</a:t>
            </a:r>
          </a:p>
        </p:txBody>
      </p:sp>
      <p:sp>
        <p:nvSpPr>
          <p:cNvPr id="10" name="v-1">
            <a:extLst xmlns:a="http://schemas.openxmlformats.org/drawingml/2006/main">
              <a:ext uri="{FF2B5EF4-FFF2-40B4-BE49-F238E27FC236}">
                <a16:creationId xmlns:a16="http://schemas.microsoft.com/office/drawing/2014/main" id="{322B74C5-FAFF-4B97-8373-B0ACCE65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571875"/>
            <a:ext cx="160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17835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D17835"/>
                </a:solidFill>
                <a:latin typeface="Nimbus Sans"/>
                <a:ea typeface="Nimbus Sans"/>
                <a:cs typeface="Nimbus Sans"/>
              </a:rPr>
              <a:t>Basic</a:t>
            </a:r>
          </a:p>
        </p:txBody>
      </p:sp>
      <p:sp>
        <p:nvSpPr>
          <p:cNvPr id="11" name="level-2">
            <a:extLst xmlns:a="http://schemas.openxmlformats.org/drawingml/2006/main">
              <a:ext uri="{FF2B5EF4-FFF2-40B4-BE49-F238E27FC236}">
                <a16:creationId xmlns:a16="http://schemas.microsoft.com/office/drawing/2014/main" id="{FACDE49D-800F-4A8B-A3CA-0BF64F2F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6220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A04B"/>
          </a:solidFill>
          <a:ln xmlns:a="http://schemas.openxmlformats.org/drawingml/2006/main" w="47625">
            <a:solidFill>
              <a:srgbClr val="F7F1E5"/>
            </a:solidFill>
          </a:ln>
        </p:spPr>
      </p:sp>
      <p:sp>
        <p:nvSpPr>
          <p:cNvPr id="12" name="k-2">
            <a:extLst xmlns:a="http://schemas.openxmlformats.org/drawingml/2006/main">
              <a:ext uri="{FF2B5EF4-FFF2-40B4-BE49-F238E27FC236}">
                <a16:creationId xmlns:a16="http://schemas.microsoft.com/office/drawing/2014/main" id="{1A33C7E4-E9FD-42D1-9C8A-E08B6F5E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62200"/>
            <a:ext cx="990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4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B1</a:t>
            </a:r>
          </a:p>
        </p:txBody>
      </p:sp>
      <p:sp>
        <p:nvSpPr>
          <p:cNvPr id="13" name="v-2">
            <a:extLst xmlns:a="http://schemas.openxmlformats.org/drawingml/2006/main">
              <a:ext uri="{FF2B5EF4-FFF2-40B4-BE49-F238E27FC236}">
                <a16:creationId xmlns:a16="http://schemas.microsoft.com/office/drawing/2014/main" id="{F19D283A-DB12-4419-9B06-E236A6CC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71875"/>
            <a:ext cx="160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1A04B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D1A04B"/>
                </a:solidFill>
                <a:latin typeface="Nimbus Sans"/>
                <a:ea typeface="Nimbus Sans"/>
                <a:cs typeface="Nimbus Sans"/>
              </a:rPr>
              <a:t>Independent</a:t>
            </a:r>
          </a:p>
        </p:txBody>
      </p:sp>
      <p:sp>
        <p:nvSpPr>
          <p:cNvPr id="14" name="level-3">
            <a:extLst xmlns:a="http://schemas.openxmlformats.org/drawingml/2006/main">
              <a:ext uri="{FF2B5EF4-FFF2-40B4-BE49-F238E27FC236}">
                <a16:creationId xmlns:a16="http://schemas.microsoft.com/office/drawing/2014/main" id="{76D25359-ED08-4DE4-AA66-E90A7E16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6220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7C4D"/>
          </a:solidFill>
          <a:ln xmlns:a="http://schemas.openxmlformats.org/drawingml/2006/main" w="47625">
            <a:solidFill>
              <a:srgbClr val="F7F1E5"/>
            </a:solidFill>
          </a:ln>
        </p:spPr>
      </p:sp>
      <p:sp>
        <p:nvSpPr>
          <p:cNvPr id="15" name="k-3">
            <a:extLst xmlns:a="http://schemas.openxmlformats.org/drawingml/2006/main">
              <a:ext uri="{FF2B5EF4-FFF2-40B4-BE49-F238E27FC236}">
                <a16:creationId xmlns:a16="http://schemas.microsoft.com/office/drawing/2014/main" id="{15FC090E-5696-46AB-A72B-336A76332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62200"/>
            <a:ext cx="990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4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B2</a:t>
            </a:r>
          </a:p>
        </p:txBody>
      </p:sp>
      <p:sp>
        <p:nvSpPr>
          <p:cNvPr id="16" name="v-3">
            <a:extLst xmlns:a="http://schemas.openxmlformats.org/drawingml/2006/main">
              <a:ext uri="{FF2B5EF4-FFF2-40B4-BE49-F238E27FC236}">
                <a16:creationId xmlns:a16="http://schemas.microsoft.com/office/drawing/2014/main" id="{93FEC10C-326C-4FD6-ACF3-7E9FDB97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571875"/>
            <a:ext cx="160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C7C4D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6C7C4D"/>
                </a:solidFill>
                <a:latin typeface="Nimbus Sans"/>
                <a:ea typeface="Nimbus Sans"/>
                <a:cs typeface="Nimbus Sans"/>
              </a:rPr>
              <a:t>Independent</a:t>
            </a:r>
          </a:p>
        </p:txBody>
      </p:sp>
      <p:sp>
        <p:nvSpPr>
          <p:cNvPr id="17" name="level-4">
            <a:extLst xmlns:a="http://schemas.openxmlformats.org/drawingml/2006/main">
              <a:ext uri="{FF2B5EF4-FFF2-40B4-BE49-F238E27FC236}">
                <a16:creationId xmlns:a16="http://schemas.microsoft.com/office/drawing/2014/main" id="{80A1CCA4-7DD3-4C25-914D-CE20E381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6220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C75"/>
          </a:solidFill>
          <a:ln xmlns:a="http://schemas.openxmlformats.org/drawingml/2006/main" w="47625">
            <a:solidFill>
              <a:srgbClr val="F7F1E5"/>
            </a:solidFill>
          </a:ln>
        </p:spPr>
      </p:sp>
      <p:sp>
        <p:nvSpPr>
          <p:cNvPr id="18" name="k-4">
            <a:extLst xmlns:a="http://schemas.openxmlformats.org/drawingml/2006/main">
              <a:ext uri="{FF2B5EF4-FFF2-40B4-BE49-F238E27FC236}">
                <a16:creationId xmlns:a16="http://schemas.microsoft.com/office/drawing/2014/main" id="{DDCA9F16-09E9-40CF-9A61-6D5C5417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62200"/>
            <a:ext cx="990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4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C1</a:t>
            </a:r>
          </a:p>
        </p:txBody>
      </p:sp>
      <p:sp>
        <p:nvSpPr>
          <p:cNvPr id="19" name="v-4">
            <a:extLst xmlns:a="http://schemas.openxmlformats.org/drawingml/2006/main">
              <a:ext uri="{FF2B5EF4-FFF2-40B4-BE49-F238E27FC236}">
                <a16:creationId xmlns:a16="http://schemas.microsoft.com/office/drawing/2014/main" id="{BA0AAA0C-5535-4A2A-97D5-C82BCD71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571875"/>
            <a:ext cx="160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56C75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356C75"/>
                </a:solidFill>
                <a:latin typeface="Nimbus Sans"/>
                <a:ea typeface="Nimbus Sans"/>
                <a:cs typeface="Nimbus Sans"/>
              </a:rPr>
              <a:t>Proficient</a:t>
            </a:r>
          </a:p>
        </p:txBody>
      </p:sp>
      <p:sp>
        <p:nvSpPr>
          <p:cNvPr id="20" name="level-5">
            <a:extLst xmlns:a="http://schemas.openxmlformats.org/drawingml/2006/main">
              <a:ext uri="{FF2B5EF4-FFF2-40B4-BE49-F238E27FC236}">
                <a16:creationId xmlns:a16="http://schemas.microsoft.com/office/drawing/2014/main" id="{DFCDBA82-F26D-45D9-ACB0-A484EC5A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36220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47625">
            <a:solidFill>
              <a:srgbClr val="F7F1E5"/>
            </a:solidFill>
          </a:ln>
        </p:spPr>
      </p:sp>
      <p:sp>
        <p:nvSpPr>
          <p:cNvPr id="21" name="k-5">
            <a:extLst xmlns:a="http://schemas.openxmlformats.org/drawingml/2006/main">
              <a:ext uri="{FF2B5EF4-FFF2-40B4-BE49-F238E27FC236}">
                <a16:creationId xmlns:a16="http://schemas.microsoft.com/office/drawing/2014/main" id="{0EB69FA7-A247-4ACD-8AD6-7D58BED7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362200"/>
            <a:ext cx="990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4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C2</a:t>
            </a:r>
          </a:p>
        </p:txBody>
      </p:sp>
      <p:sp>
        <p:nvSpPr>
          <p:cNvPr id="22" name="v-5">
            <a:extLst xmlns:a="http://schemas.openxmlformats.org/drawingml/2006/main">
              <a:ext uri="{FF2B5EF4-FFF2-40B4-BE49-F238E27FC236}">
                <a16:creationId xmlns:a16="http://schemas.microsoft.com/office/drawing/2014/main" id="{980E1D9E-012C-4EF8-9D3C-95C31AC4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571875"/>
            <a:ext cx="160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Proficient</a:t>
            </a:r>
          </a:p>
        </p:txBody>
      </p:sp>
      <p:sp>
        <p:nvSpPr>
          <p:cNvPr id="23" name="fact-one">
            <a:extLst xmlns:a="http://schemas.openxmlformats.org/drawingml/2006/main">
              <a:ext uri="{FF2B5EF4-FFF2-40B4-BE49-F238E27FC236}">
                <a16:creationId xmlns:a16="http://schemas.microsoft.com/office/drawing/2014/main" id="{99BB47EE-AC67-47C1-984D-E1B712DF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257675"/>
            <a:ext cx="32575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24" name="one">
            <a:extLst xmlns:a="http://schemas.openxmlformats.org/drawingml/2006/main">
              <a:ext uri="{FF2B5EF4-FFF2-40B4-BE49-F238E27FC236}">
                <a16:creationId xmlns:a16="http://schemas.microsoft.com/office/drawing/2014/main" id="{4BF06171-172C-4D4F-8675-764CD3D2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257675"/>
            <a:ext cx="28765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Levels are broad bands.</a:t>
            </a:r>
          </a:p>
        </p:txBody>
      </p:sp>
      <p:sp>
        <p:nvSpPr>
          <p:cNvPr id="25" name="fact-two">
            <a:extLst xmlns:a="http://schemas.openxmlformats.org/drawingml/2006/main">
              <a:ext uri="{FF2B5EF4-FFF2-40B4-BE49-F238E27FC236}">
                <a16:creationId xmlns:a16="http://schemas.microsoft.com/office/drawing/2014/main" id="{F67BBBD8-A53D-4064-BDE8-4790FB5A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257675"/>
            <a:ext cx="32575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26" name="two">
            <a:extLst xmlns:a="http://schemas.openxmlformats.org/drawingml/2006/main">
              <a:ext uri="{FF2B5EF4-FFF2-40B4-BE49-F238E27FC236}">
                <a16:creationId xmlns:a16="http://schemas.microsoft.com/office/drawing/2014/main" id="{3C15CAA4-FD1A-4A70-94C4-C067F9C5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57675"/>
            <a:ext cx="28765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Boundaries remain fuzzy.</a:t>
            </a:r>
          </a:p>
        </p:txBody>
      </p:sp>
      <p:sp>
        <p:nvSpPr>
          <p:cNvPr id="27" name="fact-three">
            <a:extLst xmlns:a="http://schemas.openxmlformats.org/drawingml/2006/main">
              <a:ext uri="{FF2B5EF4-FFF2-40B4-BE49-F238E27FC236}">
                <a16:creationId xmlns:a16="http://schemas.microsoft.com/office/drawing/2014/main" id="{69CBD6B3-F307-48D6-A8F5-396D6D3A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257675"/>
            <a:ext cx="32575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28" name="three">
            <a:extLst xmlns:a="http://schemas.openxmlformats.org/drawingml/2006/main">
              <a:ext uri="{FF2B5EF4-FFF2-40B4-BE49-F238E27FC236}">
                <a16:creationId xmlns:a16="http://schemas.microsoft.com/office/drawing/2014/main" id="{BFFAA86A-22B7-43F6-B790-AF9BDBD2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57675"/>
            <a:ext cx="28765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No monitoring body exists.</a:t>
            </a:r>
          </a:p>
        </p:txBody>
      </p:sp>
      <p:sp>
        <p:nvSpPr>
          <p:cNvPr id="29" name="takeaway">
            <a:extLst xmlns:a="http://schemas.openxmlformats.org/drawingml/2006/main">
              <a:ext uri="{FF2B5EF4-FFF2-40B4-BE49-F238E27FC236}">
                <a16:creationId xmlns:a16="http://schemas.microsoft.com/office/drawing/2014/main" id="{F36009E9-93CA-4FF8-B92B-4D0273B51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721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Frameworks require local evidence.</a:t>
            </a:r>
          </a:p>
        </p:txBody>
      </p:sp>
    </p:spTree>
    <p:extLst>
      <p:ext uri="{BB962C8B-B14F-4D97-AF65-F5344CB8AC3E}">
        <p14:creationId xmlns:p14="http://schemas.microsoft.com/office/powerpoint/2010/main" val="3526497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323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itle">
            <a:extLst xmlns:a="http://schemas.openxmlformats.org/drawingml/2006/main">
              <a:ext uri="{FF2B5EF4-FFF2-40B4-BE49-F238E27FC236}">
                <a16:creationId xmlns:a16="http://schemas.microsoft.com/office/drawing/2014/main" id="{0549E172-2864-455F-8A51-5671812C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Observation reveals applied practice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6140AEB6-5FCE-442E-8881-36FBA32C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04B"/>
          </a:solidFill>
          <a:ln xmlns:a="http://schemas.openxmlformats.org/drawingml/2006/main" w="0">
            <a:noFill/>
          </a:ln>
        </p:spPr>
      </p:sp>
      <p:sp>
        <p:nvSpPr>
          <p:cNvPr id="3" name="series">
            <a:extLst xmlns:a="http://schemas.openxmlformats.org/drawingml/2006/main">
              <a:ext uri="{FF2B5EF4-FFF2-40B4-BE49-F238E27FC236}">
                <a16:creationId xmlns:a16="http://schemas.microsoft.com/office/drawing/2014/main" id="{F712E670-858D-48F6-A204-33B7C9A5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ENGLISH / 10 / 06</a:t>
            </a:r>
          </a:p>
        </p:txBody>
      </p:sp>
      <p:sp>
        <p:nvSpPr>
          <p:cNvPr id="4" name="line">
            <a:extLst xmlns:a="http://schemas.openxmlformats.org/drawingml/2006/main">
              <a:ext uri="{FF2B5EF4-FFF2-40B4-BE49-F238E27FC236}">
                <a16:creationId xmlns:a16="http://schemas.microsoft.com/office/drawing/2014/main" id="{A3F98708-622F-43F6-8C5E-8A8FAE9C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47975"/>
            <a:ext cx="990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6472"/>
          </a:solidFill>
          <a:ln xmlns:a="http://schemas.openxmlformats.org/drawingml/2006/main" w="0">
            <a:noFill/>
          </a:ln>
        </p:spPr>
      </p:sp>
      <p:sp>
        <p:nvSpPr>
          <p:cNvPr id="5" name="dot-0">
            <a:extLst xmlns:a="http://schemas.openxmlformats.org/drawingml/2006/main">
              <a:ext uri="{FF2B5EF4-FFF2-40B4-BE49-F238E27FC236}">
                <a16:creationId xmlns:a16="http://schemas.microsoft.com/office/drawing/2014/main" id="{2E3E346C-C53B-413E-BA17-EBD7F749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574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482C"/>
          </a:solidFill>
          <a:ln xmlns:a="http://schemas.openxmlformats.org/drawingml/2006/main" w="47625">
            <a:solidFill>
              <a:srgbClr val="132331"/>
            </a:solidFill>
          </a:ln>
        </p:spPr>
      </p:sp>
      <p:sp>
        <p:nvSpPr>
          <p:cNvPr id="6" name="num-0">
            <a:extLst xmlns:a="http://schemas.openxmlformats.org/drawingml/2006/main">
              <a:ext uri="{FF2B5EF4-FFF2-40B4-BE49-F238E27FC236}">
                <a16:creationId xmlns:a16="http://schemas.microsoft.com/office/drawing/2014/main" id="{66F5F4A2-5A38-43D4-9ED0-95F526B2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57450"/>
            <a:ext cx="781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1</a:t>
            </a:r>
          </a:p>
        </p:txBody>
      </p:sp>
      <p:sp>
        <p:nvSpPr>
          <p:cNvPr id="7" name="k-0">
            <a:extLst xmlns:a="http://schemas.openxmlformats.org/drawingml/2006/main">
              <a:ext uri="{FF2B5EF4-FFF2-40B4-BE49-F238E27FC236}">
                <a16:creationId xmlns:a16="http://schemas.microsoft.com/office/drawing/2014/main" id="{E10038A9-AB4F-4B71-BDDF-534E1D2B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95675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PLAN</a:t>
            </a:r>
          </a:p>
        </p:txBody>
      </p:sp>
      <p:sp>
        <p:nvSpPr>
          <p:cNvPr id="8" name="v-0">
            <a:extLst xmlns:a="http://schemas.openxmlformats.org/drawingml/2006/main">
              <a:ext uri="{FF2B5EF4-FFF2-40B4-BE49-F238E27FC236}">
                <a16:creationId xmlns:a16="http://schemas.microsoft.com/office/drawing/2014/main" id="{57A9E6B1-C758-4BE0-A22F-DC70D667F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676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State learner aims.</a:t>
            </a:r>
          </a:p>
        </p:txBody>
      </p:sp>
      <p:sp>
        <p:nvSpPr>
          <p:cNvPr id="9" name="dot-1">
            <a:extLst xmlns:a="http://schemas.openxmlformats.org/drawingml/2006/main">
              <a:ext uri="{FF2B5EF4-FFF2-40B4-BE49-F238E27FC236}">
                <a16:creationId xmlns:a16="http://schemas.microsoft.com/office/drawing/2014/main" id="{8D679C16-479D-4F6A-8F04-7FEC84287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4574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47625">
            <a:solidFill>
              <a:srgbClr val="132331"/>
            </a:solidFill>
          </a:ln>
        </p:spPr>
      </p:sp>
      <p:sp>
        <p:nvSpPr>
          <p:cNvPr id="10" name="num-1">
            <a:extLst xmlns:a="http://schemas.openxmlformats.org/drawingml/2006/main">
              <a:ext uri="{FF2B5EF4-FFF2-40B4-BE49-F238E27FC236}">
                <a16:creationId xmlns:a16="http://schemas.microsoft.com/office/drawing/2014/main" id="{1D7CF40C-EB8C-4608-A7B1-422140E8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457450"/>
            <a:ext cx="781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2</a:t>
            </a:r>
          </a:p>
        </p:txBody>
      </p:sp>
      <p:sp>
        <p:nvSpPr>
          <p:cNvPr id="11" name="k-1">
            <a:extLst xmlns:a="http://schemas.openxmlformats.org/drawingml/2006/main">
              <a:ext uri="{FF2B5EF4-FFF2-40B4-BE49-F238E27FC236}">
                <a16:creationId xmlns:a16="http://schemas.microsoft.com/office/drawing/2014/main" id="{A0356029-43A1-49BD-B0F5-4AEE3AE6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495675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TEACH</a:t>
            </a:r>
          </a:p>
        </p:txBody>
      </p:sp>
      <p:sp>
        <p:nvSpPr>
          <p:cNvPr id="12" name="v-1">
            <a:extLst xmlns:a="http://schemas.openxmlformats.org/drawingml/2006/main">
              <a:ext uri="{FF2B5EF4-FFF2-40B4-BE49-F238E27FC236}">
                <a16:creationId xmlns:a16="http://schemas.microsoft.com/office/drawing/2014/main" id="{003996D5-0B47-426F-9894-DF3BD1EB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000500"/>
            <a:ext cx="1676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Manage live learning.</a:t>
            </a:r>
          </a:p>
        </p:txBody>
      </p:sp>
      <p:sp>
        <p:nvSpPr>
          <p:cNvPr id="13" name="dot-2">
            <a:extLst xmlns:a="http://schemas.openxmlformats.org/drawingml/2006/main">
              <a:ext uri="{FF2B5EF4-FFF2-40B4-BE49-F238E27FC236}">
                <a16:creationId xmlns:a16="http://schemas.microsoft.com/office/drawing/2014/main" id="{FFF96CB4-FA15-4F42-A258-302027F8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4574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6657"/>
          </a:solidFill>
          <a:ln xmlns:a="http://schemas.openxmlformats.org/drawingml/2006/main" w="47625">
            <a:solidFill>
              <a:srgbClr val="132331"/>
            </a:solidFill>
          </a:ln>
        </p:spPr>
      </p:sp>
      <p:sp>
        <p:nvSpPr>
          <p:cNvPr id="14" name="num-2">
            <a:extLst xmlns:a="http://schemas.openxmlformats.org/drawingml/2006/main">
              <a:ext uri="{FF2B5EF4-FFF2-40B4-BE49-F238E27FC236}">
                <a16:creationId xmlns:a16="http://schemas.microsoft.com/office/drawing/2014/main" id="{BC5D9E98-774D-48C0-A797-A95B0964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457450"/>
            <a:ext cx="781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3</a:t>
            </a:r>
          </a:p>
        </p:txBody>
      </p:sp>
      <p:sp>
        <p:nvSpPr>
          <p:cNvPr id="15" name="k-2">
            <a:extLst xmlns:a="http://schemas.openxmlformats.org/drawingml/2006/main">
              <a:ext uri="{FF2B5EF4-FFF2-40B4-BE49-F238E27FC236}">
                <a16:creationId xmlns:a16="http://schemas.microsoft.com/office/drawing/2014/main" id="{0F9C87A8-FF7B-4225-A473-722C7055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95675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OBSERVE</a:t>
            </a:r>
          </a:p>
        </p:txBody>
      </p:sp>
      <p:sp>
        <p:nvSpPr>
          <p:cNvPr id="16" name="v-2">
            <a:extLst xmlns:a="http://schemas.openxmlformats.org/drawingml/2006/main">
              <a:ext uri="{FF2B5EF4-FFF2-40B4-BE49-F238E27FC236}">
                <a16:creationId xmlns:a16="http://schemas.microsoft.com/office/drawing/2014/main" id="{8EDA8F3F-A794-4B6C-84F5-366B4B82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00500"/>
            <a:ext cx="1676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Record visible choices.</a:t>
            </a:r>
          </a:p>
        </p:txBody>
      </p:sp>
      <p:sp>
        <p:nvSpPr>
          <p:cNvPr id="17" name="dot-3">
            <a:extLst xmlns:a="http://schemas.openxmlformats.org/drawingml/2006/main">
              <a:ext uri="{FF2B5EF4-FFF2-40B4-BE49-F238E27FC236}">
                <a16:creationId xmlns:a16="http://schemas.microsoft.com/office/drawing/2014/main" id="{FAB2B65E-05E3-4E87-9517-84A62FFC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574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A04B"/>
          </a:solidFill>
          <a:ln xmlns:a="http://schemas.openxmlformats.org/drawingml/2006/main" w="47625">
            <a:solidFill>
              <a:srgbClr val="132331"/>
            </a:solidFill>
          </a:ln>
        </p:spPr>
      </p:sp>
      <p:sp>
        <p:nvSpPr>
          <p:cNvPr id="18" name="num-3">
            <a:extLst xmlns:a="http://schemas.openxmlformats.org/drawingml/2006/main">
              <a:ext uri="{FF2B5EF4-FFF2-40B4-BE49-F238E27FC236}">
                <a16:creationId xmlns:a16="http://schemas.microsoft.com/office/drawing/2014/main" id="{0C239F8A-59C5-4426-A710-7E56639F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57450"/>
            <a:ext cx="781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4</a:t>
            </a:r>
          </a:p>
        </p:txBody>
      </p:sp>
      <p:sp>
        <p:nvSpPr>
          <p:cNvPr id="19" name="k-3">
            <a:extLst xmlns:a="http://schemas.openxmlformats.org/drawingml/2006/main">
              <a:ext uri="{FF2B5EF4-FFF2-40B4-BE49-F238E27FC236}">
                <a16:creationId xmlns:a16="http://schemas.microsoft.com/office/drawing/2014/main" id="{9226FCE0-F6E8-44C9-9F10-6345F9A7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495675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FEEDBACK</a:t>
            </a:r>
          </a:p>
        </p:txBody>
      </p:sp>
      <p:sp>
        <p:nvSpPr>
          <p:cNvPr id="20" name="v-3">
            <a:extLst xmlns:a="http://schemas.openxmlformats.org/drawingml/2006/main">
              <a:ext uri="{FF2B5EF4-FFF2-40B4-BE49-F238E27FC236}">
                <a16:creationId xmlns:a16="http://schemas.microsoft.com/office/drawing/2014/main" id="{8D1F6152-8AFE-4B72-8995-50A7F2BF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000500"/>
            <a:ext cx="1676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Name specific gaps.</a:t>
            </a:r>
          </a:p>
        </p:txBody>
      </p:sp>
      <p:sp>
        <p:nvSpPr>
          <p:cNvPr id="21" name="dot-4">
            <a:extLst xmlns:a="http://schemas.openxmlformats.org/drawingml/2006/main">
              <a:ext uri="{FF2B5EF4-FFF2-40B4-BE49-F238E27FC236}">
                <a16:creationId xmlns:a16="http://schemas.microsoft.com/office/drawing/2014/main" id="{75A32CDB-6244-4C1B-B3FE-754B82816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4574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482C"/>
          </a:solidFill>
          <a:ln xmlns:a="http://schemas.openxmlformats.org/drawingml/2006/main" w="47625">
            <a:solidFill>
              <a:srgbClr val="132331"/>
            </a:solidFill>
          </a:ln>
        </p:spPr>
      </p:sp>
      <p:sp>
        <p:nvSpPr>
          <p:cNvPr id="22" name="num-4">
            <a:extLst xmlns:a="http://schemas.openxmlformats.org/drawingml/2006/main">
              <a:ext uri="{FF2B5EF4-FFF2-40B4-BE49-F238E27FC236}">
                <a16:creationId xmlns:a16="http://schemas.microsoft.com/office/drawing/2014/main" id="{0947E23B-C20B-4A21-A00C-D0486981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457450"/>
            <a:ext cx="781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5</a:t>
            </a:r>
          </a:p>
        </p:txBody>
      </p:sp>
      <p:sp>
        <p:nvSpPr>
          <p:cNvPr id="23" name="k-4">
            <a:extLst xmlns:a="http://schemas.openxmlformats.org/drawingml/2006/main">
              <a:ext uri="{FF2B5EF4-FFF2-40B4-BE49-F238E27FC236}">
                <a16:creationId xmlns:a16="http://schemas.microsoft.com/office/drawing/2014/main" id="{C47BF474-E351-451B-B3BC-6F870B73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495675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REVISE</a:t>
            </a:r>
          </a:p>
        </p:txBody>
      </p:sp>
      <p:sp>
        <p:nvSpPr>
          <p:cNvPr id="24" name="v-4">
            <a:extLst xmlns:a="http://schemas.openxmlformats.org/drawingml/2006/main">
              <a:ext uri="{FF2B5EF4-FFF2-40B4-BE49-F238E27FC236}">
                <a16:creationId xmlns:a16="http://schemas.microsoft.com/office/drawing/2014/main" id="{1309F5A3-8E7C-47E7-9D26-FD258C7E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000500"/>
            <a:ext cx="1676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Try changed practice.</a:t>
            </a:r>
          </a:p>
        </p:txBody>
      </p:sp>
      <p:sp>
        <p:nvSpPr>
          <p:cNvPr id="25" name="benefit">
            <a:extLst xmlns:a="http://schemas.openxmlformats.org/drawingml/2006/main">
              <a:ext uri="{FF2B5EF4-FFF2-40B4-BE49-F238E27FC236}">
                <a16:creationId xmlns:a16="http://schemas.microsoft.com/office/drawing/2014/main" id="{DA52ACD2-8C80-419D-8A4A-D5CEB45F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24425"/>
            <a:ext cx="5000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D1A04B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D1A04B"/>
                </a:solidFill>
                <a:latin typeface="Nimbus Sans"/>
                <a:ea typeface="Nimbus Sans"/>
                <a:cs typeface="Nimbus Sans"/>
              </a:rPr>
              <a:t>Direct work becomes visible.</a:t>
            </a:r>
          </a:p>
        </p:txBody>
      </p:sp>
      <p:sp>
        <p:nvSpPr>
          <p:cNvPr id="26" name="risk">
            <a:extLst xmlns:a="http://schemas.openxmlformats.org/drawingml/2006/main">
              <a:ext uri="{FF2B5EF4-FFF2-40B4-BE49-F238E27FC236}">
                <a16:creationId xmlns:a16="http://schemas.microsoft.com/office/drawing/2014/main" id="{05BBB664-8FAC-49F5-B4FE-63B71828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24425"/>
            <a:ext cx="5000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A1482C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A1482C"/>
                </a:solidFill>
                <a:latin typeface="Nimbus Sans"/>
                <a:ea typeface="Nimbus Sans"/>
                <a:cs typeface="Nimbus Sans"/>
              </a:rPr>
              <a:t>One lesson stays narrow.</a:t>
            </a:r>
          </a:p>
        </p:txBody>
      </p:sp>
      <p:sp>
        <p:nvSpPr>
          <p:cNvPr id="27" name="takeaway">
            <a:extLst xmlns:a="http://schemas.openxmlformats.org/drawingml/2006/main">
              <a:ext uri="{FF2B5EF4-FFF2-40B4-BE49-F238E27FC236}">
                <a16:creationId xmlns:a16="http://schemas.microsoft.com/office/drawing/2014/main" id="{78A7D2C9-4980-451E-86BD-061F4F786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721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More occasions improve reliability.</a:t>
            </a:r>
          </a:p>
        </p:txBody>
      </p:sp>
    </p:spTree>
    <p:extLst>
      <p:ext uri="{BB962C8B-B14F-4D97-AF65-F5344CB8AC3E}">
        <p14:creationId xmlns:p14="http://schemas.microsoft.com/office/powerpoint/2010/main" val="17937940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itle">
            <a:extLst xmlns:a="http://schemas.openxmlformats.org/drawingml/2006/main">
              <a:ext uri="{FF2B5EF4-FFF2-40B4-BE49-F238E27FC236}">
                <a16:creationId xmlns:a16="http://schemas.microsoft.com/office/drawing/2014/main" id="{D4B2480E-DA5D-47F7-9053-6645C076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Why gatekeepers prefer brands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1574BBFE-91EB-4BB1-AD35-056A4BAB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3" name="series">
            <a:extLst xmlns:a="http://schemas.openxmlformats.org/drawingml/2006/main">
              <a:ext uri="{FF2B5EF4-FFF2-40B4-BE49-F238E27FC236}">
                <a16:creationId xmlns:a16="http://schemas.microsoft.com/office/drawing/2014/main" id="{2582796E-315B-40AD-BAF5-AD34B0B5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ENGLISH / 10 / 07</a:t>
            </a:r>
          </a:p>
        </p:txBody>
      </p:sp>
      <p:sp>
        <p:nvSpPr>
          <p:cNvPr id="4" name="row-0">
            <a:extLst xmlns:a="http://schemas.openxmlformats.org/drawingml/2006/main">
              <a:ext uri="{FF2B5EF4-FFF2-40B4-BE49-F238E27FC236}">
                <a16:creationId xmlns:a16="http://schemas.microsoft.com/office/drawing/2014/main" id="{A13ED3C3-6041-4113-88A4-44773446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66675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5" name="label-0">
            <a:extLst xmlns:a="http://schemas.openxmlformats.org/drawingml/2006/main">
              <a:ext uri="{FF2B5EF4-FFF2-40B4-BE49-F238E27FC236}">
                <a16:creationId xmlns:a16="http://schemas.microsoft.com/office/drawing/2014/main" id="{DB37B9C3-2B3E-4F69-8CCB-4C34258C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20955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A1482C"/>
          </a:solidFill>
          <a:ln xmlns:a="http://schemas.openxmlformats.org/drawingml/2006/main" w="0">
            <a:noFill/>
          </a:ln>
        </p:spPr>
      </p:sp>
      <p:sp>
        <p:nvSpPr>
          <p:cNvPr id="6" name="k-0">
            <a:extLst xmlns:a="http://schemas.openxmlformats.org/drawingml/2006/main">
              <a:ext uri="{FF2B5EF4-FFF2-40B4-BE49-F238E27FC236}">
                <a16:creationId xmlns:a16="http://schemas.microsoft.com/office/drawing/2014/main" id="{6A3AD8B6-3AB2-4436-9BFD-E51C42CC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VERIFICATION</a:t>
            </a:r>
          </a:p>
        </p:txBody>
      </p:sp>
      <p:sp>
        <p:nvSpPr>
          <p:cNvPr id="7" name="v-0">
            <a:extLst xmlns:a="http://schemas.openxmlformats.org/drawingml/2006/main">
              <a:ext uri="{FF2B5EF4-FFF2-40B4-BE49-F238E27FC236}">
                <a16:creationId xmlns:a16="http://schemas.microsoft.com/office/drawing/2014/main" id="{157FCFD6-EC78-40FA-B86C-6420F8E5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676400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Records can be checked.</a:t>
            </a:r>
          </a:p>
        </p:txBody>
      </p:sp>
      <p:sp>
        <p:nvSpPr>
          <p:cNvPr id="8" name="row-1">
            <a:extLst xmlns:a="http://schemas.openxmlformats.org/drawingml/2006/main">
              <a:ext uri="{FF2B5EF4-FFF2-40B4-BE49-F238E27FC236}">
                <a16:creationId xmlns:a16="http://schemas.microsoft.com/office/drawing/2014/main" id="{68330118-A42D-415E-8E83-EE76EFCB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66975"/>
            <a:ext cx="66675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9" name="label-1">
            <a:extLst xmlns:a="http://schemas.openxmlformats.org/drawingml/2006/main">
              <a:ext uri="{FF2B5EF4-FFF2-40B4-BE49-F238E27FC236}">
                <a16:creationId xmlns:a16="http://schemas.microsoft.com/office/drawing/2014/main" id="{86B53F62-314B-4BA9-A22F-F7CA8603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66975"/>
            <a:ext cx="20955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10" name="k-1">
            <a:extLst xmlns:a="http://schemas.openxmlformats.org/drawingml/2006/main">
              <a:ext uri="{FF2B5EF4-FFF2-40B4-BE49-F238E27FC236}">
                <a16:creationId xmlns:a16="http://schemas.microsoft.com/office/drawing/2014/main" id="{B5078DD8-5241-4A2F-A756-124CC52E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66975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COMPARISON</a:t>
            </a:r>
          </a:p>
        </p:txBody>
      </p:sp>
      <p:sp>
        <p:nvSpPr>
          <p:cNvPr id="11" name="v-1">
            <a:extLst xmlns:a="http://schemas.openxmlformats.org/drawingml/2006/main">
              <a:ext uri="{FF2B5EF4-FFF2-40B4-BE49-F238E27FC236}">
                <a16:creationId xmlns:a16="http://schemas.microsoft.com/office/drawing/2014/main" id="{09DA5C2A-5234-4C0D-AF35-7EFD838D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66975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Shared criteria save time.</a:t>
            </a:r>
          </a:p>
        </p:txBody>
      </p:sp>
      <p:sp>
        <p:nvSpPr>
          <p:cNvPr id="12" name="row-2">
            <a:extLst xmlns:a="http://schemas.openxmlformats.org/drawingml/2006/main">
              <a:ext uri="{FF2B5EF4-FFF2-40B4-BE49-F238E27FC236}">
                <a16:creationId xmlns:a16="http://schemas.microsoft.com/office/drawing/2014/main" id="{4FCE6E54-541D-4EB4-82B5-C7F06601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66675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13" name="label-2">
            <a:extLst xmlns:a="http://schemas.openxmlformats.org/drawingml/2006/main">
              <a:ext uri="{FF2B5EF4-FFF2-40B4-BE49-F238E27FC236}">
                <a16:creationId xmlns:a16="http://schemas.microsoft.com/office/drawing/2014/main" id="{3F17BB35-561F-4445-AB33-0E4448C5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20955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4D6657"/>
          </a:solidFill>
          <a:ln xmlns:a="http://schemas.openxmlformats.org/drawingml/2006/main" w="0">
            <a:noFill/>
          </a:ln>
        </p:spPr>
      </p:sp>
      <p:sp>
        <p:nvSpPr>
          <p:cNvPr id="14" name="k-2">
            <a:extLst xmlns:a="http://schemas.openxmlformats.org/drawingml/2006/main">
              <a:ext uri="{FF2B5EF4-FFF2-40B4-BE49-F238E27FC236}">
                <a16:creationId xmlns:a16="http://schemas.microsoft.com/office/drawing/2014/main" id="{C4729330-80DA-4466-B8BF-7AFE2786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ASSURANCE</a:t>
            </a:r>
          </a:p>
        </p:txBody>
      </p:sp>
      <p:sp>
        <p:nvSpPr>
          <p:cNvPr id="15" name="v-2">
            <a:extLst xmlns:a="http://schemas.openxmlformats.org/drawingml/2006/main">
              <a:ext uri="{FF2B5EF4-FFF2-40B4-BE49-F238E27FC236}">
                <a16:creationId xmlns:a16="http://schemas.microsoft.com/office/drawing/2014/main" id="{3C306202-1122-4677-83DF-BF06D287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257550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Moderation supports consistency.</a:t>
            </a:r>
          </a:p>
        </p:txBody>
      </p:sp>
      <p:sp>
        <p:nvSpPr>
          <p:cNvPr id="16" name="row-3">
            <a:extLst xmlns:a="http://schemas.openxmlformats.org/drawingml/2006/main">
              <a:ext uri="{FF2B5EF4-FFF2-40B4-BE49-F238E27FC236}">
                <a16:creationId xmlns:a16="http://schemas.microsoft.com/office/drawing/2014/main" id="{35D070F4-8873-4D00-AFC2-758A4F73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66675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17" name="label-3">
            <a:extLst xmlns:a="http://schemas.openxmlformats.org/drawingml/2006/main">
              <a:ext uri="{FF2B5EF4-FFF2-40B4-BE49-F238E27FC236}">
                <a16:creationId xmlns:a16="http://schemas.microsoft.com/office/drawing/2014/main" id="{6859A6DD-6FB0-413B-AF9B-E2276C628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20955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D1A04B"/>
          </a:solidFill>
          <a:ln xmlns:a="http://schemas.openxmlformats.org/drawingml/2006/main" w="0">
            <a:noFill/>
          </a:ln>
        </p:spPr>
      </p:sp>
      <p:sp>
        <p:nvSpPr>
          <p:cNvPr id="18" name="k-3">
            <a:extLst xmlns:a="http://schemas.openxmlformats.org/drawingml/2006/main">
              <a:ext uri="{FF2B5EF4-FFF2-40B4-BE49-F238E27FC236}">
                <a16:creationId xmlns:a16="http://schemas.microsoft.com/office/drawing/2014/main" id="{64A77C34-B52F-49BF-BDFD-36A1C68F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ACCOUNTABILITY</a:t>
            </a:r>
          </a:p>
        </p:txBody>
      </p:sp>
      <p:sp>
        <p:nvSpPr>
          <p:cNvPr id="19" name="v-3">
            <a:extLst xmlns:a="http://schemas.openxmlformats.org/drawingml/2006/main">
              <a:ext uri="{FF2B5EF4-FFF2-40B4-BE49-F238E27FC236}">
                <a16:creationId xmlns:a16="http://schemas.microsoft.com/office/drawing/2014/main" id="{D46E2789-1471-4C62-A2C5-0D852273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48125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Named bodies carry responsibility.</a:t>
            </a:r>
          </a:p>
        </p:txBody>
      </p:sp>
      <p:sp>
        <p:nvSpPr>
          <p:cNvPr id="20" name="tradeoff">
            <a:extLst xmlns:a="http://schemas.openxmlformats.org/drawingml/2006/main">
              <a:ext uri="{FF2B5EF4-FFF2-40B4-BE49-F238E27FC236}">
                <a16:creationId xmlns:a16="http://schemas.microsoft.com/office/drawing/2014/main" id="{94CB636A-8EAC-4431-97B1-0663FE10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676400"/>
            <a:ext cx="3638550" cy="2990850"/>
          </a:xfrm>
          <a:prstGeom xmlns:a="http://schemas.openxmlformats.org/drawingml/2006/main" prst="roundRect">
            <a:avLst>
              <a:gd name="adj" fmla="val 2548"/>
            </a:avLst>
          </a:prstGeom>
          <a:solidFill xmlns:a="http://schemas.openxmlformats.org/drawingml/2006/main">
            <a:srgbClr val="EEE5D7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21" name="trade-k">
            <a:extLst xmlns:a="http://schemas.openxmlformats.org/drawingml/2006/main">
              <a:ext uri="{FF2B5EF4-FFF2-40B4-BE49-F238E27FC236}">
                <a16:creationId xmlns:a16="http://schemas.microsoft.com/office/drawing/2014/main" id="{FA67EE07-A275-41A7-B2EC-579FF00D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52625"/>
            <a:ext cx="299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THE TRADE-OFF</a:t>
            </a:r>
          </a:p>
        </p:txBody>
      </p:sp>
      <p:sp>
        <p:nvSpPr>
          <p:cNvPr id="22" name="trade-one">
            <a:extLst xmlns:a="http://schemas.openxmlformats.org/drawingml/2006/main">
              <a:ext uri="{FF2B5EF4-FFF2-40B4-BE49-F238E27FC236}">
                <a16:creationId xmlns:a16="http://schemas.microsoft.com/office/drawing/2014/main" id="{1B4B5DB7-AD82-4AA9-9D86-F6DABD80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33650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Screening becomes faster.</a:t>
            </a:r>
          </a:p>
        </p:txBody>
      </p:sp>
      <p:sp>
        <p:nvSpPr>
          <p:cNvPr id="23" name="trade-two">
            <a:extLst xmlns:a="http://schemas.openxmlformats.org/drawingml/2006/main">
              <a:ext uri="{FF2B5EF4-FFF2-40B4-BE49-F238E27FC236}">
                <a16:creationId xmlns:a16="http://schemas.microsoft.com/office/drawing/2014/main" id="{CAFB546E-03F3-4F0B-B652-5EB9F545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38500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A1482C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A1482C"/>
                </a:solidFill>
                <a:latin typeface="Nimbus Sans"/>
                <a:ea typeface="Nimbus Sans"/>
                <a:cs typeface="Nimbus Sans"/>
              </a:rPr>
              <a:t>Costs can exclude talent.</a:t>
            </a:r>
          </a:p>
        </p:txBody>
      </p:sp>
      <p:sp>
        <p:nvSpPr>
          <p:cNvPr id="24" name="trade-three">
            <a:extLst xmlns:a="http://schemas.openxmlformats.org/drawingml/2006/main">
              <a:ext uri="{FF2B5EF4-FFF2-40B4-BE49-F238E27FC236}">
                <a16:creationId xmlns:a16="http://schemas.microsoft.com/office/drawing/2014/main" id="{10F88BEF-A19B-409B-815D-AA585C8F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43350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Brands can replace judgment.</a:t>
            </a:r>
          </a:p>
        </p:txBody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8FE64FC9-386C-4709-B976-F79F39D9C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197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Trust systems can gatekeep.</a:t>
            </a:r>
          </a:p>
        </p:txBody>
      </p:sp>
    </p:spTree>
    <p:extLst>
      <p:ext uri="{BB962C8B-B14F-4D97-AF65-F5344CB8AC3E}">
        <p14:creationId xmlns:p14="http://schemas.microsoft.com/office/powerpoint/2010/main" val="2707394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itle">
            <a:extLst xmlns:a="http://schemas.openxmlformats.org/drawingml/2006/main">
              <a:ext uri="{FF2B5EF4-FFF2-40B4-BE49-F238E27FC236}">
                <a16:creationId xmlns:a16="http://schemas.microsoft.com/office/drawing/2014/main" id="{851A030F-CE90-4198-9DD3-82561402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A fairer recognition stack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787EE44E-27D6-4A70-A5AC-9F5FB392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3" name="series">
            <a:extLst xmlns:a="http://schemas.openxmlformats.org/drawingml/2006/main">
              <a:ext uri="{FF2B5EF4-FFF2-40B4-BE49-F238E27FC236}">
                <a16:creationId xmlns:a16="http://schemas.microsoft.com/office/drawing/2014/main" id="{E3A366FC-802B-4CBE-BB31-B5D4AAF0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ENGLISH / 10 / 08</a:t>
            </a:r>
          </a:p>
        </p:txBody>
      </p:sp>
      <p:sp>
        <p:nvSpPr>
          <p:cNvPr id="4" name="bar-0">
            <a:extLst xmlns:a="http://schemas.openxmlformats.org/drawingml/2006/main">
              <a:ext uri="{FF2B5EF4-FFF2-40B4-BE49-F238E27FC236}">
                <a16:creationId xmlns:a16="http://schemas.microsoft.com/office/drawing/2014/main" id="{CC8849F7-66E0-4A1A-A470-F74FC5C3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676400"/>
            <a:ext cx="685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5" name="label-0">
            <a:extLst xmlns:a="http://schemas.openxmlformats.org/drawingml/2006/main">
              <a:ext uri="{FF2B5EF4-FFF2-40B4-BE49-F238E27FC236}">
                <a16:creationId xmlns:a16="http://schemas.microsoft.com/office/drawing/2014/main" id="{F9B8C2A2-4C63-43C9-BC88-FFA327E1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676400"/>
            <a:ext cx="2190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A1482C"/>
          </a:solidFill>
          <a:ln xmlns:a="http://schemas.openxmlformats.org/drawingml/2006/main" w="0">
            <a:noFill/>
          </a:ln>
        </p:spPr>
      </p:sp>
      <p:sp>
        <p:nvSpPr>
          <p:cNvPr id="6" name="k-0">
            <a:extLst xmlns:a="http://schemas.openxmlformats.org/drawingml/2006/main">
              <a:ext uri="{FF2B5EF4-FFF2-40B4-BE49-F238E27FC236}">
                <a16:creationId xmlns:a16="http://schemas.microsoft.com/office/drawing/2014/main" id="{2D6005C0-5826-4BCD-B417-FBD95CBC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6764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LANGUAGE</a:t>
            </a:r>
          </a:p>
        </p:txBody>
      </p:sp>
      <p:sp>
        <p:nvSpPr>
          <p:cNvPr id="7" name="v-0">
            <a:extLst xmlns:a="http://schemas.openxmlformats.org/drawingml/2006/main">
              <a:ext uri="{FF2B5EF4-FFF2-40B4-BE49-F238E27FC236}">
                <a16:creationId xmlns:a16="http://schemas.microsoft.com/office/drawing/2014/main" id="{68B20434-5A17-416E-98C2-FD7C6E97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676400"/>
            <a:ext cx="4248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Score when relevant.</a:t>
            </a:r>
          </a:p>
        </p:txBody>
      </p:sp>
      <p:sp>
        <p:nvSpPr>
          <p:cNvPr id="8" name="bar-1">
            <a:extLst xmlns:a="http://schemas.openxmlformats.org/drawingml/2006/main">
              <a:ext uri="{FF2B5EF4-FFF2-40B4-BE49-F238E27FC236}">
                <a16:creationId xmlns:a16="http://schemas.microsoft.com/office/drawing/2014/main" id="{375FC105-153D-4CB5-A7D7-A6C60679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352675"/>
            <a:ext cx="7810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9" name="label-1">
            <a:extLst xmlns:a="http://schemas.openxmlformats.org/drawingml/2006/main">
              <a:ext uri="{FF2B5EF4-FFF2-40B4-BE49-F238E27FC236}">
                <a16:creationId xmlns:a16="http://schemas.microsoft.com/office/drawing/2014/main" id="{714859ED-48E4-4D10-86CB-1CDA7C2D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352675"/>
            <a:ext cx="2190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10" name="k-1">
            <a:extLst xmlns:a="http://schemas.openxmlformats.org/drawingml/2006/main">
              <a:ext uri="{FF2B5EF4-FFF2-40B4-BE49-F238E27FC236}">
                <a16:creationId xmlns:a16="http://schemas.microsoft.com/office/drawing/2014/main" id="{4F44CE7F-B001-4B8C-8CE1-61213144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35267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TEACHING</a:t>
            </a:r>
          </a:p>
        </p:txBody>
      </p:sp>
      <p:sp>
        <p:nvSpPr>
          <p:cNvPr id="11" name="v-1">
            <a:extLst xmlns:a="http://schemas.openxmlformats.org/drawingml/2006/main">
              <a:ext uri="{FF2B5EF4-FFF2-40B4-BE49-F238E27FC236}">
                <a16:creationId xmlns:a16="http://schemas.microsoft.com/office/drawing/2014/main" id="{71F497C2-1EE3-41CC-8C8D-B865A520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52675"/>
            <a:ext cx="5200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Observe live practice.</a:t>
            </a:r>
          </a:p>
        </p:txBody>
      </p:sp>
      <p:sp>
        <p:nvSpPr>
          <p:cNvPr id="12" name="bar-2">
            <a:extLst xmlns:a="http://schemas.openxmlformats.org/drawingml/2006/main">
              <a:ext uri="{FF2B5EF4-FFF2-40B4-BE49-F238E27FC236}">
                <a16:creationId xmlns:a16="http://schemas.microsoft.com/office/drawing/2014/main" id="{00BE337B-41E5-4A05-A7CF-A1246063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2895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13" name="label-2">
            <a:extLst xmlns:a="http://schemas.openxmlformats.org/drawingml/2006/main">
              <a:ext uri="{FF2B5EF4-FFF2-40B4-BE49-F238E27FC236}">
                <a16:creationId xmlns:a16="http://schemas.microsoft.com/office/drawing/2014/main" id="{912E5D85-196A-4031-BFEA-D2033DE1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28950"/>
            <a:ext cx="2190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4D6657"/>
          </a:solidFill>
          <a:ln xmlns:a="http://schemas.openxmlformats.org/drawingml/2006/main" w="0">
            <a:noFill/>
          </a:ln>
        </p:spPr>
      </p:sp>
      <p:sp>
        <p:nvSpPr>
          <p:cNvPr id="14" name="k-2">
            <a:extLst xmlns:a="http://schemas.openxmlformats.org/drawingml/2006/main">
              <a:ext uri="{FF2B5EF4-FFF2-40B4-BE49-F238E27FC236}">
                <a16:creationId xmlns:a16="http://schemas.microsoft.com/office/drawing/2014/main" id="{61F25F30-0B1A-40E8-B60E-377214CB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289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PORTFOLIO</a:t>
            </a:r>
          </a:p>
        </p:txBody>
      </p:sp>
      <p:sp>
        <p:nvSpPr>
          <p:cNvPr id="15" name="v-2">
            <a:extLst xmlns:a="http://schemas.openxmlformats.org/drawingml/2006/main">
              <a:ext uri="{FF2B5EF4-FFF2-40B4-BE49-F238E27FC236}">
                <a16:creationId xmlns:a16="http://schemas.microsoft.com/office/drawing/2014/main" id="{462D588E-FAAF-46AE-8003-37088AAA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028950"/>
            <a:ext cx="6153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Inspect finished work.</a:t>
            </a:r>
          </a:p>
        </p:txBody>
      </p:sp>
      <p:sp>
        <p:nvSpPr>
          <p:cNvPr id="16" name="bar-3">
            <a:extLst xmlns:a="http://schemas.openxmlformats.org/drawingml/2006/main">
              <a:ext uri="{FF2B5EF4-FFF2-40B4-BE49-F238E27FC236}">
                <a16:creationId xmlns:a16="http://schemas.microsoft.com/office/drawing/2014/main" id="{1A03592F-E282-446A-A8C7-2ED3BC27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05225"/>
            <a:ext cx="971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17" name="label-3">
            <a:extLst xmlns:a="http://schemas.openxmlformats.org/drawingml/2006/main">
              <a:ext uri="{FF2B5EF4-FFF2-40B4-BE49-F238E27FC236}">
                <a16:creationId xmlns:a16="http://schemas.microsoft.com/office/drawing/2014/main" id="{406EA13E-394C-41DC-893D-B9538C71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05225"/>
            <a:ext cx="2190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1A04B"/>
          </a:solidFill>
          <a:ln xmlns:a="http://schemas.openxmlformats.org/drawingml/2006/main" w="0">
            <a:noFill/>
          </a:ln>
        </p:spPr>
      </p:sp>
      <p:sp>
        <p:nvSpPr>
          <p:cNvPr id="18" name="k-3">
            <a:extLst xmlns:a="http://schemas.openxmlformats.org/drawingml/2006/main">
              <a:ext uri="{FF2B5EF4-FFF2-40B4-BE49-F238E27FC236}">
                <a16:creationId xmlns:a16="http://schemas.microsoft.com/office/drawing/2014/main" id="{B7DF10B7-BC63-43F8-A969-9E3A9B46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0522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OUTCOMES</a:t>
            </a:r>
          </a:p>
        </p:txBody>
      </p:sp>
      <p:sp>
        <p:nvSpPr>
          <p:cNvPr id="19" name="v-3">
            <a:extLst xmlns:a="http://schemas.openxmlformats.org/drawingml/2006/main">
              <a:ext uri="{FF2B5EF4-FFF2-40B4-BE49-F238E27FC236}">
                <a16:creationId xmlns:a16="http://schemas.microsoft.com/office/drawing/2014/main" id="{DC4CD479-2366-403F-BB8D-01726E80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705225"/>
            <a:ext cx="7105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Review learner evidence.</a:t>
            </a:r>
          </a:p>
        </p:txBody>
      </p:sp>
      <p:sp>
        <p:nvSpPr>
          <p:cNvPr id="20" name="bar-4">
            <a:extLst xmlns:a="http://schemas.openxmlformats.org/drawingml/2006/main">
              <a:ext uri="{FF2B5EF4-FFF2-40B4-BE49-F238E27FC236}">
                <a16:creationId xmlns:a16="http://schemas.microsoft.com/office/drawing/2014/main" id="{F32FBB1F-CF04-490E-9864-1FDC8403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1066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21" name="label-4">
            <a:extLst xmlns:a="http://schemas.openxmlformats.org/drawingml/2006/main">
              <a:ext uri="{FF2B5EF4-FFF2-40B4-BE49-F238E27FC236}">
                <a16:creationId xmlns:a16="http://schemas.microsoft.com/office/drawing/2014/main" id="{8A48642D-76C1-4916-8069-3CEA069FA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2190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A1482C"/>
          </a:solidFill>
          <a:ln xmlns:a="http://schemas.openxmlformats.org/drawingml/2006/main" w="0">
            <a:noFill/>
          </a:ln>
        </p:spPr>
      </p:sp>
      <p:sp>
        <p:nvSpPr>
          <p:cNvPr id="22" name="k-4">
            <a:extLst xmlns:a="http://schemas.openxmlformats.org/drawingml/2006/main">
              <a:ext uri="{FF2B5EF4-FFF2-40B4-BE49-F238E27FC236}">
                <a16:creationId xmlns:a16="http://schemas.microsoft.com/office/drawing/2014/main" id="{6C31A107-98E3-4C79-9B34-2104C49F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REVIEW</a:t>
            </a:r>
          </a:p>
        </p:txBody>
      </p:sp>
      <p:sp>
        <p:nvSpPr>
          <p:cNvPr id="23" name="v-4">
            <a:extLst xmlns:a="http://schemas.openxmlformats.org/drawingml/2006/main">
              <a:ext uri="{FF2B5EF4-FFF2-40B4-BE49-F238E27FC236}">
                <a16:creationId xmlns:a16="http://schemas.microsoft.com/office/drawing/2014/main" id="{C162E0B9-4E67-4165-AD29-FE94DBEE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381500"/>
            <a:ext cx="8058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Verify with feedback.</a:t>
            </a:r>
          </a:p>
        </p:txBody>
      </p:sp>
      <p:sp>
        <p:nvSpPr>
          <p:cNvPr id="24" name="evidence">
            <a:extLst xmlns:a="http://schemas.openxmlformats.org/drawingml/2006/main">
              <a:ext uri="{FF2B5EF4-FFF2-40B4-BE49-F238E27FC236}">
                <a16:creationId xmlns:a16="http://schemas.microsoft.com/office/drawing/2014/main" id="{566A2B94-70F7-4E36-AA52-5B839E3A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1970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4D6657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4D6657"/>
                </a:solidFill>
                <a:latin typeface="Nimbus Sans"/>
                <a:ea typeface="Nimbus Sans"/>
                <a:cs typeface="Nimbus Sans"/>
              </a:rPr>
              <a:t>EVIDENCE: Each signal stays bounded.</a:t>
            </a:r>
          </a:p>
        </p:txBody>
      </p:sp>
      <p:sp>
        <p:nvSpPr>
          <p:cNvPr id="25" name="inference">
            <a:extLst xmlns:a="http://schemas.openxmlformats.org/drawingml/2006/main">
              <a:ext uri="{FF2B5EF4-FFF2-40B4-BE49-F238E27FC236}">
                <a16:creationId xmlns:a16="http://schemas.microsoft.com/office/drawing/2014/main" id="{42D5BF51-0FD8-4FC9-89F1-143C23789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21970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INFERENCE: Stacks improve fairness.</a:t>
            </a:r>
          </a:p>
        </p:txBody>
      </p:sp>
      <p:sp>
        <p:nvSpPr>
          <p:cNvPr id="26" name="next">
            <a:extLst xmlns:a="http://schemas.openxmlformats.org/drawingml/2006/main">
              <a:ext uri="{FF2B5EF4-FFF2-40B4-BE49-F238E27FC236}">
                <a16:creationId xmlns:a16="http://schemas.microsoft.com/office/drawing/2014/main" id="{D240B1BC-9D80-4B74-8355-81D85B812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29300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1482C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A1482C"/>
                </a:solidFill>
                <a:latin typeface="Nimbus Sans"/>
                <a:ea typeface="Nimbus Sans"/>
                <a:cs typeface="Nimbus Sans"/>
              </a:rPr>
              <a:t>NEXT: AI and learning access</a:t>
            </a:r>
          </a:p>
        </p:txBody>
      </p:sp>
    </p:spTree>
    <p:extLst>
      <p:ext uri="{BB962C8B-B14F-4D97-AF65-F5344CB8AC3E}">
        <p14:creationId xmlns:p14="http://schemas.microsoft.com/office/powerpoint/2010/main" val="2922349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2026-09-25T02:28:17.8930000Z</dcterms:created>
  <dcterms:modified xsi:type="dcterms:W3CDTF">2026-09-25T02:28:17.8930000Z</dcterms:modified>
</coreProperties>
</file>