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3afc76268425a" /><Relationship Type="http://schemas.openxmlformats.org/officeDocument/2006/relationships/extended-properties" Target="/docProps/app.xml" Id="R3cb228e01600466f" /><Relationship Type="http://schemas.openxmlformats.org/officeDocument/2006/relationships/officeDocument" Target="/ppt/presentation.xml" Id="Rbba9b5dd3645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354010c1e4974"/>
  </p:sldMasterIdLst>
  <p:notesMasterIdLst>
    <p:notesMasterId xmlns:r="http://schemas.openxmlformats.org/officeDocument/2006/relationships" r:id="Rb1bb7acf35a7476d"/>
  </p:notesMasterIdLst>
  <p:sldIdLst>
    <p:sldId xmlns:r="http://schemas.openxmlformats.org/officeDocument/2006/relationships" id="256" r:id="R9e99f8b60cd54ad8"/>
    <p:sldId xmlns:r="http://schemas.openxmlformats.org/officeDocument/2006/relationships" id="257" r:id="Rc1c676e06ca64e80"/>
    <p:sldId xmlns:r="http://schemas.openxmlformats.org/officeDocument/2006/relationships" id="258" r:id="Rfa6bfbd52b5c4041"/>
    <p:sldId xmlns:r="http://schemas.openxmlformats.org/officeDocument/2006/relationships" id="259" r:id="R2f2ec1781eab4978"/>
    <p:sldId xmlns:r="http://schemas.openxmlformats.org/officeDocument/2006/relationships" id="260" r:id="R8b583836e99d4017"/>
    <p:sldId xmlns:r="http://schemas.openxmlformats.org/officeDocument/2006/relationships" id="261" r:id="R429c7dfe3cb44381"/>
    <p:sldId xmlns:r="http://schemas.openxmlformats.org/officeDocument/2006/relationships" id="262" r:id="R0bdcfcb9fc5a42d3"/>
    <p:sldId xmlns:r="http://schemas.openxmlformats.org/officeDocument/2006/relationships" id="263" r:id="Re544baa0473942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80db68e8454f72" /><Relationship Type="http://schemas.openxmlformats.org/officeDocument/2006/relationships/slideMaster" Target="/ppt/slideMasters/slideMaster1.xml" Id="Ra96354010c1e4974" /><Relationship Type="http://schemas.openxmlformats.org/officeDocument/2006/relationships/notesMaster" Target="/ppt/notesMasters/notesMaster1.xml" Id="Rb1bb7acf35a7476d" /><Relationship Type="http://schemas.openxmlformats.org/officeDocument/2006/relationships/presProps" Target="/ppt/presProps.xml" Id="Rb001f67f39fa48fc" /><Relationship Type="http://schemas.openxmlformats.org/officeDocument/2006/relationships/tableStyles" Target="/ppt/tableStyles.xml" Id="Ra4e3f75a3f764338" /><Relationship Type="http://schemas.openxmlformats.org/officeDocument/2006/relationships/slide" Target="/ppt/slides/slide1.xml" Id="R9e99f8b60cd54ad8" /><Relationship Type="http://schemas.openxmlformats.org/officeDocument/2006/relationships/slide" Target="/ppt/slides/slide2.xml" Id="Rc1c676e06ca64e80" /><Relationship Type="http://schemas.openxmlformats.org/officeDocument/2006/relationships/slide" Target="/ppt/slides/slide3.xml" Id="Rfa6bfbd52b5c4041" /><Relationship Type="http://schemas.openxmlformats.org/officeDocument/2006/relationships/slide" Target="/ppt/slides/slide4.xml" Id="R2f2ec1781eab4978" /><Relationship Type="http://schemas.openxmlformats.org/officeDocument/2006/relationships/slide" Target="/ppt/slides/slide5.xml" Id="R8b583836e99d4017" /><Relationship Type="http://schemas.openxmlformats.org/officeDocument/2006/relationships/slide" Target="/ppt/slides/slide6.xml" Id="R429c7dfe3cb44381" /><Relationship Type="http://schemas.openxmlformats.org/officeDocument/2006/relationships/slide" Target="/ppt/slides/slide7.xml" Id="R0bdcfcb9fc5a42d3" /><Relationship Type="http://schemas.openxmlformats.org/officeDocument/2006/relationships/slide" Target="/ppt/slides/slide8.xml" Id="Re544baa04739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b0a674685140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9bbee9c4ac41fb" /><Relationship Type="http://schemas.openxmlformats.org/officeDocument/2006/relationships/notesMaster" Target="/ppt/notesMasters/notesMaster1.xml" Id="Rdba4f3b8e17a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c1c5396fe44905" /><Relationship Type="http://schemas.openxmlformats.org/officeDocument/2006/relationships/notesMaster" Target="/ppt/notesMasters/notesMaster1.xml" Id="Rfdfe4950690c4e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2177b007fd40db" /><Relationship Type="http://schemas.openxmlformats.org/officeDocument/2006/relationships/notesMaster" Target="/ppt/notesMasters/notesMaster1.xml" Id="R49829acaa7654f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cf62fb4f943d3" /><Relationship Type="http://schemas.openxmlformats.org/officeDocument/2006/relationships/notesMaster" Target="/ppt/notesMasters/notesMaster1.xml" Id="Rc65e7022f90d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90b8477fc4bef" /><Relationship Type="http://schemas.openxmlformats.org/officeDocument/2006/relationships/notesMaster" Target="/ppt/notesMasters/notesMaster1.xml" Id="R038636a6bc5c40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872a8a5904442" /><Relationship Type="http://schemas.openxmlformats.org/officeDocument/2006/relationships/notesMaster" Target="/ppt/notesMasters/notesMaster1.xml" Id="R95241daa358341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b5fde013f2478b" /><Relationship Type="http://schemas.openxmlformats.org/officeDocument/2006/relationships/notesMaster" Target="/ppt/notesMasters/notesMaster1.xml" Id="R2421c4398a6449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27c575332a46ec" /><Relationship Type="http://schemas.openxmlformats.org/officeDocument/2006/relationships/notesMaster" Target="/ppt/notesMasters/notesMaster1.xml" Id="Ra0695ad2049c4d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English spread historically.</a:t>
            </a:r>
          </a:p>
          <a:p xmlns:a="http://schemas.openxmlformats.org/drawingml/2006/main">
            <a:r>
              <a:t>Evidence: Institutions maintained reach.</a:t>
            </a:r>
          </a:p>
          <a:p xmlns:a="http://schemas.openxmlformats.org/drawingml/2006/main">
            <a:r>
              <a:t>Inference: Advantages reinforced themselves.</a:t>
            </a:r>
          </a:p>
          <a:p xmlns:a="http://schemas.openxmlformats.org/drawingml/2006/main">
            <a:r>
              <a:t>Unproven: English won naturally.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https://www.cambridge.org/core/books/english-as-a-global-language/690D300092A3B5E4733677FCC9A42E98/listing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Several forces overlapped.</a:t>
            </a:r>
          </a:p>
          <a:p xmlns:a="http://schemas.openxmlformats.org/drawingml/2006/main">
            <a:r>
              <a:t>Inference: Advantages reinforced themselves.</a:t>
            </a:r>
          </a:p>
          <a:p xmlns:a="http://schemas.openxmlformats.org/drawingml/2006/main">
            <a:r>
              <a:t>Unproven: One cause explains everything.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https://www.cambridge.org/core/books/english-as-a-global-language/690D300092A3B5E4733677FCC9A42E98/listing</a:t>
            </a:r>
          </a:p>
          <a:p xmlns:a="http://schemas.openxmlformats.org/drawingml/2006/main">
            <a:r>
              <a:t>https://journals.librarypublishing.arizona.edu/cms/article/id/6710/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Empire extended English networks.</a:t>
            </a:r>
          </a:p>
          <a:p xmlns:a="http://schemas.openxmlformats.org/drawingml/2006/main">
            <a:r>
              <a:t>Inference: Infrastructure widened language reach.</a:t>
            </a:r>
          </a:p>
          <a:p xmlns:a="http://schemas.openxmlformats.org/drawingml/2006/main">
            <a:r>
              <a:t>Unproven: English was inherently superior.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https://www.cambridge.org/core/books/english-as-a-global-language/690D300092A3B5E4733677FCC9A42E98/listing</a:t>
            </a:r>
          </a:p>
          <a:p xmlns:a="http://schemas.openxmlformats.org/drawingml/2006/main">
            <a:r>
              <a:t>https://journals.librarypublishing.arizona.edu/cms/article/id/6710/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American power expanded later.</a:t>
            </a:r>
          </a:p>
          <a:p xmlns:a="http://schemas.openxmlformats.org/drawingml/2006/main">
            <a:r>
              <a:t>Evidence: Media increased English exposure.</a:t>
            </a:r>
          </a:p>
          <a:p xmlns:a="http://schemas.openxmlformats.org/drawingml/2006/main">
            <a:r>
              <a:t>Inference: American power reinforced Britain.</a:t>
            </a:r>
          </a:p>
          <a:p xmlns:a="http://schemas.openxmlformats.org/drawingml/2006/main">
            <a:r>
              <a:t>Unproven: America acted alone.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https://www.cambridge.org/core/books/english-as-a-global-language/690D300092A3B5E4733677FCC9A42E98/listing</a:t>
            </a:r>
          </a:p>
          <a:p xmlns:a="http://schemas.openxmlformats.org/drawingml/2006/main">
            <a:r>
              <a:t>https://journals.librarypublishing.arizona.edu/cms/article/id/6710/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Aviation requires English proficiency.</a:t>
            </a:r>
          </a:p>
          <a:p xmlns:a="http://schemas.openxmlformats.org/drawingml/2006/main">
            <a:r>
              <a:t>Evidence: Diplomacy remains multilingual.</a:t>
            </a:r>
          </a:p>
          <a:p xmlns:a="http://schemas.openxmlformats.org/drawingml/2006/main">
            <a:r>
              <a:t>Inference: Institutions rewarded prior knowledge.</a:t>
            </a:r>
          </a:p>
          <a:p xmlns:a="http://schemas.openxmlformats.org/drawingml/2006/main">
            <a:r>
              <a:t>Unproven: English became universally required.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https://www.icao.int/safety/lpr/pages/language-proficiency-requirements.aspx</a:t>
            </a:r>
          </a:p>
          <a:p xmlns:a="http://schemas.openxmlformats.org/drawingml/2006/main">
            <a:r>
              <a:t>https://www.un.org/en/our-work/official-languages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ARPANET used American institutions.</a:t>
            </a:r>
          </a:p>
          <a:p xmlns:a="http://schemas.openxmlformats.org/drawingml/2006/main">
            <a:r>
              <a:t>Evidence: DNS uses ASCII encoding.</a:t>
            </a:r>
          </a:p>
          <a:p xmlns:a="http://schemas.openxmlformats.org/drawingml/2006/main">
            <a:r>
              <a:t>Evidence: English led measured websites.</a:t>
            </a:r>
          </a:p>
          <a:p xmlns:a="http://schemas.openxmlformats.org/drawingml/2006/main">
            <a:r>
              <a:t>Inference: Technology amplified prior power.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https://www.internetsociety.org/internet/history-internet/brief-history-internet/</a:t>
            </a:r>
          </a:p>
          <a:p xmlns:a="http://schemas.openxmlformats.org/drawingml/2006/main">
            <a:r>
              <a:t>https://www.icann.org/resources/pages/idn-2012-02-25-en</a:t>
            </a:r>
          </a:p>
          <a:p xmlns:a="http://schemas.openxmlformats.org/drawingml/2006/main">
            <a:r>
              <a:t>https://w3techs.com/technologies/overview/content_language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Rival languages retained status.</a:t>
            </a:r>
          </a:p>
          <a:p xmlns:a="http://schemas.openxmlformats.org/drawingml/2006/main">
            <a:r>
              <a:t>Evidence: Multilingual law still operates.</a:t>
            </a:r>
          </a:p>
          <a:p xmlns:a="http://schemas.openxmlformats.org/drawingml/2006/main">
            <a:r>
              <a:t>Inference: Rival systems limited monopoly.</a:t>
            </a:r>
          </a:p>
          <a:p xmlns:a="http://schemas.openxmlformats.org/drawingml/2006/main">
            <a:r>
              <a:t>Unproven: English erased every rival.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https://www.un.org/en/our-work/official-languages</a:t>
            </a:r>
          </a:p>
          <a:p xmlns:a="http://schemas.openxmlformats.org/drawingml/2006/main">
            <a:r>
              <a:t>https://eur-lex.europa.eu/oj/direct-access.html</a:t>
            </a:r>
          </a:p>
          <a:p xmlns:a="http://schemas.openxmlformats.org/drawingml/2006/main">
            <a:r>
              <a:t>https://www.cambridge.org/core/books/english-as-a-global-language/690D300092A3B5E4733677FCC9A42E98/listing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Sources appear above.</a:t>
            </a:r>
          </a:p>
          <a:p xmlns:a="http://schemas.openxmlformats.org/drawingml/2006/main">
            <a:r>
              <a:t>Inference: Claims stay labelled.</a:t>
            </a:r>
          </a:p>
          <a:p xmlns:a="http://schemas.openxmlformats.org/drawingml/2006/main">
            <a:r>
              <a:t>Unproven claims stay visible.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https://www.cambridge.org/core/books/english-as-a-global-language/690D300092A3B5E4733677FCC9A42E98/listing</a:t>
            </a:r>
          </a:p>
          <a:p xmlns:a="http://schemas.openxmlformats.org/drawingml/2006/main">
            <a:r>
              <a:t>https://journals.librarypublishing.arizona.edu/cms/article/id/6710/</a:t>
            </a:r>
          </a:p>
          <a:p xmlns:a="http://schemas.openxmlformats.org/drawingml/2006/main">
            <a:r>
              <a:t>https://www.internetsociety.org/internet/history-internet/brief-history-internet/</a:t>
            </a:r>
          </a:p>
          <a:p xmlns:a="http://schemas.openxmlformats.org/drawingml/2006/main">
            <a:r>
              <a:t>https://www.icann.org/resources/pages/idn-2012-02-25-en</a:t>
            </a:r>
          </a:p>
          <a:p xmlns:a="http://schemas.openxmlformats.org/drawingml/2006/main">
            <a:r>
              <a:t>https://w3techs.com/technologies/overview/content_language</a:t>
            </a:r>
          </a:p>
          <a:p xmlns:a="http://schemas.openxmlformats.org/drawingml/2006/main">
            <a:r>
              <a:t>https://www.icao.int/safety/lpr/pages/language-proficiency-requirements.aspx</a:t>
            </a:r>
          </a:p>
          <a:p xmlns:a="http://schemas.openxmlformats.org/drawingml/2006/main">
            <a:r>
              <a:t>https://www.un.org/en/our-work/official-languages</a:t>
            </a:r>
          </a:p>
          <a:p xmlns:a="http://schemas.openxmlformats.org/drawingml/2006/main">
            <a:r>
              <a:t>https://eur-lex.europa.eu/oj/direct-access.html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e7ce9632e43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18bdfe01fe4d01" /><Relationship Type="http://schemas.openxmlformats.org/officeDocument/2006/relationships/slideLayout" Target="/ppt/slideLayouts/slideLayout1.xml" Id="R881b6d6864b1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b6d6864b1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e8680295e4b44" /><Relationship Type="http://schemas.openxmlformats.org/officeDocument/2006/relationships/image" Target="/ppt/media/image.png" Id="R536395a7c7714c16" /><Relationship Type="http://schemas.openxmlformats.org/officeDocument/2006/relationships/notesSlide" Target="/ppt/notesSlides/notesSlide1.xml" Id="Rdade33f6d3624c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3ff4ce01b45ab" /><Relationship Type="http://schemas.openxmlformats.org/officeDocument/2006/relationships/notesSlide" Target="/ppt/notesSlides/notesSlide2.xml" Id="R2bd25344929e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8f4d521774fab" /><Relationship Type="http://schemas.openxmlformats.org/officeDocument/2006/relationships/notesSlide" Target="/ppt/notesSlides/notesSlide3.xml" Id="Rf6f510b4fd914d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b0911ece04e9b" /><Relationship Type="http://schemas.openxmlformats.org/officeDocument/2006/relationships/notesSlide" Target="/ppt/notesSlides/notesSlide4.xml" Id="Rc41ad193b845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c3dffd7cf416e" /><Relationship Type="http://schemas.openxmlformats.org/officeDocument/2006/relationships/notesSlide" Target="/ppt/notesSlides/notesSlide5.xml" Id="Rd9ba2bfae6e44f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26f28ac904444" /><Relationship Type="http://schemas.openxmlformats.org/officeDocument/2006/relationships/notesSlide" Target="/ppt/notesSlides/notesSlide6.xml" Id="Rc3a112b4458f4f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657993a2042b3" /><Relationship Type="http://schemas.openxmlformats.org/officeDocument/2006/relationships/notesSlide" Target="/ppt/notesSlides/notesSlide7.xml" Id="Rea97636f44d44d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8a01814db46ed" /><Relationship Type="http://schemas.openxmlformats.org/officeDocument/2006/relationships/notesSlide" Target="/ppt/notesSlides/notesSlide8.xml" Id="Rdd99681c2e8547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395a7c7714c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EAF5E22-2E18-4ADA-8DA3-A0F3A7E7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867F5-95AF-4206-A4A6-C7137EE4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5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Why English</a:t>
            </a:r>
          </a:p>
          <a:p xmlns:a="http://schemas.openxmlformats.org/drawingml/2006/main">
            <a:pPr algn="l">
              <a:defRPr sz="45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5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Dominated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44B56C5-769F-4704-8DEA-848C0334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POWER BUILT NETWORK EFFECTS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555900DF-3DDF-43E4-BA47-86C33A5B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B69A7A37-7DE7-4942-8EA8-2EBA7FC6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910288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988AA93B-E82D-4C24-8CC2-00091EAE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 single cause explains dominance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90575D5-F12E-4636-A522-82A8B663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D3D78557-C521-482F-8C4A-0F563519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06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1AD06D19-AE56-4E8D-AB4A-5FE2116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31F68826-21D1-4BF4-873B-D02D6830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CF888283-9677-4899-8C8C-CBB29E07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POWER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57674148-A340-4F97-89CC-76B49413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91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Empire</a:t>
            </a:r>
          </a:p>
        </p:txBody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F698FE79-98DA-40F9-ABB5-FB727311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Networks crossed borders.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3594F859-45AD-4748-8C30-D604725A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band-1">
            <a:extLst xmlns:a="http://schemas.openxmlformats.org/drawingml/2006/main">
              <a:ext uri="{FF2B5EF4-FFF2-40B4-BE49-F238E27FC236}">
                <a16:creationId xmlns:a16="http://schemas.microsoft.com/office/drawing/2014/main" id="{639A0E6E-E582-44CF-A8F0-7CFCAEAA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0F6AA510-8B6A-4A30-8A76-74068B61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INSTITUTIONS</a:t>
            </a:r>
          </a:p>
        </p:txBody>
      </p:sp>
      <p:sp>
        <p:nvSpPr>
          <p:cNvPr id="12" name="big-1">
            <a:extLst xmlns:a="http://schemas.openxmlformats.org/drawingml/2006/main">
              <a:ext uri="{FF2B5EF4-FFF2-40B4-BE49-F238E27FC236}">
                <a16:creationId xmlns:a16="http://schemas.microsoft.com/office/drawing/2014/main" id="{111C6A67-4CA4-481B-A536-9478485A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28900"/>
            <a:ext cx="191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Rules</a:t>
            </a:r>
          </a:p>
        </p:txBody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80B2F668-8B75-42CB-8270-8622AD9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76650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Systems rewarded English.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CAAF5BEE-70D7-48A7-9ECB-8963DF0A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band-2">
            <a:extLst xmlns:a="http://schemas.openxmlformats.org/drawingml/2006/main">
              <a:ext uri="{FF2B5EF4-FFF2-40B4-BE49-F238E27FC236}">
                <a16:creationId xmlns:a16="http://schemas.microsoft.com/office/drawing/2014/main" id="{07629737-9133-418C-8AAA-A3B24403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6" name="k-2">
            <a:extLst xmlns:a="http://schemas.openxmlformats.org/drawingml/2006/main">
              <a:ext uri="{FF2B5EF4-FFF2-40B4-BE49-F238E27FC236}">
                <a16:creationId xmlns:a16="http://schemas.microsoft.com/office/drawing/2014/main" id="{D881F16A-D5F7-4E1C-B63B-6E23027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CULTURE</a:t>
            </a:r>
          </a:p>
        </p:txBody>
      </p:sp>
      <p:sp>
        <p:nvSpPr>
          <p:cNvPr id="17" name="big-2">
            <a:extLst xmlns:a="http://schemas.openxmlformats.org/drawingml/2006/main">
              <a:ext uri="{FF2B5EF4-FFF2-40B4-BE49-F238E27FC236}">
                <a16:creationId xmlns:a16="http://schemas.microsoft.com/office/drawing/2014/main" id="{3B23E513-8BC2-4B91-B1FA-1CCA21B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191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Media</a:t>
            </a:r>
          </a:p>
        </p:txBody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40033C91-2235-401F-9787-46D6E105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76650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Content travelled widely.</a:t>
            </a:r>
          </a:p>
        </p:txBody>
      </p:sp>
      <p:sp>
        <p:nvSpPr>
          <p:cNvPr id="19" name="card-3">
            <a:extLst xmlns:a="http://schemas.openxmlformats.org/drawingml/2006/main">
              <a:ext uri="{FF2B5EF4-FFF2-40B4-BE49-F238E27FC236}">
                <a16:creationId xmlns:a16="http://schemas.microsoft.com/office/drawing/2014/main" id="{D4943B36-E8C8-4384-8AD2-CBE48385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0" name="band-3">
            <a:extLst xmlns:a="http://schemas.openxmlformats.org/drawingml/2006/main">
              <a:ext uri="{FF2B5EF4-FFF2-40B4-BE49-F238E27FC236}">
                <a16:creationId xmlns:a16="http://schemas.microsoft.com/office/drawing/2014/main" id="{B6882D33-6BE3-49BD-9DB5-5E58B403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1" name="k-3">
            <a:extLst xmlns:a="http://schemas.openxmlformats.org/drawingml/2006/main">
              <a:ext uri="{FF2B5EF4-FFF2-40B4-BE49-F238E27FC236}">
                <a16:creationId xmlns:a16="http://schemas.microsoft.com/office/drawing/2014/main" id="{9E8EB6BA-D7AF-475E-9FAB-BF52CD0B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TECHNOLOGY</a:t>
            </a:r>
          </a:p>
        </p:txBody>
      </p:sp>
      <p:sp>
        <p:nvSpPr>
          <p:cNvPr id="22" name="big-3">
            <a:extLst xmlns:a="http://schemas.openxmlformats.org/drawingml/2006/main">
              <a:ext uri="{FF2B5EF4-FFF2-40B4-BE49-F238E27FC236}">
                <a16:creationId xmlns:a16="http://schemas.microsoft.com/office/drawing/2014/main" id="{D62E70BE-2637-417D-B36E-B8D1923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28900"/>
            <a:ext cx="191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Scale</a:t>
            </a:r>
          </a:p>
        </p:txBody>
      </p:sp>
      <p:sp>
        <p:nvSpPr>
          <p:cNvPr id="23" name="small-3">
            <a:extLst xmlns:a="http://schemas.openxmlformats.org/drawingml/2006/main">
              <a:ext uri="{FF2B5EF4-FFF2-40B4-BE49-F238E27FC236}">
                <a16:creationId xmlns:a16="http://schemas.microsoft.com/office/drawing/2014/main" id="{0FA48F36-6F6E-4369-B78B-C6D06C2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Existing advantages multiplied.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4BB7D074-3DFA-4059-8B83-DFFAE23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Advantages accumulated over time.</a:t>
            </a:r>
          </a:p>
        </p:txBody>
      </p:sp>
    </p:spTree>
    <p:extLst>
      <p:ext uri="{BB962C8B-B14F-4D97-AF65-F5344CB8AC3E}">
        <p14:creationId xmlns:p14="http://schemas.microsoft.com/office/powerpoint/2010/main" val="62106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8AF1D231-BB7C-4098-9EAC-200240BF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Britain built global networks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9855D8B-FE36-4B65-B950-A3770015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50097726-DC17-4EBA-AB7A-87109489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06 / 03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1E405DF3-1FCB-4EE7-8F12-4E0D334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52725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D8F0AA58-E940-496A-B6BA-66442D1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362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9D60D393-6783-4FCF-AE92-8D71CE6C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3622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head-0">
            <a:extLst xmlns:a="http://schemas.openxmlformats.org/drawingml/2006/main">
              <a:ext uri="{FF2B5EF4-FFF2-40B4-BE49-F238E27FC236}">
                <a16:creationId xmlns:a16="http://schemas.microsoft.com/office/drawing/2014/main" id="{742A5E4F-0CA9-4D39-A557-25F9DF18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Trade routes</a:t>
            </a:r>
          </a:p>
        </p:txBody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82801EB2-535D-447C-9955-9975321F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Goods crossed oceans.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AA2D6F16-4099-4524-BE54-6F12D04D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62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D2424448-F0A6-4638-8732-B784A977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622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head-1">
            <a:extLst xmlns:a="http://schemas.openxmlformats.org/drawingml/2006/main">
              <a:ext uri="{FF2B5EF4-FFF2-40B4-BE49-F238E27FC236}">
                <a16:creationId xmlns:a16="http://schemas.microsoft.com/office/drawing/2014/main" id="{DE607CEB-D697-4690-8A3F-A40E820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Telegraph cables</a:t>
            </a:r>
          </a:p>
        </p:txBody>
      </p:sp>
      <p:sp>
        <p:nvSpPr>
          <p:cNvPr id="12" name="small-1">
            <a:extLst xmlns:a="http://schemas.openxmlformats.org/drawingml/2006/main">
              <a:ext uri="{FF2B5EF4-FFF2-40B4-BE49-F238E27FC236}">
                <a16:creationId xmlns:a16="http://schemas.microsoft.com/office/drawing/2014/main" id="{786ED8CF-BCDD-4639-B2F4-AC7A41BD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386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Messages moved faster.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88627746-0645-4FAD-8C04-DF46B66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62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55C0E54B-4103-4964-8363-ECEBDB46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622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head-2">
            <a:extLst xmlns:a="http://schemas.openxmlformats.org/drawingml/2006/main">
              <a:ext uri="{FF2B5EF4-FFF2-40B4-BE49-F238E27FC236}">
                <a16:creationId xmlns:a16="http://schemas.microsoft.com/office/drawing/2014/main" id="{77C8B7D0-B681-46E4-A5D5-581BC802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Colonial offices</a:t>
            </a:r>
          </a:p>
        </p:txBody>
      </p:sp>
      <p:sp>
        <p:nvSpPr>
          <p:cNvPr id="16" name="small-2">
            <a:extLst xmlns:a="http://schemas.openxmlformats.org/drawingml/2006/main">
              <a:ext uri="{FF2B5EF4-FFF2-40B4-BE49-F238E27FC236}">
                <a16:creationId xmlns:a16="http://schemas.microsoft.com/office/drawing/2014/main" id="{C93F5228-13F7-410A-B952-716392A0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gained authority.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6D5EF6E6-F526-4228-804C-2C34427E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62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984FCB90-B520-4057-BFB4-44C7AEBF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622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head-3">
            <a:extLst xmlns:a="http://schemas.openxmlformats.org/drawingml/2006/main">
              <a:ext uri="{FF2B5EF4-FFF2-40B4-BE49-F238E27FC236}">
                <a16:creationId xmlns:a16="http://schemas.microsoft.com/office/drawing/2014/main" id="{3C657BF6-0603-4AF9-8579-9D4BF64D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School systems</a:t>
            </a:r>
          </a:p>
        </p:txBody>
      </p:sp>
      <p:sp>
        <p:nvSpPr>
          <p:cNvPr id="20" name="small-3">
            <a:extLst xmlns:a="http://schemas.openxmlformats.org/drawingml/2006/main">
              <a:ext uri="{FF2B5EF4-FFF2-40B4-BE49-F238E27FC236}">
                <a16:creationId xmlns:a16="http://schemas.microsoft.com/office/drawing/2014/main" id="{A26AD55C-1F27-4C15-B31E-388AC3A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New speakers emerged.</a:t>
            </a:r>
          </a:p>
        </p:txBody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E59F726E-B134-43F1-9C97-A121BF4B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Empire spread infrastructure, not superiority.</a:t>
            </a:r>
          </a:p>
        </p:txBody>
      </p:sp>
    </p:spTree>
    <p:extLst>
      <p:ext uri="{BB962C8B-B14F-4D97-AF65-F5344CB8AC3E}">
        <p14:creationId xmlns:p14="http://schemas.microsoft.com/office/powerpoint/2010/main" val="620257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15B456C1-E444-4693-AC39-4CC4611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America reinforced existing networks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250D61A-03BF-47E6-AEB1-A9D0D0F6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C468FE14-E5F8-40E1-AE5E-0CC63285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06 / 04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81BE4695-A2A7-480D-AA36-6AF8D097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98F79426-2159-42CB-8F2D-0E5A04E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4E7FDF14-78AF-4D94-88B8-F2393BA7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ECONOMY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DF262DEC-4E6B-4089-8812-687EF09F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85925"/>
            <a:ext cx="747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Trade rewarded English.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A2F6CF32-1E22-45D1-84E8-A3340CC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3B849CC7-3323-4D61-B835-C75D1F51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DBE5E8BB-9637-4C1E-B3EA-7AFECC8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RESEARCH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F6A5DC27-CEE3-432D-BE26-E610C782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747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Universities attracted scholars.</a:t>
            </a:r>
          </a:p>
        </p:txBody>
      </p:sp>
      <p:sp>
        <p:nvSpPr>
          <p:cNvPr id="12" name="row-2">
            <a:extLst xmlns:a="http://schemas.openxmlformats.org/drawingml/2006/main">
              <a:ext uri="{FF2B5EF4-FFF2-40B4-BE49-F238E27FC236}">
                <a16:creationId xmlns:a16="http://schemas.microsoft.com/office/drawing/2014/main" id="{D6BEF48F-20A0-4616-B25B-7AC59084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ACC0F757-83F4-4B45-81B3-D012D257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4" name="k-2">
            <a:extLst xmlns:a="http://schemas.openxmlformats.org/drawingml/2006/main">
              <a:ext uri="{FF2B5EF4-FFF2-40B4-BE49-F238E27FC236}">
                <a16:creationId xmlns:a16="http://schemas.microsoft.com/office/drawing/2014/main" id="{49793B46-168B-4800-B66C-18760BA5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MEDIA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97EF3CF4-14C0-4EB7-9830-E2DA67E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33775"/>
            <a:ext cx="747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Films and music travelled.</a:t>
            </a:r>
          </a:p>
        </p:txBody>
      </p:sp>
      <p:sp>
        <p:nvSpPr>
          <p:cNvPr id="16" name="row-3">
            <a:extLst xmlns:a="http://schemas.openxmlformats.org/drawingml/2006/main">
              <a:ext uri="{FF2B5EF4-FFF2-40B4-BE49-F238E27FC236}">
                <a16:creationId xmlns:a16="http://schemas.microsoft.com/office/drawing/2014/main" id="{D16E8414-20C6-4F25-A0E1-E2D7A6D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A82AD46B-DD82-4893-A8B8-E948CACF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k-3">
            <a:extLst xmlns:a="http://schemas.openxmlformats.org/drawingml/2006/main">
              <a:ext uri="{FF2B5EF4-FFF2-40B4-BE49-F238E27FC236}">
                <a16:creationId xmlns:a16="http://schemas.microsoft.com/office/drawing/2014/main" id="{FD7E700F-5F95-45BC-9B92-EE88FC2D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TECHNOLOGY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D531F203-3E8B-44C1-84C5-D64277B1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47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Platforms reached globally.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ECB837E7-BB1A-416E-AF7D-EA67A2F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Earlier networks gained new force.</a:t>
            </a:r>
          </a:p>
        </p:txBody>
      </p:sp>
    </p:spTree>
    <p:extLst>
      <p:ext uri="{BB962C8B-B14F-4D97-AF65-F5344CB8AC3E}">
        <p14:creationId xmlns:p14="http://schemas.microsoft.com/office/powerpoint/2010/main" val="1096987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646DBA7A-B8CC-4835-A66A-D13AB183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Institutions rewarded shared language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89B36DD-E2B5-4572-B372-8203143E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CE6E9D41-899D-4D89-B856-650341CA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06 / 05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9B8392FB-6926-472A-9AA7-B19B4449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895600" cy="3048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k-0">
            <a:extLst xmlns:a="http://schemas.openxmlformats.org/drawingml/2006/main">
              <a:ext uri="{FF2B5EF4-FFF2-40B4-BE49-F238E27FC236}">
                <a16:creationId xmlns:a16="http://schemas.microsoft.com/office/drawing/2014/main" id="{B57B41C8-4DD7-4D3F-90C1-358C2797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AVIATION</a:t>
            </a:r>
          </a:p>
        </p:txBody>
      </p:sp>
      <p:sp>
        <p:nvSpPr>
          <p:cNvPr id="6" name="big-0">
            <a:extLst xmlns:a="http://schemas.openxmlformats.org/drawingml/2006/main">
              <a:ext uri="{FF2B5EF4-FFF2-40B4-BE49-F238E27FC236}">
                <a16:creationId xmlns:a16="http://schemas.microsoft.com/office/drawing/2014/main" id="{09D4D62D-3A52-490B-A8FE-118154E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English standards</a:t>
            </a:r>
          </a:p>
        </p:txBody>
      </p:sp>
      <p:sp>
        <p:nvSpPr>
          <p:cNvPr id="7" name="rule-0">
            <a:extLst xmlns:a="http://schemas.openxmlformats.org/drawingml/2006/main">
              <a:ext uri="{FF2B5EF4-FFF2-40B4-BE49-F238E27FC236}">
                <a16:creationId xmlns:a16="http://schemas.microsoft.com/office/drawing/2014/main" id="{D1216C9D-5D58-4329-A77F-EFFAAEAE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4AD95901-3F5A-4AA7-8B1B-0DB21743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Safety rules created demand.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060E60DB-21E8-4EB9-9319-EE9F9D4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90700"/>
            <a:ext cx="2895600" cy="3048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914DD018-3316-4BF7-B61B-B79330EE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669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DIPLOMACY</a:t>
            </a:r>
          </a:p>
        </p:txBody>
      </p:sp>
      <p:sp>
        <p:nvSpPr>
          <p:cNvPr id="11" name="big-1">
            <a:extLst xmlns:a="http://schemas.openxmlformats.org/drawingml/2006/main">
              <a:ext uri="{FF2B5EF4-FFF2-40B4-BE49-F238E27FC236}">
                <a16:creationId xmlns:a16="http://schemas.microsoft.com/office/drawing/2014/main" id="{F09C8D95-D3A1-428E-BBCC-E8CDFE0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Working language</a:t>
            </a:r>
          </a:p>
        </p:txBody>
      </p:sp>
      <p:sp>
        <p:nvSpPr>
          <p:cNvPr id="12" name="rule-1">
            <a:extLst xmlns:a="http://schemas.openxmlformats.org/drawingml/2006/main">
              <a:ext uri="{FF2B5EF4-FFF2-40B4-BE49-F238E27FC236}">
                <a16:creationId xmlns:a16="http://schemas.microsoft.com/office/drawing/2014/main" id="{E71A2C90-8B50-443F-9D6C-6197CEB6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FB8C1CF0-9606-40CE-A3A0-619BB0D0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3380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Translation preserved plurality.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3F21EF74-F2A6-4E93-81AB-0E51F21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90700"/>
            <a:ext cx="2895600" cy="3048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k-2">
            <a:extLst xmlns:a="http://schemas.openxmlformats.org/drawingml/2006/main">
              <a:ext uri="{FF2B5EF4-FFF2-40B4-BE49-F238E27FC236}">
                <a16:creationId xmlns:a16="http://schemas.microsoft.com/office/drawing/2014/main" id="{6C4A1C3B-DE6A-47B4-98E9-2D020A0B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669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RESEARCH</a:t>
            </a:r>
          </a:p>
        </p:txBody>
      </p:sp>
      <p:sp>
        <p:nvSpPr>
          <p:cNvPr id="16" name="big-2">
            <a:extLst xmlns:a="http://schemas.openxmlformats.org/drawingml/2006/main">
              <a:ext uri="{FF2B5EF4-FFF2-40B4-BE49-F238E27FC236}">
                <a16:creationId xmlns:a16="http://schemas.microsoft.com/office/drawing/2014/main" id="{29A0A8ED-D76A-44D2-8DF8-04399BF2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9375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Shared publishing</a:t>
            </a:r>
          </a:p>
        </p:txBody>
      </p:sp>
      <p:sp>
        <p:nvSpPr>
          <p:cNvPr id="17" name="rule-2">
            <a:extLst xmlns:a="http://schemas.openxmlformats.org/drawingml/2006/main">
              <a:ext uri="{FF2B5EF4-FFF2-40B4-BE49-F238E27FC236}">
                <a16:creationId xmlns:a16="http://schemas.microsoft.com/office/drawing/2014/main" id="{280A8E7D-90E9-4F53-9E3A-1519E7B5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C45CE86F-9E54-48EE-9DAD-CB3E3378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Access rewards accumulated.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9B0ABE20-22FA-489C-8330-6630CA99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7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Shared rules rewarded prior knowledge.</a:t>
            </a:r>
          </a:p>
        </p:txBody>
      </p:sp>
      <p:sp>
        <p:nvSpPr>
          <p:cNvPr id="20" name="limit">
            <a:extLst xmlns:a="http://schemas.openxmlformats.org/drawingml/2006/main">
              <a:ext uri="{FF2B5EF4-FFF2-40B4-BE49-F238E27FC236}">
                <a16:creationId xmlns:a16="http://schemas.microsoft.com/office/drawing/2014/main" id="{7E34A1F3-A00A-4940-A5E1-1C96EC0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Multilingual systems still survived.</a:t>
            </a:r>
          </a:p>
        </p:txBody>
      </p:sp>
    </p:spTree>
    <p:extLst>
      <p:ext uri="{BB962C8B-B14F-4D97-AF65-F5344CB8AC3E}">
        <p14:creationId xmlns:p14="http://schemas.microsoft.com/office/powerpoint/2010/main" val="1414064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FFBA1F66-76D6-41C2-A398-D0F547E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Technology amplified earlier advantage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A87E23-8CDC-4690-ABA6-F528CA5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4231C0D3-29D4-4AC8-A2AB-E90E68E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06 / 06</a:t>
            </a:r>
          </a:p>
        </p:txBody>
      </p:sp>
      <p:sp>
        <p:nvSpPr>
          <p:cNvPr id="4" name="item-0">
            <a:extLst xmlns:a="http://schemas.openxmlformats.org/drawingml/2006/main">
              <a:ext uri="{FF2B5EF4-FFF2-40B4-BE49-F238E27FC236}">
                <a16:creationId xmlns:a16="http://schemas.microsoft.com/office/drawing/2014/main" id="{D4A735AE-606C-4059-B6B4-A22831B2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top-0">
            <a:extLst xmlns:a="http://schemas.openxmlformats.org/drawingml/2006/main">
              <a:ext uri="{FF2B5EF4-FFF2-40B4-BE49-F238E27FC236}">
                <a16:creationId xmlns:a16="http://schemas.microsoft.com/office/drawing/2014/main" id="{1885A537-9580-4E05-ACF7-E412CFAB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2D0EDD9C-7D50-4B51-8C14-D5B6C9FE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EARLY INTERNET</a:t>
            </a:r>
          </a:p>
        </p:txBody>
      </p:sp>
      <p:sp>
        <p:nvSpPr>
          <p:cNvPr id="7" name="head-0">
            <a:extLst xmlns:a="http://schemas.openxmlformats.org/drawingml/2006/main">
              <a:ext uri="{FF2B5EF4-FFF2-40B4-BE49-F238E27FC236}">
                <a16:creationId xmlns:a16="http://schemas.microsoft.com/office/drawing/2014/main" id="{35E0DAC8-9F59-4CCA-974F-B16A2366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US research networks</a:t>
            </a:r>
          </a:p>
        </p:txBody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076AC818-6624-4D8D-A3F8-465B2704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ARPANET began during 1969.</a:t>
            </a:r>
          </a:p>
        </p:txBody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A6B61945-B18C-40E2-8E4A-A33F22C0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top-1">
            <a:extLst xmlns:a="http://schemas.openxmlformats.org/drawingml/2006/main">
              <a:ext uri="{FF2B5EF4-FFF2-40B4-BE49-F238E27FC236}">
                <a16:creationId xmlns:a16="http://schemas.microsoft.com/office/drawing/2014/main" id="{CD7FBC50-C284-4E0D-B6B2-C4B6F208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447B2111-80F6-4DD9-BC95-0E1EEB3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DOMAIN NAMES</a:t>
            </a:r>
          </a:p>
        </p:txBody>
      </p:sp>
      <p:sp>
        <p:nvSpPr>
          <p:cNvPr id="12" name="head-1">
            <a:extLst xmlns:a="http://schemas.openxmlformats.org/drawingml/2006/main">
              <a:ext uri="{FF2B5EF4-FFF2-40B4-BE49-F238E27FC236}">
                <a16:creationId xmlns:a16="http://schemas.microsoft.com/office/drawing/2014/main" id="{0D18035D-FAD9-47A2-926A-A74D5DB8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ASCII foundations</a:t>
            </a:r>
          </a:p>
        </p:txBody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8C80E1C3-E10B-4F41-B02B-58152752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147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Unicode needed later encoding.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D7FADAD0-3AF3-498D-BC5E-0652284C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top-2">
            <a:extLst xmlns:a="http://schemas.openxmlformats.org/drawingml/2006/main">
              <a:ext uri="{FF2B5EF4-FFF2-40B4-BE49-F238E27FC236}">
                <a16:creationId xmlns:a16="http://schemas.microsoft.com/office/drawing/2014/main" id="{492733C6-0D18-4E1E-B820-9D42AFE9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6" name="k-2">
            <a:extLst xmlns:a="http://schemas.openxmlformats.org/drawingml/2006/main">
              <a:ext uri="{FF2B5EF4-FFF2-40B4-BE49-F238E27FC236}">
                <a16:creationId xmlns:a16="http://schemas.microsoft.com/office/drawing/2014/main" id="{C0E218F3-A39E-46E0-997F-05C6BCF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WEB CONTENT</a:t>
            </a:r>
          </a:p>
        </p:txBody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00A6C941-D7D8-4508-82E9-937F671E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49.5% English</a:t>
            </a:r>
          </a:p>
        </p:txBody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C315CA5C-0C24-4978-971B-C8075017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Measured 24 September 2026.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F0455C6E-DCE2-48FA-B314-0DFA5CC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97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Technology inherited existing power.</a:t>
            </a:r>
          </a:p>
        </p:txBody>
      </p:sp>
    </p:spTree>
    <p:extLst>
      <p:ext uri="{BB962C8B-B14F-4D97-AF65-F5344CB8AC3E}">
        <p14:creationId xmlns:p14="http://schemas.microsoft.com/office/powerpoint/2010/main" val="1509245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204B1400-E53C-4E87-BC35-8C842AF2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Rivals never disappeared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1796E5-C9E4-474A-A5DD-DB764A4D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0F981A36-B863-4B76-ABC0-FEB21D8F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06 / 07</a:t>
            </a:r>
          </a:p>
        </p:txBody>
      </p:sp>
      <p:sp>
        <p:nvSpPr>
          <p:cNvPr id="4" name="un">
            <a:extLst xmlns:a="http://schemas.openxmlformats.org/drawingml/2006/main">
              <a:ext uri="{FF2B5EF4-FFF2-40B4-BE49-F238E27FC236}">
                <a16:creationId xmlns:a16="http://schemas.microsoft.com/office/drawing/2014/main" id="{128534D8-24BD-4A52-A4C7-F0F9143E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4953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un-k">
            <a:extLst xmlns:a="http://schemas.openxmlformats.org/drawingml/2006/main">
              <a:ext uri="{FF2B5EF4-FFF2-40B4-BE49-F238E27FC236}">
                <a16:creationId xmlns:a16="http://schemas.microsoft.com/office/drawing/2014/main" id="{9AF173D2-7A6D-4289-87D4-2713218D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00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UNITED NATIONS</a:t>
            </a:r>
          </a:p>
        </p:txBody>
      </p:sp>
      <p:sp>
        <p:nvSpPr>
          <p:cNvPr id="6" name="un-big">
            <a:extLst xmlns:a="http://schemas.openxmlformats.org/drawingml/2006/main">
              <a:ext uri="{FF2B5EF4-FFF2-40B4-BE49-F238E27FC236}">
                <a16:creationId xmlns:a16="http://schemas.microsoft.com/office/drawing/2014/main" id="{6BDE085D-BFA6-4F56-9900-0EFE181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81275"/>
            <a:ext cx="430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Six official languages</a:t>
            </a:r>
          </a:p>
        </p:txBody>
      </p:sp>
      <p:sp>
        <p:nvSpPr>
          <p:cNvPr id="7" name="un-list">
            <a:extLst xmlns:a="http://schemas.openxmlformats.org/drawingml/2006/main">
              <a:ext uri="{FF2B5EF4-FFF2-40B4-BE49-F238E27FC236}">
                <a16:creationId xmlns:a16="http://schemas.microsoft.com/office/drawing/2014/main" id="{DA923DD7-CAAF-4D7C-9401-3319F9BD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861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Arabic · Chinese · English</a:t>
            </a:r>
          </a:p>
        </p:txBody>
      </p:sp>
      <p:sp>
        <p:nvSpPr>
          <p:cNvPr id="8" name="un-list-2">
            <a:extLst xmlns:a="http://schemas.openxmlformats.org/drawingml/2006/main">
              <a:ext uri="{FF2B5EF4-FFF2-40B4-BE49-F238E27FC236}">
                <a16:creationId xmlns:a16="http://schemas.microsoft.com/office/drawing/2014/main" id="{8E4C3A1B-DBD8-4B53-978A-53F619A7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862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French · Russian · Spanish</a:t>
            </a:r>
          </a:p>
        </p:txBody>
      </p:sp>
      <p:sp>
        <p:nvSpPr>
          <p:cNvPr id="9" name="eu">
            <a:extLst xmlns:a="http://schemas.openxmlformats.org/drawingml/2006/main">
              <a:ext uri="{FF2B5EF4-FFF2-40B4-BE49-F238E27FC236}">
                <a16:creationId xmlns:a16="http://schemas.microsoft.com/office/drawing/2014/main" id="{495836EE-5926-4F6C-98AC-C89AD3A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eu-k">
            <a:extLst xmlns:a="http://schemas.openxmlformats.org/drawingml/2006/main">
              <a:ext uri="{FF2B5EF4-FFF2-40B4-BE49-F238E27FC236}">
                <a16:creationId xmlns:a16="http://schemas.microsoft.com/office/drawing/2014/main" id="{04F2C252-566F-48D5-ACA2-10CDC1B7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00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EUROPEAN UNION</a:t>
            </a:r>
          </a:p>
        </p:txBody>
      </p:sp>
      <p:sp>
        <p:nvSpPr>
          <p:cNvPr id="11" name="eu-big">
            <a:extLst xmlns:a="http://schemas.openxmlformats.org/drawingml/2006/main">
              <a:ext uri="{FF2B5EF4-FFF2-40B4-BE49-F238E27FC236}">
                <a16:creationId xmlns:a16="http://schemas.microsoft.com/office/drawing/2014/main" id="{0B56FA58-6A08-4ACD-BE15-F559D043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81275"/>
            <a:ext cx="430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Twenty-four official languages</a:t>
            </a:r>
          </a:p>
        </p:txBody>
      </p:sp>
      <p:sp>
        <p:nvSpPr>
          <p:cNvPr id="12" name="eu-small">
            <a:extLst xmlns:a="http://schemas.openxmlformats.org/drawingml/2006/main">
              <a:ext uri="{FF2B5EF4-FFF2-40B4-BE49-F238E27FC236}">
                <a16:creationId xmlns:a16="http://schemas.microsoft.com/office/drawing/2014/main" id="{0058CBB3-7CC9-473E-AABD-F09FF5A5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385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Law remains multilingual.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F0D0223B-3D9E-40E7-AC3C-597DB13E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1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Dominance never meant monopoly.</a:t>
            </a:r>
          </a:p>
        </p:txBody>
      </p:sp>
      <p:sp>
        <p:nvSpPr>
          <p:cNvPr id="14" name="limit">
            <a:extLst xmlns:a="http://schemas.openxmlformats.org/drawingml/2006/main">
              <a:ext uri="{FF2B5EF4-FFF2-40B4-BE49-F238E27FC236}">
                <a16:creationId xmlns:a16="http://schemas.microsoft.com/office/drawing/2014/main" id="{C24DC145-7F6C-44F4-BB0F-1AFE53D8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Language power can change.</a:t>
            </a:r>
          </a:p>
        </p:txBody>
      </p:sp>
    </p:spTree>
    <p:extLst>
      <p:ext uri="{BB962C8B-B14F-4D97-AF65-F5344CB8AC3E}">
        <p14:creationId xmlns:p14="http://schemas.microsoft.com/office/powerpoint/2010/main" val="406655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5798D65F-CB7F-4140-8734-A6ADC586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Sources and limits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A15347D-4F89-4796-893A-E00A5E66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9BBB80FE-45D9-46EF-9C6F-7215A97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06 / 08</a:t>
            </a:r>
          </a:p>
        </p:txBody>
      </p:sp>
      <p:sp>
        <p:nvSpPr>
          <p:cNvPr id="4" name="source-0">
            <a:extLst xmlns:a="http://schemas.openxmlformats.org/drawingml/2006/main">
              <a:ext uri="{FF2B5EF4-FFF2-40B4-BE49-F238E27FC236}">
                <a16:creationId xmlns:a16="http://schemas.microsoft.com/office/drawing/2014/main" id="{0099D7F3-278B-4BCD-A618-8276364B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Crystal, 2003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7087F267-35D9-404B-B04F-5B67D37D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History and culture</a:t>
            </a:r>
          </a:p>
        </p:txBody>
      </p:sp>
      <p:sp>
        <p:nvSpPr>
          <p:cNvPr id="6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7B21A047-E499-481C-8E69-B7B8D18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8FCE9C8E-D0D0-49D8-A753-93A388C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Internet Society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6D6654A8-4957-46F4-8A21-4897458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Network history</a:t>
            </a:r>
          </a:p>
        </p:txBody>
      </p:sp>
      <p:sp>
        <p:nvSpPr>
          <p:cNvPr id="9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19777A57-61BA-4BAA-B27C-A409EEB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670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3D174C32-1E23-408B-A58D-06B6D123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ICAO and ICANN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2CAB6FA7-B3E4-4BF8-B94D-602EC37A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Institutional standards</a:t>
            </a:r>
          </a:p>
        </p:txBody>
      </p:sp>
      <p:sp>
        <p:nvSpPr>
          <p:cNvPr id="1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10597559-9BDF-4940-937C-0B9726E6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29934771-2D75-4D37-94CA-2DAA3ED1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UN, EU, W3Techs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D797BC42-AC01-4854-9071-E5E8E150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Current language evidence</a:t>
            </a:r>
          </a:p>
        </p:txBody>
      </p:sp>
      <p:sp>
        <p:nvSpPr>
          <p:cNvPr id="15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C572A6BE-8CE5-423A-9DBC-AC5764DC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6" name="labels">
            <a:extLst xmlns:a="http://schemas.openxmlformats.org/drawingml/2006/main">
              <a:ext uri="{FF2B5EF4-FFF2-40B4-BE49-F238E27FC236}">
                <a16:creationId xmlns:a16="http://schemas.microsoft.com/office/drawing/2014/main" id="{787DFB12-93EF-47C8-BE8D-D91440CB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91075"/>
            <a:ext cx="10239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0">
            <a:noFill/>
          </a:ln>
        </p:spPr>
      </p:sp>
      <p:sp>
        <p:nvSpPr>
          <p:cNvPr id="17" name="evidence">
            <a:extLst xmlns:a="http://schemas.openxmlformats.org/drawingml/2006/main">
              <a:ext uri="{FF2B5EF4-FFF2-40B4-BE49-F238E27FC236}">
                <a16:creationId xmlns:a16="http://schemas.microsoft.com/office/drawing/2014/main" id="{C68B8B05-0934-4873-BD9A-C434840B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910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</a:t>
            </a:r>
          </a:p>
        </p:txBody>
      </p:sp>
      <p:sp>
        <p:nvSpPr>
          <p:cNvPr id="18" name="inference">
            <a:extLst xmlns:a="http://schemas.openxmlformats.org/drawingml/2006/main">
              <a:ext uri="{FF2B5EF4-FFF2-40B4-BE49-F238E27FC236}">
                <a16:creationId xmlns:a16="http://schemas.microsoft.com/office/drawing/2014/main" id="{9DEDA931-6032-48E9-A283-515FD1F1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9107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INFERENCE</a:t>
            </a:r>
          </a:p>
        </p:txBody>
      </p:sp>
      <p:sp>
        <p:nvSpPr>
          <p:cNvPr id="19" name="unproven">
            <a:extLst xmlns:a="http://schemas.openxmlformats.org/drawingml/2006/main">
              <a:ext uri="{FF2B5EF4-FFF2-40B4-BE49-F238E27FC236}">
                <a16:creationId xmlns:a16="http://schemas.microsoft.com/office/drawing/2014/main" id="{110B4270-07A0-4165-BD40-13FD26DA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910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0B7F03EC-8690-4FEE-AEC6-EC45AD87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NEXT: Conspiracies about English</a:t>
            </a:r>
          </a:p>
        </p:txBody>
      </p:sp>
    </p:spTree>
    <p:extLst>
      <p:ext uri="{BB962C8B-B14F-4D97-AF65-F5344CB8AC3E}">
        <p14:creationId xmlns:p14="http://schemas.microsoft.com/office/powerpoint/2010/main" val="499886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2026-09-24T22:29:33.5370000Z</dcterms:created>
  <dcterms:modified xsi:type="dcterms:W3CDTF">2026-09-24T22:29:33.5370000Z</dcterms:modified>
</coreProperties>
</file>