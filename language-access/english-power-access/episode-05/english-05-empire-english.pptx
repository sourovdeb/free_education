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8b216a649c4db0" /><Relationship Type="http://schemas.openxmlformats.org/officeDocument/2006/relationships/extended-properties" Target="/docProps/app.xml" Id="Ra9cba76700ef4bd6" /><Relationship Type="http://schemas.openxmlformats.org/officeDocument/2006/relationships/officeDocument" Target="/ppt/presentation.xml" Id="R337b3f33589e42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34310a72da4018"/>
  </p:sldMasterIdLst>
  <p:notesMasterIdLst>
    <p:notesMasterId xmlns:r="http://schemas.openxmlformats.org/officeDocument/2006/relationships" r:id="Re06894ad33e94b6c"/>
  </p:notesMasterIdLst>
  <p:sldIdLst>
    <p:sldId xmlns:r="http://schemas.openxmlformats.org/officeDocument/2006/relationships" id="256" r:id="R9ced0be268f740f4"/>
    <p:sldId xmlns:r="http://schemas.openxmlformats.org/officeDocument/2006/relationships" id="257" r:id="R74d999782d4644c8"/>
    <p:sldId xmlns:r="http://schemas.openxmlformats.org/officeDocument/2006/relationships" id="258" r:id="R55629b4ab37349ec"/>
    <p:sldId xmlns:r="http://schemas.openxmlformats.org/officeDocument/2006/relationships" id="259" r:id="Ra1e2aa740d054873"/>
    <p:sldId xmlns:r="http://schemas.openxmlformats.org/officeDocument/2006/relationships" id="260" r:id="R773524144f3e4e46"/>
    <p:sldId xmlns:r="http://schemas.openxmlformats.org/officeDocument/2006/relationships" id="261" r:id="R08f31393a0334c81"/>
    <p:sldId xmlns:r="http://schemas.openxmlformats.org/officeDocument/2006/relationships" id="262" r:id="R064e68c34c4748cd"/>
    <p:sldId xmlns:r="http://schemas.openxmlformats.org/officeDocument/2006/relationships" id="263" r:id="Rf70abb77022746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524816e4c642c0" /><Relationship Type="http://schemas.openxmlformats.org/officeDocument/2006/relationships/slideMaster" Target="/ppt/slideMasters/slideMaster1.xml" Id="R4234310a72da4018" /><Relationship Type="http://schemas.openxmlformats.org/officeDocument/2006/relationships/notesMaster" Target="/ppt/notesMasters/notesMaster1.xml" Id="Re06894ad33e94b6c" /><Relationship Type="http://schemas.openxmlformats.org/officeDocument/2006/relationships/presProps" Target="/ppt/presProps.xml" Id="Raf9ccb73a252494b" /><Relationship Type="http://schemas.openxmlformats.org/officeDocument/2006/relationships/tableStyles" Target="/ppt/tableStyles.xml" Id="Re409544bc0cf498f" /><Relationship Type="http://schemas.openxmlformats.org/officeDocument/2006/relationships/slide" Target="/ppt/slides/slide1.xml" Id="R9ced0be268f740f4" /><Relationship Type="http://schemas.openxmlformats.org/officeDocument/2006/relationships/slide" Target="/ppt/slides/slide2.xml" Id="R74d999782d4644c8" /><Relationship Type="http://schemas.openxmlformats.org/officeDocument/2006/relationships/slide" Target="/ppt/slides/slide3.xml" Id="R55629b4ab37349ec" /><Relationship Type="http://schemas.openxmlformats.org/officeDocument/2006/relationships/slide" Target="/ppt/slides/slide4.xml" Id="Ra1e2aa740d054873" /><Relationship Type="http://schemas.openxmlformats.org/officeDocument/2006/relationships/slide" Target="/ppt/slides/slide5.xml" Id="R773524144f3e4e46" /><Relationship Type="http://schemas.openxmlformats.org/officeDocument/2006/relationships/slide" Target="/ppt/slides/slide6.xml" Id="R08f31393a0334c81" /><Relationship Type="http://schemas.openxmlformats.org/officeDocument/2006/relationships/slide" Target="/ppt/slides/slide7.xml" Id="R064e68c34c4748cd" /><Relationship Type="http://schemas.openxmlformats.org/officeDocument/2006/relationships/slide" Target="/ppt/slides/slide8.xml" Id="Rf70abb77022746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f3aa52d3e540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cf2a371a2143cb" /><Relationship Type="http://schemas.openxmlformats.org/officeDocument/2006/relationships/notesMaster" Target="/ppt/notesMasters/notesMaster1.xml" Id="R6161d9b1fe8245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cfa55c718a4d9f" /><Relationship Type="http://schemas.openxmlformats.org/officeDocument/2006/relationships/notesMaster" Target="/ppt/notesMasters/notesMaster1.xml" Id="R917cadf8f02644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fc8f6160cb4292" /><Relationship Type="http://schemas.openxmlformats.org/officeDocument/2006/relationships/notesMaster" Target="/ppt/notesMasters/notesMaster1.xml" Id="R39fe65d00b3343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4bc4baeb9b471d" /><Relationship Type="http://schemas.openxmlformats.org/officeDocument/2006/relationships/notesMaster" Target="/ppt/notesMasters/notesMaster1.xml" Id="Re7aacba9aecc43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0bf67c56e74b73" /><Relationship Type="http://schemas.openxmlformats.org/officeDocument/2006/relationships/notesMaster" Target="/ppt/notesMasters/notesMaster1.xml" Id="R26bfe383fe5c4a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dd1e8a6c6f43aa" /><Relationship Type="http://schemas.openxmlformats.org/officeDocument/2006/relationships/notesMaster" Target="/ppt/notesMasters/notesMaster1.xml" Id="Ra984a4b498d448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bcc4d8a1704c4f" /><Relationship Type="http://schemas.openxmlformats.org/officeDocument/2006/relationships/notesMaster" Target="/ppt/notesMasters/notesMaster1.xml" Id="Rf66e4fc58b8346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435d5f460d401c" /><Relationship Type="http://schemas.openxmlformats.org/officeDocument/2006/relationships/notesMaster" Target="/ppt/notesMasters/notesMaster1.xml" Id="R6ed95fe70e9c4e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Colonial policies promoted English.</a:t>
            </a:r>
          </a:p>
          <a:p xmlns:a="http://schemas.openxmlformats.org/drawingml/2006/main">
            <a:r>
              <a:t>Inference: Institutions created incentives.</a:t>
            </a:r>
          </a:p>
          <a:p xmlns:a="http://schemas.openxmlformats.org/drawingml/2006/main">
            <a:r>
              <a:t>Unproven: One plan ruled everywhere.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https://franpritchett.com/00generallinks/macaulay/txt_minute_education_1835.html</a:t>
            </a:r>
          </a:p>
          <a:p xmlns:a="http://schemas.openxmlformats.org/drawingml/2006/main">
            <a:r>
              <a:t>https://en.wikisource.org/wiki/The_Despatch_of_1854%2C_on_General_Education_in_India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Policies rewarded English.</a:t>
            </a:r>
          </a:p>
          <a:p xmlns:a="http://schemas.openxmlformats.org/drawingml/2006/main">
            <a:r>
              <a:t>Evidence: Policies also differed.</a:t>
            </a:r>
          </a:p>
          <a:p xmlns:a="http://schemas.openxmlformats.org/drawingml/2006/main">
            <a:r>
              <a:t>Inference: Rewards shaped demand.</a:t>
            </a:r>
          </a:p>
          <a:p xmlns:a="http://schemas.openxmlformats.org/drawingml/2006/main">
            <a:r>
              <a:t>Unproven: Empire used one plan.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https://franpritchett.com/00generallinks/macaulay/txt_minute_education_1835.html</a:t>
            </a:r>
          </a:p>
          <a:p xmlns:a="http://schemas.openxmlformats.org/drawingml/2006/main">
            <a:r>
              <a:t>https://en.wikisource.org/wiki/The_Despatch_of_1854%2C_on_General_Education_in_India</a:t>
            </a:r>
          </a:p>
          <a:p xmlns:a="http://schemas.openxmlformats.org/drawingml/2006/main">
            <a:r>
              <a:t>https://doi.org/10.1093/ehr/LXXX.CCCXIV.70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Macaulay proposed English funding.</a:t>
            </a:r>
          </a:p>
          <a:p xmlns:a="http://schemas.openxmlformats.org/drawingml/2006/main">
            <a:r>
              <a:t>Evidence: He described intermediaries.</a:t>
            </a:r>
          </a:p>
          <a:p xmlns:a="http://schemas.openxmlformats.org/drawingml/2006/main">
            <a:r>
              <a:t>Inference: Policy linked language, power.</a:t>
            </a:r>
          </a:p>
          <a:p xmlns:a="http://schemas.openxmlformats.org/drawingml/2006/main">
            <a:r>
              <a:t>Unproven: India received English-only schooling.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https://franpritchett.com/00generallinks/macaulay/txt_minute_education_1835.html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Despatch valued English.</a:t>
            </a:r>
          </a:p>
          <a:p xmlns:a="http://schemas.openxmlformats.org/drawingml/2006/main">
            <a:r>
              <a:t>Evidence: It retained vernaculars.</a:t>
            </a:r>
          </a:p>
          <a:p xmlns:a="http://schemas.openxmlformats.org/drawingml/2006/main">
            <a:r>
              <a:t>Inference: Institutions created layered access.</a:t>
            </a:r>
          </a:p>
          <a:p xmlns:a="http://schemas.openxmlformats.org/drawingml/2006/main">
            <a:r>
              <a:t>Unproven: Vernaculars became equal.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https://en.wikisource.org/wiki/The_Despatch_of_1854%2C_on_General_Education_in_India</a:t>
            </a:r>
          </a:p>
          <a:p xmlns:a="http://schemas.openxmlformats.org/drawingml/2006/main">
            <a:r>
              <a:t>https://archive.org/download/dli.ministry.01649/1245.172%2520H%2520145%25284%2529_text.pdf</a:t>
            </a:r>
          </a:p>
          <a:p xmlns:a="http://schemas.openxmlformats.org/drawingml/2006/main">
            <a:r>
              <a:t>https://doi.org/10.1093/ehr/LXXX.CCCXIV.70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English brought rewards.</a:t>
            </a:r>
          </a:p>
          <a:p xmlns:a="http://schemas.openxmlformats.org/drawingml/2006/main">
            <a:r>
              <a:t>Evidence: Access remained uneven.</a:t>
            </a:r>
          </a:p>
          <a:p xmlns:a="http://schemas.openxmlformats.org/drawingml/2006/main">
            <a:r>
              <a:t>Inference: Classrooms sorted opportunities.</a:t>
            </a:r>
          </a:p>
          <a:p xmlns:a="http://schemas.openxmlformats.org/drawingml/2006/main">
            <a:r>
              <a:t>Unproven: Language alone caused inequality.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https://franpritchett.com/00generallinks/macaulay/txt_minute_education_1835.html</a:t>
            </a:r>
          </a:p>
          <a:p xmlns:a="http://schemas.openxmlformats.org/drawingml/2006/main">
            <a:r>
              <a:t>https://en.wikisource.org/wiki/The_Despatch_of_1854%2C_on_General_Education_in_India</a:t>
            </a:r>
          </a:p>
          <a:p xmlns:a="http://schemas.openxmlformats.org/drawingml/2006/main">
            <a:r>
              <a:t>https://www.unesco.org/en/languages-education/need-know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Gandhi criticised English schooling.</a:t>
            </a:r>
          </a:p>
          <a:p xmlns:a="http://schemas.openxmlformats.org/drawingml/2006/main">
            <a:r>
              <a:t>Evidence: His critique appeared English.</a:t>
            </a:r>
          </a:p>
          <a:p xmlns:a="http://schemas.openxmlformats.org/drawingml/2006/main">
            <a:r>
              <a:t>Inference: English also carried dissent.</a:t>
            </a:r>
          </a:p>
          <a:p xmlns:a="http://schemas.openxmlformats.org/drawingml/2006/main">
            <a:r>
              <a:t>Unproven: Resistance meant total rejection.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https://www.mkgandhi.org/hindswaraj/chap18_education.php</a:t>
            </a:r>
          </a:p>
          <a:p xmlns:a="http://schemas.openxmlformats.org/drawingml/2006/main">
            <a:r>
              <a:t>https://en.wikisource.org/wiki/Hind_Swaraj_%281938_edition%29</a:t>
            </a:r>
          </a:p>
          <a:p xmlns:a="http://schemas.openxmlformats.org/drawingml/2006/main">
            <a:r>
              <a:t>https://onlinelibrary.wiley.com/doi/abs/10.1111/j.1467-971X.1990.tb00683.x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ICE compares English varieties.</a:t>
            </a:r>
          </a:p>
          <a:p xmlns:a="http://schemas.openxmlformats.org/drawingml/2006/main">
            <a:r>
              <a:t>Evidence: Kachru described plural norms.</a:t>
            </a:r>
          </a:p>
          <a:p xmlns:a="http://schemas.openxmlformats.org/drawingml/2006/main">
            <a:r>
              <a:t>Inference: Communities reshape English.</a:t>
            </a:r>
          </a:p>
          <a:p xmlns:a="http://schemas.openxmlformats.org/drawingml/2006/main">
            <a:r>
              <a:t>Unproven: Difference means deficiency.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https://onlinelibrary.wiley.com/doi/abs/10.1111/j.1467-971X.1990.tb00683.x</a:t>
            </a:r>
          </a:p>
          <a:p xmlns:a="http://schemas.openxmlformats.org/drawingml/2006/main">
            <a:r>
              <a:t>https://ice-corpora.net/ice/index.html</a:t>
            </a:r>
          </a:p>
          <a:p xmlns:a="http://schemas.openxmlformats.org/drawingml/2006/main">
            <a:r>
              <a:t>https://www.ucl.ac.uk/arts-humanities/english/research/survey-english-usage/survey-english-usage-projects/international-corpus-english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Sources appear above.</a:t>
            </a:r>
          </a:p>
          <a:p xmlns:a="http://schemas.openxmlformats.org/drawingml/2006/main">
            <a:r>
              <a:t>Inference: Claims stay labelled.</a:t>
            </a:r>
          </a:p>
          <a:p xmlns:a="http://schemas.openxmlformats.org/drawingml/2006/main">
            <a:r>
              <a:t>Unproven claims stay visible.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https://franpritchett.com/00generallinks/macaulay/txt_minute_education_1835.html</a:t>
            </a:r>
          </a:p>
          <a:p xmlns:a="http://schemas.openxmlformats.org/drawingml/2006/main">
            <a:r>
              <a:t>https://en.wikisource.org/wiki/The_Despatch_of_1854%2C_on_General_Education_in_India</a:t>
            </a:r>
          </a:p>
          <a:p xmlns:a="http://schemas.openxmlformats.org/drawingml/2006/main">
            <a:r>
              <a:t>https://archive.org/download/dli.ministry.01649/1245.172%2520H%2520145%25284%2529_text.pdf</a:t>
            </a:r>
          </a:p>
          <a:p xmlns:a="http://schemas.openxmlformats.org/drawingml/2006/main">
            <a:r>
              <a:t>https://doi.org/10.1093/ehr/LXXX.CCCXIV.70</a:t>
            </a:r>
          </a:p>
          <a:p xmlns:a="http://schemas.openxmlformats.org/drawingml/2006/main">
            <a:r>
              <a:t>https://www.mkgandhi.org/hindswaraj/chap18_education.php</a:t>
            </a:r>
          </a:p>
          <a:p xmlns:a="http://schemas.openxmlformats.org/drawingml/2006/main">
            <a:r>
              <a:t>https://en.wikisource.org/wiki/Hind_Swaraj_%281938_edition%29</a:t>
            </a:r>
          </a:p>
          <a:p xmlns:a="http://schemas.openxmlformats.org/drawingml/2006/main">
            <a:r>
              <a:t>https://onlinelibrary.wiley.com/doi/abs/10.1111/j.1467-971X.1990.tb00683.x</a:t>
            </a:r>
          </a:p>
          <a:p xmlns:a="http://schemas.openxmlformats.org/drawingml/2006/main">
            <a:r>
              <a:t>https://ice-corpora.net/ice/index.html</a:t>
            </a:r>
          </a:p>
          <a:p xmlns:a="http://schemas.openxmlformats.org/drawingml/2006/main">
            <a:r>
              <a:t>https://www.ucl.ac.uk/arts-humanities/english/research/survey-english-usage/survey-english-usage-projects/international-corpus-english</a:t>
            </a:r>
          </a:p>
          <a:p xmlns:a="http://schemas.openxmlformats.org/drawingml/2006/main">
            <a:r>
              <a:t>https://www.unesco.org/en/languages-education/need-know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225222f3949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244a51c3204206" /><Relationship Type="http://schemas.openxmlformats.org/officeDocument/2006/relationships/slideLayout" Target="/ppt/slideLayouts/slideLayout1.xml" Id="Rf78833ca868d44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8833ca868d44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bab61f1c542e0" /><Relationship Type="http://schemas.openxmlformats.org/officeDocument/2006/relationships/image" Target="/ppt/media/image.png" Id="Rf4ab01c20ce5410d" /><Relationship Type="http://schemas.openxmlformats.org/officeDocument/2006/relationships/notesSlide" Target="/ppt/notesSlides/notesSlide1.xml" Id="R8a04ad7067cf40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ec7c17308446a" /><Relationship Type="http://schemas.openxmlformats.org/officeDocument/2006/relationships/notesSlide" Target="/ppt/notesSlides/notesSlide2.xml" Id="Ra57492e57ea142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48cd425124568" /><Relationship Type="http://schemas.openxmlformats.org/officeDocument/2006/relationships/notesSlide" Target="/ppt/notesSlides/notesSlide3.xml" Id="R11de2df7b96244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afb801c514c82" /><Relationship Type="http://schemas.openxmlformats.org/officeDocument/2006/relationships/notesSlide" Target="/ppt/notesSlides/notesSlide4.xml" Id="Rab006cdb6de94a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468cb09474377" /><Relationship Type="http://schemas.openxmlformats.org/officeDocument/2006/relationships/notesSlide" Target="/ppt/notesSlides/notesSlide5.xml" Id="R0b149e150fc34b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8f75efc964dc0" /><Relationship Type="http://schemas.openxmlformats.org/officeDocument/2006/relationships/notesSlide" Target="/ppt/notesSlides/notesSlide6.xml" Id="Rbc4e878182ad49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dfc92fe034078" /><Relationship Type="http://schemas.openxmlformats.org/officeDocument/2006/relationships/notesSlide" Target="/ppt/notesSlides/notesSlide7.xml" Id="R6b11f53daae04b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ccc4813d345e4" /><Relationship Type="http://schemas.openxmlformats.org/officeDocument/2006/relationships/notesSlide" Target="/ppt/notesSlides/notesSlide8.xml" Id="R40bb8fd1346a4c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b01c20ce5410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2FFD91A-52AD-433E-A406-E5AF7AF9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ENGLISH, POWER, ACCESS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B2CD8E-D5BA-4772-B923-6BED6EA1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953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Empire,</a:t>
            </a:r>
          </a:p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Classrooms,</a:t>
            </a:r>
          </a:p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English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451F308-0360-4EA0-99D1-7AAA1950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POWER CREATED INCENTIVES</a:t>
            </a:r>
          </a:p>
        </p:txBody>
      </p:sp>
      <p:sp>
        <p:nvSpPr>
          <p:cNvPr id="5" name="tag">
            <a:extLst xmlns:a="http://schemas.openxmlformats.org/drawingml/2006/main">
              <a:ext uri="{FF2B5EF4-FFF2-40B4-BE49-F238E27FC236}">
                <a16:creationId xmlns:a16="http://schemas.microsoft.com/office/drawing/2014/main" id="{0FA5755B-C22F-4DDF-BAF7-A81D2AE5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331"/>
          </a:solidFill>
          <a:ln xmlns:a="http://schemas.openxmlformats.org/drawingml/2006/main" w="0">
            <a:noFill/>
          </a:ln>
        </p:spPr>
      </p:sp>
      <p:sp>
        <p:nvSpPr>
          <p:cNvPr id="6" name="series">
            <a:extLst xmlns:a="http://schemas.openxmlformats.org/drawingml/2006/main">
              <a:ext uri="{FF2B5EF4-FFF2-40B4-BE49-F238E27FC236}">
                <a16:creationId xmlns:a16="http://schemas.microsoft.com/office/drawing/2014/main" id="{4BBC9521-7787-4530-A6B8-5C776B3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530131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6C180F21-129C-4E72-9700-9A2F36AC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Empire linked English to power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A816CB9-EB70-42CF-BDA9-5CE7E127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47239E06-7BF9-433E-84F1-4578D0F3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05 / 02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D6EA3EDE-45CF-4A96-A0CE-BEECC0B1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3143250" cy="320992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AD1110AE-2C21-466A-BBC5-FAF13B81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EE426CF9-6A78-4A93-B8D0-51370F6F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COURTS</a:t>
            </a:r>
          </a:p>
        </p:txBody>
      </p:sp>
      <p:sp>
        <p:nvSpPr>
          <p:cNvPr id="7" name="big-0">
            <a:extLst xmlns:a="http://schemas.openxmlformats.org/drawingml/2006/main">
              <a:ext uri="{FF2B5EF4-FFF2-40B4-BE49-F238E27FC236}">
                <a16:creationId xmlns:a16="http://schemas.microsoft.com/office/drawing/2014/main" id="{E4B55BF7-8994-4699-B9B8-F88E1A29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260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Official access</a:t>
            </a:r>
          </a:p>
        </p:txBody>
      </p:sp>
      <p:sp>
        <p:nvSpPr>
          <p:cNvPr id="8" name="small-0">
            <a:extLst xmlns:a="http://schemas.openxmlformats.org/drawingml/2006/main">
              <a:ext uri="{FF2B5EF4-FFF2-40B4-BE49-F238E27FC236}">
                <a16:creationId xmlns:a16="http://schemas.microsoft.com/office/drawing/2014/main" id="{A0D04DE1-1FA4-46F2-B52E-B146E934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Rules shaped participation.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DE886BB9-0659-449B-96ED-4657F030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43075"/>
            <a:ext cx="3143250" cy="320992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band-1">
            <a:extLst xmlns:a="http://schemas.openxmlformats.org/drawingml/2006/main">
              <a:ext uri="{FF2B5EF4-FFF2-40B4-BE49-F238E27FC236}">
                <a16:creationId xmlns:a16="http://schemas.microsoft.com/office/drawing/2014/main" id="{3027F8F1-3C5F-41FB-9038-95652AFE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430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A5D566AC-4392-4C48-83C6-A19A33A5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SCHOOLS</a:t>
            </a:r>
          </a:p>
        </p:txBody>
      </p:sp>
      <p:sp>
        <p:nvSpPr>
          <p:cNvPr id="12" name="big-1">
            <a:extLst xmlns:a="http://schemas.openxmlformats.org/drawingml/2006/main">
              <a:ext uri="{FF2B5EF4-FFF2-40B4-BE49-F238E27FC236}">
                <a16:creationId xmlns:a16="http://schemas.microsoft.com/office/drawing/2014/main" id="{5D4DC91A-0E72-4AE3-82D7-D2408C79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260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Credentials</a:t>
            </a:r>
          </a:p>
        </p:txBody>
      </p:sp>
      <p:sp>
        <p:nvSpPr>
          <p:cNvPr id="13" name="small-1">
            <a:extLst xmlns:a="http://schemas.openxmlformats.org/drawingml/2006/main">
              <a:ext uri="{FF2B5EF4-FFF2-40B4-BE49-F238E27FC236}">
                <a16:creationId xmlns:a16="http://schemas.microsoft.com/office/drawing/2014/main" id="{AB358B45-17B1-4C33-836C-9787030B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004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Lessons shaped advancement.</a:t>
            </a:r>
          </a:p>
        </p:txBody>
      </p:sp>
      <p:sp>
        <p:nvSpPr>
          <p:cNvPr id="14" name="card-2">
            <a:extLst xmlns:a="http://schemas.openxmlformats.org/drawingml/2006/main">
              <a:ext uri="{FF2B5EF4-FFF2-40B4-BE49-F238E27FC236}">
                <a16:creationId xmlns:a16="http://schemas.microsoft.com/office/drawing/2014/main" id="{19ADECC2-806C-4367-B117-3E410893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43075"/>
            <a:ext cx="3143250" cy="3209925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band-2">
            <a:extLst xmlns:a="http://schemas.openxmlformats.org/drawingml/2006/main">
              <a:ext uri="{FF2B5EF4-FFF2-40B4-BE49-F238E27FC236}">
                <a16:creationId xmlns:a16="http://schemas.microsoft.com/office/drawing/2014/main" id="{28807988-173D-454A-98E3-482FD524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43075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6" name="k-2">
            <a:extLst xmlns:a="http://schemas.openxmlformats.org/drawingml/2006/main">
              <a:ext uri="{FF2B5EF4-FFF2-40B4-BE49-F238E27FC236}">
                <a16:creationId xmlns:a16="http://schemas.microsoft.com/office/drawing/2014/main" id="{1D3F747A-2741-4C9C-87D1-3440EADA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JOBS</a:t>
            </a:r>
          </a:p>
        </p:txBody>
      </p:sp>
      <p:sp>
        <p:nvSpPr>
          <p:cNvPr id="17" name="big-2">
            <a:extLst xmlns:a="http://schemas.openxmlformats.org/drawingml/2006/main">
              <a:ext uri="{FF2B5EF4-FFF2-40B4-BE49-F238E27FC236}">
                <a16:creationId xmlns:a16="http://schemas.microsoft.com/office/drawing/2014/main" id="{50AC5635-BD7F-4289-BC86-1AF7C3E9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2609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Opportunity</a:t>
            </a:r>
          </a:p>
        </p:txBody>
      </p:sp>
      <p:sp>
        <p:nvSpPr>
          <p:cNvPr id="18" name="small-2">
            <a:extLst xmlns:a="http://schemas.openxmlformats.org/drawingml/2006/main">
              <a:ext uri="{FF2B5EF4-FFF2-40B4-BE49-F238E27FC236}">
                <a16:creationId xmlns:a16="http://schemas.microsoft.com/office/drawing/2014/main" id="{96F84CFB-AE14-42F6-B3FE-B8AABBBD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0047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English gained rewards.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1DD57A81-B7A5-4BC0-B889-13A6E06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Policies varied across colonies.</a:t>
            </a:r>
          </a:p>
        </p:txBody>
      </p:sp>
    </p:spTree>
    <p:extLst>
      <p:ext uri="{BB962C8B-B14F-4D97-AF65-F5344CB8AC3E}">
        <p14:creationId xmlns:p14="http://schemas.microsoft.com/office/powerpoint/2010/main" val="2038015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7990F899-CE9E-4511-8739-CE8AF64D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India, 1835: funding changed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3041F9-960C-4693-9C5E-A653FAE5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3E097275-5654-48B5-B7F3-0617C1CE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05 / 03</a:t>
            </a:r>
          </a:p>
        </p:txBody>
      </p:sp>
      <p:sp>
        <p:nvSpPr>
          <p:cNvPr id="4" name="date">
            <a:extLst xmlns:a="http://schemas.openxmlformats.org/drawingml/2006/main">
              <a:ext uri="{FF2B5EF4-FFF2-40B4-BE49-F238E27FC236}">
                <a16:creationId xmlns:a16="http://schemas.microsoft.com/office/drawing/2014/main" id="{08072AB8-27D3-4A53-A087-36504C18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476500" cy="29146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5" name="date-small">
            <a:extLst xmlns:a="http://schemas.openxmlformats.org/drawingml/2006/main">
              <a:ext uri="{FF2B5EF4-FFF2-40B4-BE49-F238E27FC236}">
                <a16:creationId xmlns:a16="http://schemas.microsoft.com/office/drawing/2014/main" id="{25CF1F08-355F-4198-93A9-34B7B5C0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MACAULAY MINUTE</a:t>
            </a:r>
          </a:p>
        </p:txBody>
      </p:sp>
      <p:sp>
        <p:nvSpPr>
          <p:cNvPr id="6" name="date-big">
            <a:extLst xmlns:a="http://schemas.openxmlformats.org/drawingml/2006/main">
              <a:ext uri="{FF2B5EF4-FFF2-40B4-BE49-F238E27FC236}">
                <a16:creationId xmlns:a16="http://schemas.microsoft.com/office/drawing/2014/main" id="{40ED97AC-42E2-452A-80A1-0A9576B4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47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1835</a:t>
            </a:r>
          </a:p>
        </p:txBody>
      </p:sp>
      <p:sp>
        <p:nvSpPr>
          <p:cNvPr id="7" name="date-note">
            <a:extLst xmlns:a="http://schemas.openxmlformats.org/drawingml/2006/main">
              <a:ext uri="{FF2B5EF4-FFF2-40B4-BE49-F238E27FC236}">
                <a16:creationId xmlns:a16="http://schemas.microsoft.com/office/drawing/2014/main" id="{31265A68-E372-4CF2-9FDD-84C5B004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 policy argument.</a:t>
            </a:r>
          </a:p>
        </p:txBody>
      </p:sp>
      <p:sp>
        <p:nvSpPr>
          <p:cNvPr id="8" name="row-0">
            <a:extLst xmlns:a="http://schemas.openxmlformats.org/drawingml/2006/main">
              <a:ext uri="{FF2B5EF4-FFF2-40B4-BE49-F238E27FC236}">
                <a16:creationId xmlns:a16="http://schemas.microsoft.com/office/drawing/2014/main" id="{22894A83-2E66-4CF8-9EEE-1B225D59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62125"/>
            <a:ext cx="7620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9" name="a-0">
            <a:extLst xmlns:a="http://schemas.openxmlformats.org/drawingml/2006/main">
              <a:ext uri="{FF2B5EF4-FFF2-40B4-BE49-F238E27FC236}">
                <a16:creationId xmlns:a16="http://schemas.microsoft.com/office/drawing/2014/main" id="{98F38D79-40FE-4A20-AE9B-78528B5A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62125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FUNDING</a:t>
            </a:r>
          </a:p>
        </p:txBody>
      </p:sp>
      <p:sp>
        <p:nvSpPr>
          <p:cNvPr id="10" name="b-0">
            <a:extLst xmlns:a="http://schemas.openxmlformats.org/drawingml/2006/main">
              <a:ext uri="{FF2B5EF4-FFF2-40B4-BE49-F238E27FC236}">
                <a16:creationId xmlns:a16="http://schemas.microsoft.com/office/drawing/2014/main" id="{9D6D495F-2592-45B7-B058-D81C9794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857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Minute urged redirection.</a:t>
            </a:r>
          </a:p>
        </p:txBody>
      </p:sp>
      <p:sp>
        <p:nvSpPr>
          <p:cNvPr id="11" name="row-1">
            <a:extLst xmlns:a="http://schemas.openxmlformats.org/drawingml/2006/main">
              <a:ext uri="{FF2B5EF4-FFF2-40B4-BE49-F238E27FC236}">
                <a16:creationId xmlns:a16="http://schemas.microsoft.com/office/drawing/2014/main" id="{060A782D-E711-4604-A468-6FC9E5DC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76550"/>
            <a:ext cx="7620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2" name="a-1">
            <a:extLst xmlns:a="http://schemas.openxmlformats.org/drawingml/2006/main">
              <a:ext uri="{FF2B5EF4-FFF2-40B4-BE49-F238E27FC236}">
                <a16:creationId xmlns:a16="http://schemas.microsoft.com/office/drawing/2014/main" id="{000C0262-D0E9-4E01-95A3-85765B69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76550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HIGHER STUDY</a:t>
            </a:r>
          </a:p>
        </p:txBody>
      </p:sp>
      <p:sp>
        <p:nvSpPr>
          <p:cNvPr id="13" name="b-1">
            <a:extLst xmlns:a="http://schemas.openxmlformats.org/drawingml/2006/main">
              <a:ext uri="{FF2B5EF4-FFF2-40B4-BE49-F238E27FC236}">
                <a16:creationId xmlns:a16="http://schemas.microsoft.com/office/drawing/2014/main" id="{022C8ECB-D42C-42B4-8FAC-E733102C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3857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gained priority.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277B7017-B179-46AC-BA8D-50121454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90975"/>
            <a:ext cx="7620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5" name="a-2">
            <a:extLst xmlns:a="http://schemas.openxmlformats.org/drawingml/2006/main">
              <a:ext uri="{FF2B5EF4-FFF2-40B4-BE49-F238E27FC236}">
                <a16:creationId xmlns:a16="http://schemas.microsoft.com/office/drawing/2014/main" id="{5E1D26DF-A257-44F1-936C-0D44B262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3000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INTERMEDIARIES</a:t>
            </a:r>
          </a:p>
        </p:txBody>
      </p:sp>
      <p:sp>
        <p:nvSpPr>
          <p:cNvPr id="16" name="b-2">
            <a:extLst xmlns:a="http://schemas.openxmlformats.org/drawingml/2006/main">
              <a:ext uri="{FF2B5EF4-FFF2-40B4-BE49-F238E27FC236}">
                <a16:creationId xmlns:a16="http://schemas.microsoft.com/office/drawing/2014/main" id="{4BF339D1-45E4-4324-92B6-BBC8472D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90975"/>
            <a:ext cx="3857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An elite was proposed.</a:t>
            </a:r>
          </a:p>
        </p:txBody>
      </p:sp>
      <p:sp>
        <p:nvSpPr>
          <p:cNvPr id="17" name="limit">
            <a:extLst xmlns:a="http://schemas.openxmlformats.org/drawingml/2006/main">
              <a:ext uri="{FF2B5EF4-FFF2-40B4-BE49-F238E27FC236}">
                <a16:creationId xmlns:a16="http://schemas.microsoft.com/office/drawing/2014/main" id="{D214B0E5-35A8-4B30-8D60-F85B05CA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625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One minute was not empire.</a:t>
            </a:r>
          </a:p>
        </p:txBody>
      </p:sp>
    </p:spTree>
    <p:extLst>
      <p:ext uri="{BB962C8B-B14F-4D97-AF65-F5344CB8AC3E}">
        <p14:creationId xmlns:p14="http://schemas.microsoft.com/office/powerpoint/2010/main" val="669641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10C3377A-E88E-477A-B0A2-932C5CE4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India, 1854: layered schooling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CDD2969-B8B6-4CDD-BBD5-78670850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71B598D8-324D-4026-BA28-7763B42E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05 / 04</a:t>
            </a:r>
          </a:p>
        </p:txBody>
      </p:sp>
      <p:sp>
        <p:nvSpPr>
          <p:cNvPr id="4" name="level-0">
            <a:extLst xmlns:a="http://schemas.openxmlformats.org/drawingml/2006/main">
              <a:ext uri="{FF2B5EF4-FFF2-40B4-BE49-F238E27FC236}">
                <a16:creationId xmlns:a16="http://schemas.microsoft.com/office/drawing/2014/main" id="{A24587C2-367D-4248-B512-7DC7E16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971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evel-band-0">
            <a:extLst xmlns:a="http://schemas.openxmlformats.org/drawingml/2006/main">
              <a:ext uri="{FF2B5EF4-FFF2-40B4-BE49-F238E27FC236}">
                <a16:creationId xmlns:a16="http://schemas.microsoft.com/office/drawing/2014/main" id="{0DA4A01D-EBFC-4E59-A058-6C75355C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6" name="level-k-0">
            <a:extLst xmlns:a="http://schemas.openxmlformats.org/drawingml/2006/main">
              <a:ext uri="{FF2B5EF4-FFF2-40B4-BE49-F238E27FC236}">
                <a16:creationId xmlns:a16="http://schemas.microsoft.com/office/drawing/2014/main" id="{38BA1983-6162-4407-BBF2-2148878C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PRIMARY</a:t>
            </a:r>
          </a:p>
        </p:txBody>
      </p:sp>
      <p:sp>
        <p:nvSpPr>
          <p:cNvPr id="7" name="level-v-0">
            <a:extLst xmlns:a="http://schemas.openxmlformats.org/drawingml/2006/main">
              <a:ext uri="{FF2B5EF4-FFF2-40B4-BE49-F238E27FC236}">
                <a16:creationId xmlns:a16="http://schemas.microsoft.com/office/drawing/2014/main" id="{C8C3AD5B-B393-49D2-9D08-2CCE6C64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52600"/>
            <a:ext cx="7667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Vernacular teaching</a:t>
            </a:r>
          </a:p>
        </p:txBody>
      </p:sp>
      <p:sp>
        <p:nvSpPr>
          <p:cNvPr id="8" name="level-1">
            <a:extLst xmlns:a="http://schemas.openxmlformats.org/drawingml/2006/main">
              <a:ext uri="{FF2B5EF4-FFF2-40B4-BE49-F238E27FC236}">
                <a16:creationId xmlns:a16="http://schemas.microsoft.com/office/drawing/2014/main" id="{76D1C0FD-2321-4F63-8616-43A0303B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86075"/>
            <a:ext cx="7715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level-band-1">
            <a:extLst xmlns:a="http://schemas.openxmlformats.org/drawingml/2006/main">
              <a:ext uri="{FF2B5EF4-FFF2-40B4-BE49-F238E27FC236}">
                <a16:creationId xmlns:a16="http://schemas.microsoft.com/office/drawing/2014/main" id="{CDE1A91C-BCDA-4E42-9AD8-A11421A5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86075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level-k-1">
            <a:extLst xmlns:a="http://schemas.openxmlformats.org/drawingml/2006/main">
              <a:ext uri="{FF2B5EF4-FFF2-40B4-BE49-F238E27FC236}">
                <a16:creationId xmlns:a16="http://schemas.microsoft.com/office/drawing/2014/main" id="{637A4227-DFB3-4BF4-A1D3-A9F0F126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86075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HIGHER</a:t>
            </a:r>
          </a:p>
        </p:txBody>
      </p:sp>
      <p:sp>
        <p:nvSpPr>
          <p:cNvPr id="11" name="level-v-1">
            <a:extLst xmlns:a="http://schemas.openxmlformats.org/drawingml/2006/main">
              <a:ext uri="{FF2B5EF4-FFF2-40B4-BE49-F238E27FC236}">
                <a16:creationId xmlns:a16="http://schemas.microsoft.com/office/drawing/2014/main" id="{26007EF7-8AF6-4705-82E9-30C6ECC2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86075"/>
            <a:ext cx="5667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English instruction</a:t>
            </a:r>
          </a:p>
        </p:txBody>
      </p:sp>
      <p:sp>
        <p:nvSpPr>
          <p:cNvPr id="12" name="level-2">
            <a:extLst xmlns:a="http://schemas.openxmlformats.org/drawingml/2006/main">
              <a:ext uri="{FF2B5EF4-FFF2-40B4-BE49-F238E27FC236}">
                <a16:creationId xmlns:a16="http://schemas.microsoft.com/office/drawing/2014/main" id="{FBFF495A-A27A-49B7-8624-399F3153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571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level-band-2">
            <a:extLst xmlns:a="http://schemas.openxmlformats.org/drawingml/2006/main">
              <a:ext uri="{FF2B5EF4-FFF2-40B4-BE49-F238E27FC236}">
                <a16:creationId xmlns:a16="http://schemas.microsoft.com/office/drawing/2014/main" id="{BB4E47F9-6B16-43D3-9A32-9D0A2663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1428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4" name="level-k-2">
            <a:extLst xmlns:a="http://schemas.openxmlformats.org/drawingml/2006/main">
              <a:ext uri="{FF2B5EF4-FFF2-40B4-BE49-F238E27FC236}">
                <a16:creationId xmlns:a16="http://schemas.microsoft.com/office/drawing/2014/main" id="{B581A2A8-E545-4824-9203-39FCB0AA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EMPLOYMENT</a:t>
            </a:r>
          </a:p>
        </p:txBody>
      </p:sp>
      <p:sp>
        <p:nvSpPr>
          <p:cNvPr id="15" name="level-v-2">
            <a:extLst xmlns:a="http://schemas.openxmlformats.org/drawingml/2006/main">
              <a:ext uri="{FF2B5EF4-FFF2-40B4-BE49-F238E27FC236}">
                <a16:creationId xmlns:a16="http://schemas.microsoft.com/office/drawing/2014/main" id="{FF803070-7488-4218-ADB7-69DF1682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19550"/>
            <a:ext cx="3667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English advantage</a:t>
            </a:r>
          </a:p>
        </p:txBody>
      </p:sp>
      <p:sp>
        <p:nvSpPr>
          <p:cNvPr id="16" name="limit">
            <a:extLst xmlns:a="http://schemas.openxmlformats.org/drawingml/2006/main">
              <a:ext uri="{FF2B5EF4-FFF2-40B4-BE49-F238E27FC236}">
                <a16:creationId xmlns:a16="http://schemas.microsoft.com/office/drawing/2014/main" id="{DD8A3FE9-9A00-4E9C-B441-A739E157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578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English-only is inaccurate.</a:t>
            </a:r>
          </a:p>
        </p:txBody>
      </p:sp>
      <p:sp>
        <p:nvSpPr>
          <p:cNvPr id="17" name="detail">
            <a:extLst xmlns:a="http://schemas.openxmlformats.org/drawingml/2006/main">
              <a:ext uri="{FF2B5EF4-FFF2-40B4-BE49-F238E27FC236}">
                <a16:creationId xmlns:a16="http://schemas.microsoft.com/office/drawing/2014/main" id="{ABAC2BB3-40EF-45CD-96B4-370DA328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245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Access still stayed unequal.</a:t>
            </a:r>
          </a:p>
        </p:txBody>
      </p:sp>
    </p:spTree>
    <p:extLst>
      <p:ext uri="{BB962C8B-B14F-4D97-AF65-F5344CB8AC3E}">
        <p14:creationId xmlns:p14="http://schemas.microsoft.com/office/powerpoint/2010/main" val="534188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9773C38F-9015-44F7-917B-2C26ACDC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Classrooms sorted opportunities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DFEBCFC-7D09-4CB0-91E2-34F21373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9693EBBC-BAE2-4DD0-A2CB-DB1DBF64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05 / 05</a:t>
            </a:r>
          </a:p>
        </p:txBody>
      </p:sp>
      <p:sp>
        <p:nvSpPr>
          <p:cNvPr id="4" name="band-0">
            <a:extLst xmlns:a="http://schemas.openxmlformats.org/drawingml/2006/main">
              <a:ext uri="{FF2B5EF4-FFF2-40B4-BE49-F238E27FC236}">
                <a16:creationId xmlns:a16="http://schemas.microsoft.com/office/drawing/2014/main" id="{CD180049-873A-4ECB-9F17-A2D85512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9906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B4658"/>
          </a:solidFill>
          <a:ln xmlns:a="http://schemas.openxmlformats.org/drawingml/2006/main" w="0">
            <a:noFill/>
          </a:ln>
        </p:spPr>
      </p:sp>
      <p:sp>
        <p:nvSpPr>
          <p:cNvPr id="5" name="band-k-0">
            <a:extLst xmlns:a="http://schemas.openxmlformats.org/drawingml/2006/main">
              <a:ext uri="{FF2B5EF4-FFF2-40B4-BE49-F238E27FC236}">
                <a16:creationId xmlns:a16="http://schemas.microsoft.com/office/drawing/2014/main" id="{310E31C8-04AB-4F0E-B64F-B28DE9D5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76400"/>
            <a:ext cx="257556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MANY</a:t>
            </a:r>
          </a:p>
        </p:txBody>
      </p:sp>
      <p:sp>
        <p:nvSpPr>
          <p:cNvPr id="6" name="band-v-0">
            <a:extLst xmlns:a="http://schemas.openxmlformats.org/drawingml/2006/main">
              <a:ext uri="{FF2B5EF4-FFF2-40B4-BE49-F238E27FC236}">
                <a16:creationId xmlns:a16="http://schemas.microsoft.com/office/drawing/2014/main" id="{71469D13-901A-4374-AACB-FF07CF7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1676400"/>
            <a:ext cx="663702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Local communities</a:t>
            </a:r>
          </a:p>
        </p:txBody>
      </p:sp>
      <p:sp>
        <p:nvSpPr>
          <p:cNvPr id="7" name="band-1">
            <a:extLst xmlns:a="http://schemas.openxmlformats.org/drawingml/2006/main">
              <a:ext uri="{FF2B5EF4-FFF2-40B4-BE49-F238E27FC236}">
                <a16:creationId xmlns:a16="http://schemas.microsoft.com/office/drawing/2014/main" id="{67CB0B8E-CF4F-4A88-8114-BBBC21CF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71750"/>
            <a:ext cx="8096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8" name="band-k-1">
            <a:extLst xmlns:a="http://schemas.openxmlformats.org/drawingml/2006/main">
              <a:ext uri="{FF2B5EF4-FFF2-40B4-BE49-F238E27FC236}">
                <a16:creationId xmlns:a16="http://schemas.microsoft.com/office/drawing/2014/main" id="{61BFD371-E43A-4AE3-9113-3CE8E95D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571750"/>
            <a:ext cx="2105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FEWER</a:t>
            </a:r>
          </a:p>
        </p:txBody>
      </p:sp>
      <p:sp>
        <p:nvSpPr>
          <p:cNvPr id="9" name="band-v-1">
            <a:extLst xmlns:a="http://schemas.openxmlformats.org/drawingml/2006/main">
              <a:ext uri="{FF2B5EF4-FFF2-40B4-BE49-F238E27FC236}">
                <a16:creationId xmlns:a16="http://schemas.microsoft.com/office/drawing/2014/main" id="{484ECF3F-CB3F-4877-A68B-A9CF08F0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542448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School access</a:t>
            </a:r>
          </a:p>
        </p:txBody>
      </p:sp>
      <p:sp>
        <p:nvSpPr>
          <p:cNvPr id="10" name="band-2">
            <a:extLst xmlns:a="http://schemas.openxmlformats.org/drawingml/2006/main">
              <a:ext uri="{FF2B5EF4-FFF2-40B4-BE49-F238E27FC236}">
                <a16:creationId xmlns:a16="http://schemas.microsoft.com/office/drawing/2014/main" id="{B89EEC5E-588E-4F2A-8E01-23DCD12B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628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1" name="band-k-2">
            <a:extLst xmlns:a="http://schemas.openxmlformats.org/drawingml/2006/main">
              <a:ext uri="{FF2B5EF4-FFF2-40B4-BE49-F238E27FC236}">
                <a16:creationId xmlns:a16="http://schemas.microsoft.com/office/drawing/2014/main" id="{7F84088F-24D2-489C-BF6D-51A54902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163449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FEWER</a:t>
            </a:r>
          </a:p>
        </p:txBody>
      </p:sp>
      <p:sp>
        <p:nvSpPr>
          <p:cNvPr id="12" name="band-v-2">
            <a:extLst xmlns:a="http://schemas.openxmlformats.org/drawingml/2006/main">
              <a:ext uri="{FF2B5EF4-FFF2-40B4-BE49-F238E27FC236}">
                <a16:creationId xmlns:a16="http://schemas.microsoft.com/office/drawing/2014/main" id="{2BE8CEF3-3B6F-47AF-AE03-5DAB3BD7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970" y="3467100"/>
            <a:ext cx="421195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English higher study</a:t>
            </a:r>
          </a:p>
        </p:txBody>
      </p:sp>
      <p:sp>
        <p:nvSpPr>
          <p:cNvPr id="13" name="band-3">
            <a:extLst xmlns:a="http://schemas.openxmlformats.org/drawingml/2006/main">
              <a:ext uri="{FF2B5EF4-FFF2-40B4-BE49-F238E27FC236}">
                <a16:creationId xmlns:a16="http://schemas.microsoft.com/office/drawing/2014/main" id="{7E47240E-5A43-4E10-93CE-E4EBB3C1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62450"/>
            <a:ext cx="447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4" name="band-k-3">
            <a:extLst xmlns:a="http://schemas.openxmlformats.org/drawingml/2006/main">
              <a:ext uri="{FF2B5EF4-FFF2-40B4-BE49-F238E27FC236}">
                <a16:creationId xmlns:a16="http://schemas.microsoft.com/office/drawing/2014/main" id="{61F314E0-27AB-458A-90FC-4ED9E424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362450"/>
            <a:ext cx="116395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FEWEST</a:t>
            </a:r>
          </a:p>
        </p:txBody>
      </p:sp>
      <p:sp>
        <p:nvSpPr>
          <p:cNvPr id="15" name="band-v-3">
            <a:extLst xmlns:a="http://schemas.openxmlformats.org/drawingml/2006/main">
              <a:ext uri="{FF2B5EF4-FFF2-40B4-BE49-F238E27FC236}">
                <a16:creationId xmlns:a16="http://schemas.microsoft.com/office/drawing/2014/main" id="{AB4E876D-B581-4E70-BBF9-54392C2A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115" y="4362450"/>
            <a:ext cx="299942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Preferred employment</a:t>
            </a:r>
          </a:p>
        </p:txBody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A7F7539A-2D0E-4E74-A9EF-3A927C85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91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Access shaped outcomes.</a:t>
            </a:r>
          </a:p>
        </p:txBody>
      </p:sp>
    </p:spTree>
    <p:extLst>
      <p:ext uri="{BB962C8B-B14F-4D97-AF65-F5344CB8AC3E}">
        <p14:creationId xmlns:p14="http://schemas.microsoft.com/office/powerpoint/2010/main" val="1642939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A0B1AEDA-EFC5-4C02-AD04-6C4F788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Resistance reshaped English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F9CF81D-D22C-4DA8-91D6-F4F3698A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7A41D146-682A-47B1-A07F-41377921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05 / 06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8EC8CA64-73F2-4425-8A1F-5D870951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circle-0">
            <a:extLst xmlns:a="http://schemas.openxmlformats.org/drawingml/2006/main">
              <a:ext uri="{FF2B5EF4-FFF2-40B4-BE49-F238E27FC236}">
                <a16:creationId xmlns:a16="http://schemas.microsoft.com/office/drawing/2014/main" id="{9DF753C5-0BD2-4EED-A7C5-0C78CC84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095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6" name="number-0">
            <a:extLst xmlns:a="http://schemas.openxmlformats.org/drawingml/2006/main">
              <a:ext uri="{FF2B5EF4-FFF2-40B4-BE49-F238E27FC236}">
                <a16:creationId xmlns:a16="http://schemas.microsoft.com/office/drawing/2014/main" id="{66EB5D70-B212-4155-885B-D5A71A02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09550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2483FAAA-6B07-4E7B-BCDB-29FF071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GANDHI</a:t>
            </a:r>
          </a:p>
        </p:txBody>
      </p:sp>
      <p:sp>
        <p:nvSpPr>
          <p:cNvPr id="8" name="head-0">
            <a:extLst xmlns:a="http://schemas.openxmlformats.org/drawingml/2006/main">
              <a:ext uri="{FF2B5EF4-FFF2-40B4-BE49-F238E27FC236}">
                <a16:creationId xmlns:a16="http://schemas.microsoft.com/office/drawing/2014/main" id="{8ED2B51E-040A-459C-A898-19A514F3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Critiqued English education.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54F1F57A-8C7B-401A-B73D-3F97F433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90700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circle-1">
            <a:extLst xmlns:a="http://schemas.openxmlformats.org/drawingml/2006/main">
              <a:ext uri="{FF2B5EF4-FFF2-40B4-BE49-F238E27FC236}">
                <a16:creationId xmlns:a16="http://schemas.microsoft.com/office/drawing/2014/main" id="{DF0F1DBE-860D-458F-BF07-9E47C19E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95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11" name="number-1">
            <a:extLst xmlns:a="http://schemas.openxmlformats.org/drawingml/2006/main">
              <a:ext uri="{FF2B5EF4-FFF2-40B4-BE49-F238E27FC236}">
                <a16:creationId xmlns:a16="http://schemas.microsoft.com/office/drawing/2014/main" id="{840ED09F-077A-4112-9D41-DEEF4CEE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9550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0B8ABDB2-523B-448B-893B-AB6DFDD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908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TACTIC</a:t>
            </a:r>
          </a:p>
        </p:txBody>
      </p:sp>
      <p:sp>
        <p:nvSpPr>
          <p:cNvPr id="13" name="head-1">
            <a:extLst xmlns:a="http://schemas.openxmlformats.org/drawingml/2006/main">
              <a:ext uri="{FF2B5EF4-FFF2-40B4-BE49-F238E27FC236}">
                <a16:creationId xmlns:a16="http://schemas.microsoft.com/office/drawing/2014/main" id="{1BCAAEED-D6CA-42E5-BE51-EA0FB34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38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English also carried dissent.</a:t>
            </a:r>
          </a:p>
        </p:txBody>
      </p:sp>
      <p:sp>
        <p:nvSpPr>
          <p:cNvPr id="14" name="card-2">
            <a:extLst xmlns:a="http://schemas.openxmlformats.org/drawingml/2006/main">
              <a:ext uri="{FF2B5EF4-FFF2-40B4-BE49-F238E27FC236}">
                <a16:creationId xmlns:a16="http://schemas.microsoft.com/office/drawing/2014/main" id="{73517281-5A9B-4B3B-81CF-4570E511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90700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circle-2">
            <a:extLst xmlns:a="http://schemas.openxmlformats.org/drawingml/2006/main">
              <a:ext uri="{FF2B5EF4-FFF2-40B4-BE49-F238E27FC236}">
                <a16:creationId xmlns:a16="http://schemas.microsoft.com/office/drawing/2014/main" id="{AA65A1F5-9C9F-4869-AB5E-CC3162FE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95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47625">
            <a:solidFill>
              <a:srgbClr val="F7F1E5"/>
            </a:solidFill>
          </a:ln>
        </p:spPr>
      </p:sp>
      <p:sp>
        <p:nvSpPr>
          <p:cNvPr id="16" name="number-2">
            <a:extLst xmlns:a="http://schemas.openxmlformats.org/drawingml/2006/main">
              <a:ext uri="{FF2B5EF4-FFF2-40B4-BE49-F238E27FC236}">
                <a16:creationId xmlns:a16="http://schemas.microsoft.com/office/drawing/2014/main" id="{9D4842F7-8CC1-45EB-A336-742BAB1C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95500"/>
            <a:ext cx="876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7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7" name="k-2">
            <a:extLst xmlns:a="http://schemas.openxmlformats.org/drawingml/2006/main">
              <a:ext uri="{FF2B5EF4-FFF2-40B4-BE49-F238E27FC236}">
                <a16:creationId xmlns:a16="http://schemas.microsoft.com/office/drawing/2014/main" id="{722F0CF4-B358-413A-AFE6-5A56E27D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908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OUTCOME</a:t>
            </a:r>
          </a:p>
        </p:txBody>
      </p:sp>
      <p:sp>
        <p:nvSpPr>
          <p:cNvPr id="18" name="head-2">
            <a:extLst xmlns:a="http://schemas.openxmlformats.org/drawingml/2006/main">
              <a:ext uri="{FF2B5EF4-FFF2-40B4-BE49-F238E27FC236}">
                <a16:creationId xmlns:a16="http://schemas.microsoft.com/office/drawing/2014/main" id="{F5A178F4-F31F-4EF4-BA3A-ED7CBE7D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38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Speakers changed English.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F3DC027D-433C-44EA-8412-289480A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Resistance took several forms.</a:t>
            </a:r>
          </a:p>
        </p:txBody>
      </p:sp>
      <p:sp>
        <p:nvSpPr>
          <p:cNvPr id="20" name="limit">
            <a:extLst xmlns:a="http://schemas.openxmlformats.org/drawingml/2006/main">
              <a:ext uri="{FF2B5EF4-FFF2-40B4-BE49-F238E27FC236}">
                <a16:creationId xmlns:a16="http://schemas.microsoft.com/office/drawing/2014/main" id="{6FEE55D0-DF6A-4F41-86F7-2154302D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95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Rejection was never universal.</a:t>
            </a:r>
          </a:p>
        </p:txBody>
      </p:sp>
    </p:spTree>
    <p:extLst>
      <p:ext uri="{BB962C8B-B14F-4D97-AF65-F5344CB8AC3E}">
        <p14:creationId xmlns:p14="http://schemas.microsoft.com/office/powerpoint/2010/main" val="20033938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">
            <a:extLst xmlns:a="http://schemas.openxmlformats.org/drawingml/2006/main">
              <a:ext uri="{FF2B5EF4-FFF2-40B4-BE49-F238E27FC236}">
                <a16:creationId xmlns:a16="http://schemas.microsoft.com/office/drawing/2014/main" id="{DA71D4B5-A689-4CFC-92C0-FB00C2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English became Englishes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3DD697-9629-4002-924E-53E3DF96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CF2E984E-4F7E-4705-871A-72F4F8AA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05 / 07</a:t>
            </a:r>
          </a:p>
        </p:txBody>
      </p:sp>
      <p:sp>
        <p:nvSpPr>
          <p:cNvPr id="4" name="center">
            <a:extLst xmlns:a="http://schemas.openxmlformats.org/drawingml/2006/main">
              <a:ext uri="{FF2B5EF4-FFF2-40B4-BE49-F238E27FC236}">
                <a16:creationId xmlns:a16="http://schemas.microsoft.com/office/drawing/2014/main" id="{8F8D88A5-1004-4721-BFBD-314AACE6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32766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32331"/>
          </a:solidFill>
          <a:ln xmlns:a="http://schemas.openxmlformats.org/drawingml/2006/main" w="0">
            <a:noFill/>
          </a:ln>
        </p:spPr>
      </p:sp>
      <p:sp>
        <p:nvSpPr>
          <p:cNvPr id="5" name="center-k">
            <a:extLst xmlns:a="http://schemas.openxmlformats.org/drawingml/2006/main">
              <a:ext uri="{FF2B5EF4-FFF2-40B4-BE49-F238E27FC236}">
                <a16:creationId xmlns:a16="http://schemas.microsoft.com/office/drawing/2014/main" id="{B569BBA4-1C99-4424-A48B-259CFC15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3276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CORPUS EVIDENCE</a:t>
            </a:r>
          </a:p>
        </p:txBody>
      </p:sp>
      <p:sp>
        <p:nvSpPr>
          <p:cNvPr id="6" name="center-v">
            <a:extLst xmlns:a="http://schemas.openxmlformats.org/drawingml/2006/main">
              <a:ext uri="{FF2B5EF4-FFF2-40B4-BE49-F238E27FC236}">
                <a16:creationId xmlns:a16="http://schemas.microsoft.com/office/drawing/2014/main" id="{35BCC5BA-AD28-4230-A1AA-9DDFDFD2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Variation is documented.</a:t>
            </a:r>
          </a:p>
        </p:txBody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DCF3E0D1-FDB4-4448-A8F4-DBDD622A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8" name="item-band-0">
            <a:extLst xmlns:a="http://schemas.openxmlformats.org/drawingml/2006/main">
              <a:ext uri="{FF2B5EF4-FFF2-40B4-BE49-F238E27FC236}">
                <a16:creationId xmlns:a16="http://schemas.microsoft.com/office/drawing/2014/main" id="{1A7E5A43-0A75-4B13-912B-243ED7E3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133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9" name="item-k-0">
            <a:extLst xmlns:a="http://schemas.openxmlformats.org/drawingml/2006/main">
              <a:ext uri="{FF2B5EF4-FFF2-40B4-BE49-F238E27FC236}">
                <a16:creationId xmlns:a16="http://schemas.microsoft.com/office/drawing/2014/main" id="{8873BE4A-8BF1-4AC7-BEBE-920E67CF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INDIAN ENGLISH</a:t>
            </a:r>
          </a:p>
        </p:txBody>
      </p:sp>
      <p:sp>
        <p:nvSpPr>
          <p:cNvPr id="10" name="item-v-0">
            <a:extLst xmlns:a="http://schemas.openxmlformats.org/drawingml/2006/main">
              <a:ext uri="{FF2B5EF4-FFF2-40B4-BE49-F238E27FC236}">
                <a16:creationId xmlns:a16="http://schemas.microsoft.com/office/drawing/2014/main" id="{96665279-5B74-4C59-B4E7-2BE75834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Local patterns</a:t>
            </a:r>
          </a:p>
        </p:txBody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9745615A-AB2A-4573-B3E0-1D9580B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526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2" name="item-band-1">
            <a:extLst xmlns:a="http://schemas.openxmlformats.org/drawingml/2006/main">
              <a:ext uri="{FF2B5EF4-FFF2-40B4-BE49-F238E27FC236}">
                <a16:creationId xmlns:a16="http://schemas.microsoft.com/office/drawing/2014/main" id="{49B147E4-BBC2-44E2-A58F-CC4A1C20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52600"/>
            <a:ext cx="133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3" name="item-k-1">
            <a:extLst xmlns:a="http://schemas.openxmlformats.org/drawingml/2006/main">
              <a:ext uri="{FF2B5EF4-FFF2-40B4-BE49-F238E27FC236}">
                <a16:creationId xmlns:a16="http://schemas.microsoft.com/office/drawing/2014/main" id="{324CB6DD-7CB1-4F24-81DF-1CF1EC6C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240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NIGERIAN ENGLISH</a:t>
            </a:r>
          </a:p>
        </p:txBody>
      </p:sp>
      <p:sp>
        <p:nvSpPr>
          <p:cNvPr id="14" name="item-v-1">
            <a:extLst xmlns:a="http://schemas.openxmlformats.org/drawingml/2006/main">
              <a:ext uri="{FF2B5EF4-FFF2-40B4-BE49-F238E27FC236}">
                <a16:creationId xmlns:a16="http://schemas.microsoft.com/office/drawing/2014/main" id="{1C96CB6E-3F06-4C90-BF55-A7507494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0505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Local patterns</a:t>
            </a:r>
          </a:p>
        </p:txBody>
      </p:sp>
      <p:sp>
        <p:nvSpPr>
          <p:cNvPr id="15" name="item-2">
            <a:extLst xmlns:a="http://schemas.openxmlformats.org/drawingml/2006/main">
              <a:ext uri="{FF2B5EF4-FFF2-40B4-BE49-F238E27FC236}">
                <a16:creationId xmlns:a16="http://schemas.microsoft.com/office/drawing/2014/main" id="{6BED2ED6-CE6E-4D94-8FCE-2C67E358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6" name="item-band-2">
            <a:extLst xmlns:a="http://schemas.openxmlformats.org/drawingml/2006/main">
              <a:ext uri="{FF2B5EF4-FFF2-40B4-BE49-F238E27FC236}">
                <a16:creationId xmlns:a16="http://schemas.microsoft.com/office/drawing/2014/main" id="{F23D6C02-F8C1-417A-8B24-A4EA6502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33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7" name="item-k-2">
            <a:extLst xmlns:a="http://schemas.openxmlformats.org/drawingml/2006/main">
              <a:ext uri="{FF2B5EF4-FFF2-40B4-BE49-F238E27FC236}">
                <a16:creationId xmlns:a16="http://schemas.microsoft.com/office/drawing/2014/main" id="{D38123C0-2420-4ACA-B16B-F6B1B8D5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CARIBBEAN ENGLISH</a:t>
            </a:r>
          </a:p>
        </p:txBody>
      </p:sp>
      <p:sp>
        <p:nvSpPr>
          <p:cNvPr id="18" name="item-v-2">
            <a:extLst xmlns:a="http://schemas.openxmlformats.org/drawingml/2006/main">
              <a:ext uri="{FF2B5EF4-FFF2-40B4-BE49-F238E27FC236}">
                <a16:creationId xmlns:a16="http://schemas.microsoft.com/office/drawing/2014/main" id="{BDB6686D-6358-42C2-BA31-AF52E79C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Local patterns</a:t>
            </a:r>
          </a:p>
        </p:txBody>
      </p:sp>
      <p:sp>
        <p:nvSpPr>
          <p:cNvPr id="19" name="item-3">
            <a:extLst xmlns:a="http://schemas.openxmlformats.org/drawingml/2006/main">
              <a:ext uri="{FF2B5EF4-FFF2-40B4-BE49-F238E27FC236}">
                <a16:creationId xmlns:a16="http://schemas.microsoft.com/office/drawing/2014/main" id="{C0D12F03-1BB5-4C49-8B4D-53495B58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148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0" name="item-band-3">
            <a:extLst xmlns:a="http://schemas.openxmlformats.org/drawingml/2006/main">
              <a:ext uri="{FF2B5EF4-FFF2-40B4-BE49-F238E27FC236}">
                <a16:creationId xmlns:a16="http://schemas.microsoft.com/office/drawing/2014/main" id="{F250896F-28C9-4B36-AFCB-42AD3B2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14800"/>
            <a:ext cx="133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1" name="item-k-3">
            <a:extLst xmlns:a="http://schemas.openxmlformats.org/drawingml/2006/main">
              <a:ext uri="{FF2B5EF4-FFF2-40B4-BE49-F238E27FC236}">
                <a16:creationId xmlns:a16="http://schemas.microsoft.com/office/drawing/2014/main" id="{F8AF2488-D0AC-4F2F-91EE-95E24C69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SINGAPORE ENGLISH</a:t>
            </a:r>
          </a:p>
        </p:txBody>
      </p:sp>
      <p:sp>
        <p:nvSpPr>
          <p:cNvPr id="22" name="item-v-3">
            <a:extLst xmlns:a="http://schemas.openxmlformats.org/drawingml/2006/main">
              <a:ext uri="{FF2B5EF4-FFF2-40B4-BE49-F238E27FC236}">
                <a16:creationId xmlns:a16="http://schemas.microsoft.com/office/drawing/2014/main" id="{E707D09A-25C0-4241-B94C-71618961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Local patterns</a:t>
            </a:r>
          </a:p>
        </p:txBody>
      </p:sp>
      <p:sp>
        <p:nvSpPr>
          <p:cNvPr id="23" name="line-a">
            <a:extLst xmlns:a="http://schemas.openxmlformats.org/drawingml/2006/main">
              <a:ext uri="{FF2B5EF4-FFF2-40B4-BE49-F238E27FC236}">
                <a16:creationId xmlns:a16="http://schemas.microsoft.com/office/drawing/2014/main" id="{D61F8EDC-D0C5-4206-B17F-425E45F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BE"/>
          </a:solidFill>
          <a:ln xmlns:a="http://schemas.openxmlformats.org/drawingml/2006/main" w="0">
            <a:noFill/>
          </a:ln>
        </p:spPr>
      </p:sp>
      <p:sp>
        <p:nvSpPr>
          <p:cNvPr id="24" name="line-b">
            <a:extLst xmlns:a="http://schemas.openxmlformats.org/drawingml/2006/main">
              <a:ext uri="{FF2B5EF4-FFF2-40B4-BE49-F238E27FC236}">
                <a16:creationId xmlns:a16="http://schemas.microsoft.com/office/drawing/2014/main" id="{A80B2167-56BA-4552-927F-75BF2823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BE"/>
          </a:solidFill>
          <a:ln xmlns:a="http://schemas.openxmlformats.org/drawingml/2006/main" w="0">
            <a:noFill/>
          </a:ln>
        </p:spPr>
      </p:sp>
      <p:sp>
        <p:nvSpPr>
          <p:cNvPr id="25" name="line-c">
            <a:extLst xmlns:a="http://schemas.openxmlformats.org/drawingml/2006/main">
              <a:ext uri="{FF2B5EF4-FFF2-40B4-BE49-F238E27FC236}">
                <a16:creationId xmlns:a16="http://schemas.microsoft.com/office/drawing/2014/main" id="{670CC99B-C875-4F4F-BE27-9C8DD8F9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BE"/>
          </a:solidFill>
          <a:ln xmlns:a="http://schemas.openxmlformats.org/drawingml/2006/main" w="0">
            <a:noFill/>
          </a:ln>
        </p:spPr>
      </p:sp>
      <p:sp>
        <p:nvSpPr>
          <p:cNvPr id="26" name="line-d">
            <a:extLst xmlns:a="http://schemas.openxmlformats.org/drawingml/2006/main">
              <a:ext uri="{FF2B5EF4-FFF2-40B4-BE49-F238E27FC236}">
                <a16:creationId xmlns:a16="http://schemas.microsoft.com/office/drawing/2014/main" id="{2063FDF2-0753-426F-AE6E-0A6674C0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244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BE"/>
          </a:solidFill>
          <a:ln xmlns:a="http://schemas.openxmlformats.org/drawingml/2006/main" w="0">
            <a:noFill/>
          </a:ln>
        </p:spPr>
      </p:sp>
      <p:sp>
        <p:nvSpPr>
          <p:cNvPr id="27" name="takeaway">
            <a:extLst xmlns:a="http://schemas.openxmlformats.org/drawingml/2006/main">
              <a:ext uri="{FF2B5EF4-FFF2-40B4-BE49-F238E27FC236}">
                <a16:creationId xmlns:a16="http://schemas.microsoft.com/office/drawing/2014/main" id="{304521E3-FC1F-4BFD-80BC-721A7ADF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Difference is not failure.</a:t>
            </a:r>
          </a:p>
        </p:txBody>
      </p:sp>
    </p:spTree>
    <p:extLst>
      <p:ext uri="{BB962C8B-B14F-4D97-AF65-F5344CB8AC3E}">
        <p14:creationId xmlns:p14="http://schemas.microsoft.com/office/powerpoint/2010/main" val="609825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91A51311-870A-4EFD-BDDB-8BFBBAD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Sources and limits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42F5554-3610-40E1-9B5C-D073D73C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8BE8BBA5-5765-4D6D-B563-E6F9E191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05 / 08</a:t>
            </a:r>
          </a:p>
        </p:txBody>
      </p:sp>
      <p:sp>
        <p:nvSpPr>
          <p:cNvPr id="4" name="source-0">
            <a:extLst xmlns:a="http://schemas.openxmlformats.org/drawingml/2006/main">
              <a:ext uri="{FF2B5EF4-FFF2-40B4-BE49-F238E27FC236}">
                <a16:creationId xmlns:a16="http://schemas.microsoft.com/office/drawing/2014/main" id="{25BA4DB1-B559-4C29-B26F-97632154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Macaulay, 1835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3197456B-A4D0-411D-8E3A-A8A87B3E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Funding argument</a:t>
            </a:r>
          </a:p>
        </p:txBody>
      </p:sp>
      <p:sp>
        <p:nvSpPr>
          <p:cNvPr id="6" name="source-rule-0">
            <a:extLst xmlns:a="http://schemas.openxmlformats.org/drawingml/2006/main">
              <a:ext uri="{FF2B5EF4-FFF2-40B4-BE49-F238E27FC236}">
                <a16:creationId xmlns:a16="http://schemas.microsoft.com/office/drawing/2014/main" id="{91222B3A-422A-441E-804D-673AEB2D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0EE63CD5-782E-4531-98FF-F3B4C275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Wood's Despatch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90688228-87D6-4E30-8711-1D896605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241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Layered policy</a:t>
            </a:r>
          </a:p>
        </p:txBody>
      </p:sp>
      <p:sp>
        <p:nvSpPr>
          <p:cNvPr id="9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B19F072E-0843-45FC-8398-0D6600CE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670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0" name="source-2">
            <a:extLst xmlns:a="http://schemas.openxmlformats.org/drawingml/2006/main">
              <a:ext uri="{FF2B5EF4-FFF2-40B4-BE49-F238E27FC236}">
                <a16:creationId xmlns:a16="http://schemas.microsoft.com/office/drawing/2014/main" id="{73649E3B-1F36-4896-B184-09106BC5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Gandhi, 1909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8CDE2FBF-3A56-42CB-8DA9-B3796BE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Education critique</a:t>
            </a:r>
          </a:p>
        </p:txBody>
      </p:sp>
      <p:sp>
        <p:nvSpPr>
          <p:cNvPr id="12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E3F2F292-0364-40C6-A54B-02D6DFE1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99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3" name="source-3">
            <a:extLst xmlns:a="http://schemas.openxmlformats.org/drawingml/2006/main">
              <a:ext uri="{FF2B5EF4-FFF2-40B4-BE49-F238E27FC236}">
                <a16:creationId xmlns:a16="http://schemas.microsoft.com/office/drawing/2014/main" id="{1F1A8C2E-E66A-4FAE-9C9F-F44C60AD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Kachru and ICE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35703E9F-A891-4CD2-882C-D17980DB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World Englishes</a:t>
            </a:r>
          </a:p>
        </p:txBody>
      </p:sp>
      <p:sp>
        <p:nvSpPr>
          <p:cNvPr id="15" name="source-rule-3">
            <a:extLst xmlns:a="http://schemas.openxmlformats.org/drawingml/2006/main">
              <a:ext uri="{FF2B5EF4-FFF2-40B4-BE49-F238E27FC236}">
                <a16:creationId xmlns:a16="http://schemas.microsoft.com/office/drawing/2014/main" id="{96E2128A-7C5E-47AE-B8B3-C08510F9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529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6" name="labels">
            <a:extLst xmlns:a="http://schemas.openxmlformats.org/drawingml/2006/main">
              <a:ext uri="{FF2B5EF4-FFF2-40B4-BE49-F238E27FC236}">
                <a16:creationId xmlns:a16="http://schemas.microsoft.com/office/drawing/2014/main" id="{12134564-58E7-45E8-9C4D-B431561D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91075"/>
            <a:ext cx="102393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0">
            <a:noFill/>
          </a:ln>
        </p:spPr>
      </p:sp>
      <p:sp>
        <p:nvSpPr>
          <p:cNvPr id="17" name="evidence">
            <a:extLst xmlns:a="http://schemas.openxmlformats.org/drawingml/2006/main">
              <a:ext uri="{FF2B5EF4-FFF2-40B4-BE49-F238E27FC236}">
                <a16:creationId xmlns:a16="http://schemas.microsoft.com/office/drawing/2014/main" id="{9534D6CA-BDC1-4229-8044-E748EC49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9107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EVIDENCE</a:t>
            </a:r>
          </a:p>
        </p:txBody>
      </p:sp>
      <p:sp>
        <p:nvSpPr>
          <p:cNvPr id="18" name="inference">
            <a:extLst xmlns:a="http://schemas.openxmlformats.org/drawingml/2006/main">
              <a:ext uri="{FF2B5EF4-FFF2-40B4-BE49-F238E27FC236}">
                <a16:creationId xmlns:a16="http://schemas.microsoft.com/office/drawing/2014/main" id="{1BD30BBB-F2E8-4505-8935-FE5A2F4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791075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INFERENCE</a:t>
            </a:r>
          </a:p>
        </p:txBody>
      </p:sp>
      <p:sp>
        <p:nvSpPr>
          <p:cNvPr id="19" name="unproven">
            <a:extLst xmlns:a="http://schemas.openxmlformats.org/drawingml/2006/main">
              <a:ext uri="{FF2B5EF4-FFF2-40B4-BE49-F238E27FC236}">
                <a16:creationId xmlns:a16="http://schemas.microsoft.com/office/drawing/2014/main" id="{7627B5AC-F3A7-4283-A55C-1DC7DC24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91075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UNPROVEN</a:t>
            </a:r>
          </a:p>
        </p:txBody>
      </p:sp>
      <p:sp>
        <p:nvSpPr>
          <p:cNvPr id="20" name="next">
            <a:extLst xmlns:a="http://schemas.openxmlformats.org/drawingml/2006/main">
              <a:ext uri="{FF2B5EF4-FFF2-40B4-BE49-F238E27FC236}">
                <a16:creationId xmlns:a16="http://schemas.microsoft.com/office/drawing/2014/main" id="{3AB4D293-A9D7-430D-83E3-E8A64B07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NEXT: Why English dominated</a:t>
            </a:r>
          </a:p>
        </p:txBody>
      </p:sp>
    </p:spTree>
    <p:extLst>
      <p:ext uri="{BB962C8B-B14F-4D97-AF65-F5344CB8AC3E}">
        <p14:creationId xmlns:p14="http://schemas.microsoft.com/office/powerpoint/2010/main" val="495553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2026-09-24T21:27:29.0000000Z</dcterms:created>
  <dcterms:modified xsi:type="dcterms:W3CDTF">2026-09-24T21:27:29.0000000Z</dcterms:modified>
</coreProperties>
</file>