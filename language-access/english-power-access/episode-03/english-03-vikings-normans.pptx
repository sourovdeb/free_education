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24e32f90c4e85" /><Relationship Type="http://schemas.openxmlformats.org/officeDocument/2006/relationships/extended-properties" Target="/docProps/app.xml" Id="R1a814b34aaf64c73" /><Relationship Type="http://schemas.openxmlformats.org/officeDocument/2006/relationships/officeDocument" Target="/ppt/presentation.xml" Id="R74ff615568f0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4771238d824e72"/>
  </p:sldMasterIdLst>
  <p:notesMasterIdLst>
    <p:notesMasterId xmlns:r="http://schemas.openxmlformats.org/officeDocument/2006/relationships" r:id="R987953bec4a74de2"/>
  </p:notesMasterIdLst>
  <p:sldIdLst>
    <p:sldId xmlns:r="http://schemas.openxmlformats.org/officeDocument/2006/relationships" id="256" r:id="R53a101e67b6949fa"/>
    <p:sldId xmlns:r="http://schemas.openxmlformats.org/officeDocument/2006/relationships" id="257" r:id="R353645d299b14324"/>
    <p:sldId xmlns:r="http://schemas.openxmlformats.org/officeDocument/2006/relationships" id="258" r:id="R994d0e9418524304"/>
    <p:sldId xmlns:r="http://schemas.openxmlformats.org/officeDocument/2006/relationships" id="259" r:id="R3b7ef3aa95d3496a"/>
    <p:sldId xmlns:r="http://schemas.openxmlformats.org/officeDocument/2006/relationships" id="260" r:id="Rbe04fadb0b1041b8"/>
    <p:sldId xmlns:r="http://schemas.openxmlformats.org/officeDocument/2006/relationships" id="261" r:id="Rb9f2f5467ce340f1"/>
    <p:sldId xmlns:r="http://schemas.openxmlformats.org/officeDocument/2006/relationships" id="262" r:id="Rcaf2e5aa07ca44f4"/>
    <p:sldId xmlns:r="http://schemas.openxmlformats.org/officeDocument/2006/relationships" id="263" r:id="R44e2e1ea4ec446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76fa5506bd4b49" /><Relationship Type="http://schemas.openxmlformats.org/officeDocument/2006/relationships/slideMaster" Target="/ppt/slideMasters/slideMaster1.xml" Id="R9b4771238d824e72" /><Relationship Type="http://schemas.openxmlformats.org/officeDocument/2006/relationships/notesMaster" Target="/ppt/notesMasters/notesMaster1.xml" Id="R987953bec4a74de2" /><Relationship Type="http://schemas.openxmlformats.org/officeDocument/2006/relationships/presProps" Target="/ppt/presProps.xml" Id="Rffa7964588dd46d6" /><Relationship Type="http://schemas.openxmlformats.org/officeDocument/2006/relationships/tableStyles" Target="/ppt/tableStyles.xml" Id="Rde8e97e20aea47bb" /><Relationship Type="http://schemas.openxmlformats.org/officeDocument/2006/relationships/slide" Target="/ppt/slides/slide1.xml" Id="R53a101e67b6949fa" /><Relationship Type="http://schemas.openxmlformats.org/officeDocument/2006/relationships/slide" Target="/ppt/slides/slide2.xml" Id="R353645d299b14324" /><Relationship Type="http://schemas.openxmlformats.org/officeDocument/2006/relationships/slide" Target="/ppt/slides/slide3.xml" Id="R994d0e9418524304" /><Relationship Type="http://schemas.openxmlformats.org/officeDocument/2006/relationships/slide" Target="/ppt/slides/slide4.xml" Id="R3b7ef3aa95d3496a" /><Relationship Type="http://schemas.openxmlformats.org/officeDocument/2006/relationships/slide" Target="/ppt/slides/slide5.xml" Id="Rbe04fadb0b1041b8" /><Relationship Type="http://schemas.openxmlformats.org/officeDocument/2006/relationships/slide" Target="/ppt/slides/slide6.xml" Id="Rb9f2f5467ce340f1" /><Relationship Type="http://schemas.openxmlformats.org/officeDocument/2006/relationships/slide" Target="/ppt/slides/slide7.xml" Id="Rcaf2e5aa07ca44f4" /><Relationship Type="http://schemas.openxmlformats.org/officeDocument/2006/relationships/slide" Target="/ppt/slides/slide8.xml" Id="R44e2e1ea4ec4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5d813e702b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588687aff47dc" /><Relationship Type="http://schemas.openxmlformats.org/officeDocument/2006/relationships/notesMaster" Target="/ppt/notesMasters/notesMaster1.xml" Id="R562e61bd2ec0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00f34a79184ec6" /><Relationship Type="http://schemas.openxmlformats.org/officeDocument/2006/relationships/notesMaster" Target="/ppt/notesMasters/notesMaster1.xml" Id="R6f7782a7f3e645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abdb886f784104" /><Relationship Type="http://schemas.openxmlformats.org/officeDocument/2006/relationships/notesMaster" Target="/ppt/notesMasters/notesMaster1.xml" Id="R3830f58716ab48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8a7984f524cd9" /><Relationship Type="http://schemas.openxmlformats.org/officeDocument/2006/relationships/notesMaster" Target="/ppt/notesMasters/notesMaster1.xml" Id="Raaf17c0a3d0d4f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928daea9d24b8e" /><Relationship Type="http://schemas.openxmlformats.org/officeDocument/2006/relationships/notesMaster" Target="/ppt/notesMasters/notesMaster1.xml" Id="Ra3855662e21140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eb2dd5a424d6a" /><Relationship Type="http://schemas.openxmlformats.org/officeDocument/2006/relationships/notesMaster" Target="/ppt/notesMasters/notesMaster1.xml" Id="Rd8d11333375448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d1bce112c54505" /><Relationship Type="http://schemas.openxmlformats.org/officeDocument/2006/relationships/notesMaster" Target="/ppt/notesMasters/notesMaster1.xml" Id="R303b9c9fa5744a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3cc698c3ba469b" /><Relationship Type="http://schemas.openxmlformats.org/officeDocument/2006/relationships/notesMaster" Target="/ppt/notesMasters/notesMaster1.xml" Id="R7c57916d14664a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Two contacts differed.</a:t>
            </a:r>
          </a:p>
          <a:p xmlns:a="http://schemas.openxmlformats.org/drawingml/2006/main">
            <a:r>
              <a:t>Inference: Power shaped borrowing.</a:t>
            </a:r>
          </a:p>
          <a:p xmlns:a="http://schemas.openxmlformats.org/drawingml/2006/main">
            <a:r>
              <a:t>Unproven: One simple cause.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https://www.gersum.org/database</a:t>
            </a:r>
          </a:p>
          <a:p xmlns:a="http://schemas.openxmlformats.org/drawingml/2006/main">
            <a:r>
              <a:t>https://www.jstor.org/stable/26926611</a:t>
            </a:r>
          </a:p>
          <a:p xmlns:a="http://schemas.openxmlformats.org/drawingml/2006/main">
            <a:r>
              <a:t>https://www.nationalarchives.gov.uk/education/resources/domesday-book/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Norse settlement spread.</a:t>
            </a:r>
          </a:p>
          <a:p xmlns:a="http://schemas.openxmlformats.org/drawingml/2006/main">
            <a:r>
              <a:t>Evidence: Normans conquered England.</a:t>
            </a:r>
          </a:p>
          <a:p xmlns:a="http://schemas.openxmlformats.org/drawingml/2006/main">
            <a:r>
              <a:t>Inference: Contact types differed.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https://www.gersum.org/database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https://www.nationalarchives.gov.uk/education/resources/domesday-book/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Gersum tracks origins.</a:t>
            </a:r>
          </a:p>
          <a:p xmlns:a="http://schemas.openxmlformats.org/drawingml/2006/main">
            <a:r>
              <a:t>Evidence: These examples qualify.</a:t>
            </a:r>
          </a:p>
          <a:p xmlns:a="http://schemas.openxmlformats.org/drawingml/2006/main">
            <a:r>
              <a:t>Inference: Contact was ordinary.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https://www.gersum.org/database</a:t>
            </a:r>
          </a:p>
          <a:p xmlns:a="http://schemas.openxmlformats.org/drawingml/2006/main">
            <a:r>
              <a:t>https://www.dhi.ac.uk/projects/gersum/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Inflections simplified.</a:t>
            </a:r>
          </a:p>
          <a:p xmlns:a="http://schemas.openxmlformats.org/drawingml/2006/main">
            <a:r>
              <a:t>Inference: Contact accelerated change.</a:t>
            </a:r>
          </a:p>
          <a:p xmlns:a="http://schemas.openxmlformats.org/drawingml/2006/main">
            <a:r>
              <a:t>Unproven: Norse caused everything.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https://www.jstor.org/stable/26926611</a:t>
            </a:r>
          </a:p>
          <a:p xmlns:a="http://schemas.openxmlformats.org/drawingml/2006/main">
            <a:r>
              <a:t>https://research-portal.uu.nl/ws/files/152197688/acrefore_9780199384655_e_929.pdf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English remained spoken.</a:t>
            </a:r>
          </a:p>
          <a:p xmlns:a="http://schemas.openxmlformats.org/drawingml/2006/main">
            <a:r>
              <a:t>Evidence: Inspectors used French.</a:t>
            </a:r>
          </a:p>
          <a:p xmlns:a="http://schemas.openxmlformats.org/drawingml/2006/main">
            <a:r>
              <a:t>Evidence: Records used Latin.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https://www.nationalarchives.gov.uk/education/resources/domesday-book/</a:t>
            </a:r>
          </a:p>
          <a:p xmlns:a="http://schemas.openxmlformats.org/drawingml/2006/main">
            <a:r>
              <a:t>https://www.nationalarchives.gov.uk/help-with-your-research/research-guides/domesday-book/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French supplied words.</a:t>
            </a:r>
          </a:p>
          <a:p xmlns:a="http://schemas.openxmlformats.org/drawingml/2006/main">
            <a:r>
              <a:t>Inference: Institutions shaped uptake.</a:t>
            </a:r>
          </a:p>
          <a:p xmlns:a="http://schemas.openxmlformats.org/drawingml/2006/main">
            <a:r>
              <a:t>Unproven: Borrowing erased English.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https://anglo-norman.net/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https://www.bl.uk/about/projects/medieval-england-and-france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English persisted.</a:t>
            </a:r>
          </a:p>
          <a:p xmlns:a="http://schemas.openxmlformats.org/drawingml/2006/main">
            <a:r>
              <a:t>Inference: Mixing remained gradual.</a:t>
            </a:r>
          </a:p>
          <a:p xmlns:a="http://schemas.openxmlformats.org/drawingml/2006/main">
            <a:r>
              <a:t>Unproven: One change date.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https://www.gersum.org/database</a:t>
            </a:r>
          </a:p>
          <a:p xmlns:a="http://schemas.openxmlformats.org/drawingml/2006/main">
            <a:r>
              <a:t>https://www.nationalarchives.gov.uk/education/resources/domesday-book/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Sources appear above.</a:t>
            </a:r>
          </a:p>
          <a:p xmlns:a="http://schemas.openxmlformats.org/drawingml/2006/main">
            <a:r>
              <a:t>Inference: Claims stay labelled.</a:t>
            </a:r>
          </a:p>
          <a:p xmlns:a="http://schemas.openxmlformats.org/drawingml/2006/main">
            <a:r>
              <a:t>Unproven claims stay visible.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https://www.gersum.org/database</a:t>
            </a:r>
          </a:p>
          <a:p xmlns:a="http://schemas.openxmlformats.org/drawingml/2006/main">
            <a:r>
              <a:t>https://www.dhi.ac.uk/projects/gersum/</a:t>
            </a:r>
          </a:p>
          <a:p xmlns:a="http://schemas.openxmlformats.org/drawingml/2006/main">
            <a:r>
              <a:t>https://www.jstor.org/stable/26926611</a:t>
            </a:r>
          </a:p>
          <a:p xmlns:a="http://schemas.openxmlformats.org/drawingml/2006/main">
            <a:r>
              <a:t>https://research-portal.uu.nl/ws/files/152197688/acrefore_9780199384655_e_929.pdf</a:t>
            </a:r>
          </a:p>
          <a:p xmlns:a="http://schemas.openxmlformats.org/drawingml/2006/main">
            <a:r>
              <a:t>https://www.nationalarchives.gov.uk/education/resources/domesday-book/</a:t>
            </a:r>
          </a:p>
          <a:p xmlns:a="http://schemas.openxmlformats.org/drawingml/2006/main">
            <a:r>
              <a:t>https://www.nationalarchives.gov.uk/help-with-your-research/research-guides/domesday-book/</a:t>
            </a:r>
          </a:p>
          <a:p xmlns:a="http://schemas.openxmlformats.org/drawingml/2006/main">
            <a:r>
              <a:t>https://lrc.la.utexas.edu/eieol/engol/0</a:t>
            </a:r>
          </a:p>
          <a:p xmlns:a="http://schemas.openxmlformats.org/drawingml/2006/main">
            <a:r>
              <a:t>https://anglo-norman.net/</a:t>
            </a:r>
          </a:p>
          <a:p xmlns:a="http://schemas.openxmlformats.org/drawingml/2006/main">
            <a:r>
              <a:t>https://www.bl.uk/about/projects/medieval-england-and-france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d8cf92f3e4c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8dd9b7731d44a4" /><Relationship Type="http://schemas.openxmlformats.org/officeDocument/2006/relationships/slideLayout" Target="/ppt/slideLayouts/slideLayout1.xml" Id="R83a2cf2c7e6b4d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2cf2c7e6b4d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29e0f2bfc49f9" /><Relationship Type="http://schemas.openxmlformats.org/officeDocument/2006/relationships/image" Target="/ppt/media/image.png" Id="Rc3a79a095e3d49c9" /><Relationship Type="http://schemas.openxmlformats.org/officeDocument/2006/relationships/notesSlide" Target="/ppt/notesSlides/notesSlide1.xml" Id="R28b0c51c397e4d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463dcd4e14f52" /><Relationship Type="http://schemas.openxmlformats.org/officeDocument/2006/relationships/notesSlide" Target="/ppt/notesSlides/notesSlide2.xml" Id="R487c79a5eed04d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8836ab9743a9" /><Relationship Type="http://schemas.openxmlformats.org/officeDocument/2006/relationships/notesSlide" Target="/ppt/notesSlides/notesSlide3.xml" Id="Rc6558e292a9c4b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15294fa494fdc" /><Relationship Type="http://schemas.openxmlformats.org/officeDocument/2006/relationships/notesSlide" Target="/ppt/notesSlides/notesSlide4.xml" Id="Rb2be1599c2cd48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7bd8cba224512" /><Relationship Type="http://schemas.openxmlformats.org/officeDocument/2006/relationships/notesSlide" Target="/ppt/notesSlides/notesSlide5.xml" Id="R00b4e226c28b49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70fa281ad46e1" /><Relationship Type="http://schemas.openxmlformats.org/officeDocument/2006/relationships/notesSlide" Target="/ppt/notesSlides/notesSlide6.xml" Id="R473f4672cee444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0295b2d6f4d19" /><Relationship Type="http://schemas.openxmlformats.org/officeDocument/2006/relationships/notesSlide" Target="/ppt/notesSlides/notesSlide7.xml" Id="R7a841f40c69a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4ef646f5470c" /><Relationship Type="http://schemas.openxmlformats.org/officeDocument/2006/relationships/notesSlide" Target="/ppt/notesSlides/notesSlide8.xml" Id="Rb6c2ecf787bd48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79a095e3d49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AC3102E-C667-42CF-990C-7C3378DD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347CB1-8D10-4A36-8D08-97BBFB1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Vikings,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Normans,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7DD38E-BCDD-4B46-90FC-2D5D103D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CONTACT CHANGED ENGLISH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0D3D0CD1-4DA7-496C-8E17-32109EC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EAFAA5C7-0D9B-4DE6-A8E7-C2E6C4B5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278012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DE486FDF-7E1F-41FD-8991-619788D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Two contacts, different power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B075F9-F77D-42A9-9AE7-2BC6CB7E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B8195573-E903-4F69-808B-9C79600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03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F178D8E9-425A-4AE0-8D8A-B8B35027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334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D6618659-8AB5-41F6-9973-F1528AD3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4609A235-6C2B-425C-A849-3C112B7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NORSE CONTACT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A07D6820-670C-4FC5-A82D-F78284E6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Neighbours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4B840BF7-13AC-4733-90FB-3960F879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9" name="a-0">
            <a:extLst xmlns:a="http://schemas.openxmlformats.org/drawingml/2006/main">
              <a:ext uri="{FF2B5EF4-FFF2-40B4-BE49-F238E27FC236}">
                <a16:creationId xmlns:a16="http://schemas.microsoft.com/office/drawing/2014/main" id="{DE23E05F-2184-479A-9B1F-D0BC5DD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Settlement expanded.</a:t>
            </a:r>
          </a:p>
        </p:txBody>
      </p:sp>
      <p:sp>
        <p:nvSpPr>
          <p:cNvPr id="10" name="b-0">
            <a:extLst xmlns:a="http://schemas.openxmlformats.org/drawingml/2006/main">
              <a:ext uri="{FF2B5EF4-FFF2-40B4-BE49-F238E27FC236}">
                <a16:creationId xmlns:a16="http://schemas.microsoft.com/office/drawing/2014/main" id="{319B49EF-E9C8-40EA-87E6-E563026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Daily speech mixed.</a:t>
            </a:r>
          </a:p>
        </p:txBody>
      </p:sp>
      <p:sp>
        <p:nvSpPr>
          <p:cNvPr id="11" name="card-1">
            <a:extLst xmlns:a="http://schemas.openxmlformats.org/drawingml/2006/main">
              <a:ext uri="{FF2B5EF4-FFF2-40B4-BE49-F238E27FC236}">
                <a16:creationId xmlns:a16="http://schemas.microsoft.com/office/drawing/2014/main" id="{952F6026-2CF2-4DE9-8504-8B675F9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334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2" name="band-1">
            <a:extLst xmlns:a="http://schemas.openxmlformats.org/drawingml/2006/main">
              <a:ext uri="{FF2B5EF4-FFF2-40B4-BE49-F238E27FC236}">
                <a16:creationId xmlns:a16="http://schemas.microsoft.com/office/drawing/2014/main" id="{E9C7021B-7F50-4073-A8C4-E6E4A9C9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3" name="k-1">
            <a:extLst xmlns:a="http://schemas.openxmlformats.org/drawingml/2006/main">
              <a:ext uri="{FF2B5EF4-FFF2-40B4-BE49-F238E27FC236}">
                <a16:creationId xmlns:a16="http://schemas.microsoft.com/office/drawing/2014/main" id="{88FCFD97-60CA-4082-B0E7-6ACC40CC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NORMAN RULE</a:t>
            </a:r>
          </a:p>
        </p:txBody>
      </p:sp>
      <p:sp>
        <p:nvSpPr>
          <p:cNvPr id="14" name="big-1">
            <a:extLst xmlns:a="http://schemas.openxmlformats.org/drawingml/2006/main">
              <a:ext uri="{FF2B5EF4-FFF2-40B4-BE49-F238E27FC236}">
                <a16:creationId xmlns:a16="http://schemas.microsoft.com/office/drawing/2014/main" id="{D1B451B8-65F0-467E-A8B2-774DE169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Rulers</a:t>
            </a:r>
          </a:p>
        </p:txBody>
      </p:sp>
      <p:sp>
        <p:nvSpPr>
          <p:cNvPr id="15" name="rule-1">
            <a:extLst xmlns:a="http://schemas.openxmlformats.org/drawingml/2006/main">
              <a:ext uri="{FF2B5EF4-FFF2-40B4-BE49-F238E27FC236}">
                <a16:creationId xmlns:a16="http://schemas.microsoft.com/office/drawing/2014/main" id="{5FC1FB16-E0D7-445D-BA18-4CAF00C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6" name="a-1">
            <a:extLst xmlns:a="http://schemas.openxmlformats.org/drawingml/2006/main">
              <a:ext uri="{FF2B5EF4-FFF2-40B4-BE49-F238E27FC236}">
                <a16:creationId xmlns:a16="http://schemas.microsoft.com/office/drawing/2014/main" id="{22821623-EF4A-495B-98B7-D0156822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Conquest changed elites.</a:t>
            </a:r>
          </a:p>
        </p:txBody>
      </p:sp>
      <p:sp>
        <p:nvSpPr>
          <p:cNvPr id="17" name="b-1">
            <a:extLst xmlns:a="http://schemas.openxmlformats.org/drawingml/2006/main">
              <a:ext uri="{FF2B5EF4-FFF2-40B4-BE49-F238E27FC236}">
                <a16:creationId xmlns:a16="http://schemas.microsoft.com/office/drawing/2014/main" id="{D52D5E1D-5F7C-4C24-A0E1-5C6B271D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814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French gained prestige.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CFFA8CF8-090C-4CDB-8D15-033B1123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Contact was unequal.</a:t>
            </a:r>
          </a:p>
        </p:txBody>
      </p:sp>
    </p:spTree>
    <p:extLst>
      <p:ext uri="{BB962C8B-B14F-4D97-AF65-F5344CB8AC3E}">
        <p14:creationId xmlns:p14="http://schemas.microsoft.com/office/powerpoint/2010/main" val="1128655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121F6E72-5820-4AB2-A835-985E561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Norse entered daily speech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8D8030-5DE9-4209-AFF4-BF80588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DC5BA2B4-99E9-45A8-A767-FB9B82BB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03 / 03</a:t>
            </a:r>
          </a:p>
        </p:txBody>
      </p:sp>
      <p:sp>
        <p:nvSpPr>
          <p:cNvPr id="4" name="word-0">
            <a:extLst xmlns:a="http://schemas.openxmlformats.org/drawingml/2006/main">
              <a:ext uri="{FF2B5EF4-FFF2-40B4-BE49-F238E27FC236}">
                <a16:creationId xmlns:a16="http://schemas.microsoft.com/office/drawing/2014/main" id="{66B168FD-227C-4924-A9C3-D7AFF0D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word-text-0">
            <a:extLst xmlns:a="http://schemas.openxmlformats.org/drawingml/2006/main">
              <a:ext uri="{FF2B5EF4-FFF2-40B4-BE49-F238E27FC236}">
                <a16:creationId xmlns:a16="http://schemas.microsoft.com/office/drawing/2014/main" id="{CF2F7D46-E0A7-4AD3-B6E5-47E4369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they</a:t>
            </a:r>
          </a:p>
        </p:txBody>
      </p:sp>
      <p:sp>
        <p:nvSpPr>
          <p:cNvPr id="6" name="word-1">
            <a:extLst xmlns:a="http://schemas.openxmlformats.org/drawingml/2006/main">
              <a:ext uri="{FF2B5EF4-FFF2-40B4-BE49-F238E27FC236}">
                <a16:creationId xmlns:a16="http://schemas.microsoft.com/office/drawing/2014/main" id="{367A1B5E-A818-454E-9B79-B5B656E7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7" name="word-text-1">
            <a:extLst xmlns:a="http://schemas.openxmlformats.org/drawingml/2006/main">
              <a:ext uri="{FF2B5EF4-FFF2-40B4-BE49-F238E27FC236}">
                <a16:creationId xmlns:a16="http://schemas.microsoft.com/office/drawing/2014/main" id="{55FE7837-7E92-4515-923E-3D72A398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sky</a:t>
            </a:r>
          </a:p>
        </p:txBody>
      </p:sp>
      <p:sp>
        <p:nvSpPr>
          <p:cNvPr id="8" name="word-2">
            <a:extLst xmlns:a="http://schemas.openxmlformats.org/drawingml/2006/main">
              <a:ext uri="{FF2B5EF4-FFF2-40B4-BE49-F238E27FC236}">
                <a16:creationId xmlns:a16="http://schemas.microsoft.com/office/drawing/2014/main" id="{0B307DBC-2E02-41B1-9DDE-3138849A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9" name="word-text-2">
            <a:extLst xmlns:a="http://schemas.openxmlformats.org/drawingml/2006/main">
              <a:ext uri="{FF2B5EF4-FFF2-40B4-BE49-F238E27FC236}">
                <a16:creationId xmlns:a16="http://schemas.microsoft.com/office/drawing/2014/main" id="{58525DE5-E051-4E85-A51E-8ACB99EE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law</a:t>
            </a:r>
          </a:p>
        </p:txBody>
      </p:sp>
      <p:sp>
        <p:nvSpPr>
          <p:cNvPr id="10" name="word-3">
            <a:extLst xmlns:a="http://schemas.openxmlformats.org/drawingml/2006/main">
              <a:ext uri="{FF2B5EF4-FFF2-40B4-BE49-F238E27FC236}">
                <a16:creationId xmlns:a16="http://schemas.microsoft.com/office/drawing/2014/main" id="{87D8E8AC-D2EF-4093-827F-506E488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1" name="word-text-3">
            <a:extLst xmlns:a="http://schemas.openxmlformats.org/drawingml/2006/main">
              <a:ext uri="{FF2B5EF4-FFF2-40B4-BE49-F238E27FC236}">
                <a16:creationId xmlns:a16="http://schemas.microsoft.com/office/drawing/2014/main" id="{277B46B9-0F6E-4790-9E80-2F1C743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take</a:t>
            </a:r>
          </a:p>
        </p:txBody>
      </p:sp>
      <p:sp>
        <p:nvSpPr>
          <p:cNvPr id="12" name="word-4">
            <a:extLst xmlns:a="http://schemas.openxmlformats.org/drawingml/2006/main">
              <a:ext uri="{FF2B5EF4-FFF2-40B4-BE49-F238E27FC236}">
                <a16:creationId xmlns:a16="http://schemas.microsoft.com/office/drawing/2014/main" id="{0000B892-B60A-4C72-BEBC-BC523E3A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3" name="word-text-4">
            <a:extLst xmlns:a="http://schemas.openxmlformats.org/drawingml/2006/main">
              <a:ext uri="{FF2B5EF4-FFF2-40B4-BE49-F238E27FC236}">
                <a16:creationId xmlns:a16="http://schemas.microsoft.com/office/drawing/2014/main" id="{8E9A529C-80E5-4E5D-9022-B257660F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egg</a:t>
            </a:r>
          </a:p>
        </p:txBody>
      </p:sp>
      <p:sp>
        <p:nvSpPr>
          <p:cNvPr id="14" name="word-5">
            <a:extLst xmlns:a="http://schemas.openxmlformats.org/drawingml/2006/main">
              <a:ext uri="{FF2B5EF4-FFF2-40B4-BE49-F238E27FC236}">
                <a16:creationId xmlns:a16="http://schemas.microsoft.com/office/drawing/2014/main" id="{1D71FFB7-444A-4AED-A167-8456DDD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word-text-5">
            <a:extLst xmlns:a="http://schemas.openxmlformats.org/drawingml/2006/main">
              <a:ext uri="{FF2B5EF4-FFF2-40B4-BE49-F238E27FC236}">
                <a16:creationId xmlns:a16="http://schemas.microsoft.com/office/drawing/2014/main" id="{CEF61681-029B-4557-9DDA-8B2599D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window</a:t>
            </a:r>
          </a:p>
        </p:txBody>
      </p:sp>
      <p:sp>
        <p:nvSpPr>
          <p:cNvPr id="16" name="meaning-card">
            <a:extLst xmlns:a="http://schemas.openxmlformats.org/drawingml/2006/main">
              <a:ext uri="{FF2B5EF4-FFF2-40B4-BE49-F238E27FC236}">
                <a16:creationId xmlns:a16="http://schemas.microsoft.com/office/drawing/2014/main" id="{BDCF1446-0C0A-43DB-977C-7299204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381375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7" name="meaning-kicker">
            <a:extLst xmlns:a="http://schemas.openxmlformats.org/drawingml/2006/main">
              <a:ext uri="{FF2B5EF4-FFF2-40B4-BE49-F238E27FC236}">
                <a16:creationId xmlns:a16="http://schemas.microsoft.com/office/drawing/2014/main" id="{E69714C9-1CB1-4CA8-A287-56AAA4A9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WHY IT MATTERS</a:t>
            </a:r>
          </a:p>
        </p:txBody>
      </p:sp>
      <p:sp>
        <p:nvSpPr>
          <p:cNvPr id="18" name="meaning">
            <a:extLst xmlns:a="http://schemas.openxmlformats.org/drawingml/2006/main">
              <a:ext uri="{FF2B5EF4-FFF2-40B4-BE49-F238E27FC236}">
                <a16:creationId xmlns:a16="http://schemas.microsoft.com/office/drawing/2014/main" id="{A418D850-71AD-40EF-96DA-6C8741C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Ordinary words</a:t>
            </a:r>
          </a:p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crossed languages.</a:t>
            </a:r>
          </a:p>
        </p:txBody>
      </p:sp>
      <p:sp>
        <p:nvSpPr>
          <p:cNvPr id="19" name="meaning-small">
            <a:extLst xmlns:a="http://schemas.openxmlformats.org/drawingml/2006/main">
              <a:ext uri="{FF2B5EF4-FFF2-40B4-BE49-F238E27FC236}">
                <a16:creationId xmlns:a16="http://schemas.microsoft.com/office/drawing/2014/main" id="{F23F29BA-7A61-4E31-9905-93439B5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Contact reached daily life.</a:t>
            </a:r>
          </a:p>
        </p:txBody>
      </p:sp>
      <p:sp>
        <p:nvSpPr>
          <p:cNvPr id="2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63EB86F-095E-43F9-92AC-DA436F82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95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Gersum tracks Norse words.</a:t>
            </a:r>
          </a:p>
        </p:txBody>
      </p:sp>
    </p:spTree>
    <p:extLst>
      <p:ext uri="{BB962C8B-B14F-4D97-AF65-F5344CB8AC3E}">
        <p14:creationId xmlns:p14="http://schemas.microsoft.com/office/powerpoint/2010/main" val="2002125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F3314430-27BE-4955-B5FC-14C74ED3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Grammar also became lighter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7BCAA35-1EAA-4A81-9878-E2F1CF99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B569AC34-FD4E-4D4C-96BF-41081E04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03 / 04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AA0E9F04-2F14-45DC-9E2D-35123F2A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3048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66D4ADAB-B875-46C7-9A18-D919A2A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D4CBAF0C-25C6-4DCD-A184-C36447EC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Endings weakened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7158B734-F37D-4824-8E19-5483957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32C87E72-F6A3-4F28-95A2-B32D1A59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Forms became fewer.</a:t>
            </a:r>
          </a:p>
        </p:txBody>
      </p:sp>
      <p:sp>
        <p:nvSpPr>
          <p:cNvPr id="9" name="stage-1">
            <a:extLst xmlns:a="http://schemas.openxmlformats.org/drawingml/2006/main">
              <a:ext uri="{FF2B5EF4-FFF2-40B4-BE49-F238E27FC236}">
                <a16:creationId xmlns:a16="http://schemas.microsoft.com/office/drawing/2014/main" id="{7C0B50D1-8D98-4240-966F-78655CB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71650"/>
            <a:ext cx="3048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F78EE1A3-2460-43AE-92DB-EBE93458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head-1">
            <a:extLst xmlns:a="http://schemas.openxmlformats.org/drawingml/2006/main">
              <a:ext uri="{FF2B5EF4-FFF2-40B4-BE49-F238E27FC236}">
                <a16:creationId xmlns:a16="http://schemas.microsoft.com/office/drawing/2014/main" id="{45CA09E2-54FA-4411-A013-9CDBD1C5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Order mattered</a:t>
            </a:r>
          </a:p>
        </p:txBody>
      </p:sp>
      <p:sp>
        <p:nvSpPr>
          <p:cNvPr id="12" name="line-1">
            <a:extLst xmlns:a="http://schemas.openxmlformats.org/drawingml/2006/main">
              <a:ext uri="{FF2B5EF4-FFF2-40B4-BE49-F238E27FC236}">
                <a16:creationId xmlns:a16="http://schemas.microsoft.com/office/drawing/2014/main" id="{5BD51E0F-11B5-43A4-9D91-4B07AF6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1BD1CA1C-1B10-4C81-BE46-763C95B3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29050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Position carried meaning.</a:t>
            </a:r>
          </a:p>
        </p:txBody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B4B653F3-3684-4CAB-B83F-810F5279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71650"/>
            <a:ext cx="3048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num-2">
            <a:extLst xmlns:a="http://schemas.openxmlformats.org/drawingml/2006/main">
              <a:ext uri="{FF2B5EF4-FFF2-40B4-BE49-F238E27FC236}">
                <a16:creationId xmlns:a16="http://schemas.microsoft.com/office/drawing/2014/main" id="{C4CBC2D2-6F76-4868-BF26-3821D698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6" name="head-2">
            <a:extLst xmlns:a="http://schemas.openxmlformats.org/drawingml/2006/main">
              <a:ext uri="{FF2B5EF4-FFF2-40B4-BE49-F238E27FC236}">
                <a16:creationId xmlns:a16="http://schemas.microsoft.com/office/drawing/2014/main" id="{403868CF-F75E-4EA6-A2F7-BA66DE58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908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Contact helped</a:t>
            </a:r>
          </a:p>
        </p:txBody>
      </p:sp>
      <p:sp>
        <p:nvSpPr>
          <p:cNvPr id="17" name="line-2">
            <a:extLst xmlns:a="http://schemas.openxmlformats.org/drawingml/2006/main">
              <a:ext uri="{FF2B5EF4-FFF2-40B4-BE49-F238E27FC236}">
                <a16:creationId xmlns:a16="http://schemas.microsoft.com/office/drawing/2014/main" id="{6C9AAB22-A72C-490F-A1DD-312F658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29C74A38-E67D-4047-AA49-C84A8B2B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255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Its weight stays debated.</a:t>
            </a:r>
          </a:p>
        </p:txBody>
      </p:sp>
      <p:sp>
        <p:nvSpPr>
          <p:cNvPr id="19" name="limit-card">
            <a:extLst xmlns:a="http://schemas.openxmlformats.org/drawingml/2006/main">
              <a:ext uri="{FF2B5EF4-FFF2-40B4-BE49-F238E27FC236}">
                <a16:creationId xmlns:a16="http://schemas.microsoft.com/office/drawing/2014/main" id="{2B1056C0-B32A-4C0B-9106-3AFCCDC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38725"/>
            <a:ext cx="981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20" name="limit">
            <a:extLst xmlns:a="http://schemas.openxmlformats.org/drawingml/2006/main">
              <a:ext uri="{FF2B5EF4-FFF2-40B4-BE49-F238E27FC236}">
                <a16:creationId xmlns:a16="http://schemas.microsoft.com/office/drawing/2014/main" id="{810E548E-DC70-4FA4-B506-581A4FF2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Norse alone caused everything.</a:t>
            </a:r>
          </a:p>
        </p:txBody>
      </p:sp>
      <p:sp>
        <p:nvSpPr>
          <p:cNvPr id="21" name="status">
            <a:extLst xmlns:a="http://schemas.openxmlformats.org/drawingml/2006/main">
              <a:ext uri="{FF2B5EF4-FFF2-40B4-BE49-F238E27FC236}">
                <a16:creationId xmlns:a16="http://schemas.microsoft.com/office/drawing/2014/main" id="{3577AFDB-3356-41ED-A45F-6781ADD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38725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</p:spTree>
    <p:extLst>
      <p:ext uri="{BB962C8B-B14F-4D97-AF65-F5344CB8AC3E}">
        <p14:creationId xmlns:p14="http://schemas.microsoft.com/office/powerpoint/2010/main" val="1298220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7F313080-A9A8-4B5E-9970-94A47C19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1066 changed elite language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A656F1-088D-4F8F-B5B6-8623673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202A759F-6FA2-4234-ADA3-3E4E982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03 / 05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CEADE75E-34C5-4D89-A505-000B88E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20770F1C-5233-46B8-8E83-2F25E5F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</a:t>
            </a:r>
          </a:p>
        </p:txBody>
      </p:sp>
      <p:sp>
        <p:nvSpPr>
          <p:cNvPr id="6" name="sep-0">
            <a:extLst xmlns:a="http://schemas.openxmlformats.org/drawingml/2006/main">
              <a:ext uri="{FF2B5EF4-FFF2-40B4-BE49-F238E27FC236}">
                <a16:creationId xmlns:a16="http://schemas.microsoft.com/office/drawing/2014/main" id="{8B940FFE-67F8-49C7-8F55-179EC5F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431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7" name="use-0">
            <a:extLst xmlns:a="http://schemas.openxmlformats.org/drawingml/2006/main">
              <a:ext uri="{FF2B5EF4-FFF2-40B4-BE49-F238E27FC236}">
                <a16:creationId xmlns:a16="http://schemas.microsoft.com/office/drawing/2014/main" id="{D8BF704E-2B80-448A-A2F2-B3D15CD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5260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Local speech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9BBF330D-4D6A-4EE0-839B-FAFACCD7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9DCC1621-4098-4AE8-B046-93DFEC1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FRENCH</a:t>
            </a:r>
          </a:p>
        </p:txBody>
      </p:sp>
      <p:sp>
        <p:nvSpPr>
          <p:cNvPr id="10" name="sep-1">
            <a:extLst xmlns:a="http://schemas.openxmlformats.org/drawingml/2006/main">
              <a:ext uri="{FF2B5EF4-FFF2-40B4-BE49-F238E27FC236}">
                <a16:creationId xmlns:a16="http://schemas.microsoft.com/office/drawing/2014/main" id="{9D4D1809-F097-44E6-8422-191982E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1" name="use-1">
            <a:extLst xmlns:a="http://schemas.openxmlformats.org/drawingml/2006/main">
              <a:ext uri="{FF2B5EF4-FFF2-40B4-BE49-F238E27FC236}">
                <a16:creationId xmlns:a16="http://schemas.microsoft.com/office/drawing/2014/main" id="{3D543702-AFEB-4346-B244-E86AC8E6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Norman officials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3323D168-365E-4AF9-9D1A-84754ABC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35650FFB-3D73-4F98-BC50-AB2B2AF2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240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LATIN</a:t>
            </a:r>
          </a:p>
        </p:txBody>
      </p:sp>
      <p:sp>
        <p:nvSpPr>
          <p:cNvPr id="14" name="sep-2">
            <a:extLst xmlns:a="http://schemas.openxmlformats.org/drawingml/2006/main">
              <a:ext uri="{FF2B5EF4-FFF2-40B4-BE49-F238E27FC236}">
                <a16:creationId xmlns:a16="http://schemas.microsoft.com/office/drawing/2014/main" id="{216001E8-F1C5-4739-A62A-66D55877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5" name="use-2">
            <a:extLst xmlns:a="http://schemas.openxmlformats.org/drawingml/2006/main">
              <a:ext uri="{FF2B5EF4-FFF2-40B4-BE49-F238E27FC236}">
                <a16:creationId xmlns:a16="http://schemas.microsoft.com/office/drawing/2014/main" id="{582A731A-17F7-4E64-B01A-1FC4D61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Official records</a:t>
            </a:r>
          </a:p>
        </p:txBody>
      </p:sp>
      <p:sp>
        <p:nvSpPr>
          <p:cNvPr id="16" name="evidence">
            <a:extLst xmlns:a="http://schemas.openxmlformats.org/drawingml/2006/main">
              <a:ext uri="{FF2B5EF4-FFF2-40B4-BE49-F238E27FC236}">
                <a16:creationId xmlns:a16="http://schemas.microsoft.com/office/drawing/2014/main" id="{D85E0CB4-8DC4-4D7D-8C3E-03D15CF9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Domesday shows this hierarchy.</a:t>
            </a:r>
          </a:p>
        </p:txBody>
      </p:sp>
    </p:spTree>
    <p:extLst>
      <p:ext uri="{BB962C8B-B14F-4D97-AF65-F5344CB8AC3E}">
        <p14:creationId xmlns:p14="http://schemas.microsoft.com/office/powerpoint/2010/main" val="851512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8EE8B942-ABF3-4051-A622-03B58B1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French filled powerful domains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BC7746-68D7-47BA-8C2E-0462BF4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51FA3FE8-39A9-4F70-B7F2-0AAF3033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03 / 06</a:t>
            </a:r>
          </a:p>
        </p:txBody>
      </p:sp>
      <p:sp>
        <p:nvSpPr>
          <p:cNvPr id="4" name="domain-0">
            <a:extLst xmlns:a="http://schemas.openxmlformats.org/drawingml/2006/main">
              <a:ext uri="{FF2B5EF4-FFF2-40B4-BE49-F238E27FC236}">
                <a16:creationId xmlns:a16="http://schemas.microsoft.com/office/drawing/2014/main" id="{670DBF31-4C13-45CA-94EA-0DA4E41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051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domain-band-0">
            <a:extLst xmlns:a="http://schemas.openxmlformats.org/drawingml/2006/main">
              <a:ext uri="{FF2B5EF4-FFF2-40B4-BE49-F238E27FC236}">
                <a16:creationId xmlns:a16="http://schemas.microsoft.com/office/drawing/2014/main" id="{4D83A0F5-F9C6-420B-907A-994523BC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domain-head-0">
            <a:extLst xmlns:a="http://schemas.openxmlformats.org/drawingml/2006/main">
              <a:ext uri="{FF2B5EF4-FFF2-40B4-BE49-F238E27FC236}">
                <a16:creationId xmlns:a16="http://schemas.microsoft.com/office/drawing/2014/main" id="{227717DE-CD8D-484C-A27D-22682E8E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1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LAW</a:t>
            </a:r>
          </a:p>
        </p:txBody>
      </p:sp>
      <p:sp>
        <p:nvSpPr>
          <p:cNvPr id="7" name="domain-words-0">
            <a:extLst xmlns:a="http://schemas.openxmlformats.org/drawingml/2006/main">
              <a:ext uri="{FF2B5EF4-FFF2-40B4-BE49-F238E27FC236}">
                <a16:creationId xmlns:a16="http://schemas.microsoft.com/office/drawing/2014/main" id="{1DAC760F-6011-4EE2-8287-48F34496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035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court · judge · prison</a:t>
            </a:r>
          </a:p>
        </p:txBody>
      </p:sp>
      <p:sp>
        <p:nvSpPr>
          <p:cNvPr id="8" name="domain-small-0">
            <a:extLst xmlns:a="http://schemas.openxmlformats.org/drawingml/2006/main">
              <a:ext uri="{FF2B5EF4-FFF2-40B4-BE49-F238E27FC236}">
                <a16:creationId xmlns:a16="http://schemas.microsoft.com/office/drawing/2014/main" id="{5200E342-844F-4CD0-AC8E-B43E423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481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Institutions spread words.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05891BAF-E291-4F15-9406-7CC96D6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90700"/>
            <a:ext cx="31051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domain-band-1">
            <a:extLst xmlns:a="http://schemas.openxmlformats.org/drawingml/2006/main">
              <a:ext uri="{FF2B5EF4-FFF2-40B4-BE49-F238E27FC236}">
                <a16:creationId xmlns:a16="http://schemas.microsoft.com/office/drawing/2014/main" id="{0AB63E6F-B3DF-473D-A318-7C2F4B1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907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1" name="domain-head-1">
            <a:extLst xmlns:a="http://schemas.openxmlformats.org/drawingml/2006/main">
              <a:ext uri="{FF2B5EF4-FFF2-40B4-BE49-F238E27FC236}">
                <a16:creationId xmlns:a16="http://schemas.microsoft.com/office/drawing/2014/main" id="{EA9F7644-14F0-4576-8481-468B58B3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71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RULE</a:t>
            </a:r>
          </a:p>
        </p:txBody>
      </p:sp>
      <p:sp>
        <p:nvSpPr>
          <p:cNvPr id="12" name="domain-words-1">
            <a:extLst xmlns:a="http://schemas.openxmlformats.org/drawingml/2006/main">
              <a:ext uri="{FF2B5EF4-FFF2-40B4-BE49-F238E27FC236}">
                <a16:creationId xmlns:a16="http://schemas.microsoft.com/office/drawing/2014/main" id="{BFB9FF75-5204-4FC2-A6D8-A53E469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0035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government · parliament</a:t>
            </a:r>
          </a:p>
        </p:txBody>
      </p:sp>
      <p:sp>
        <p:nvSpPr>
          <p:cNvPr id="13" name="domain-small-1">
            <a:extLst xmlns:a="http://schemas.openxmlformats.org/drawingml/2006/main">
              <a:ext uri="{FF2B5EF4-FFF2-40B4-BE49-F238E27FC236}">
                <a16:creationId xmlns:a16="http://schemas.microsoft.com/office/drawing/2014/main" id="{5576BA0B-5D11-45A4-9C9F-1E8BB0A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481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Institutions spread words.</a:t>
            </a:r>
          </a:p>
        </p:txBody>
      </p:sp>
      <p:sp>
        <p:nvSpPr>
          <p:cNvPr id="14" name="domain-2">
            <a:extLst xmlns:a="http://schemas.openxmlformats.org/drawingml/2006/main">
              <a:ext uri="{FF2B5EF4-FFF2-40B4-BE49-F238E27FC236}">
                <a16:creationId xmlns:a16="http://schemas.microsoft.com/office/drawing/2014/main" id="{574A9301-13E3-44AF-84DA-F9E96BE6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31051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domain-band-2">
            <a:extLst xmlns:a="http://schemas.openxmlformats.org/drawingml/2006/main">
              <a:ext uri="{FF2B5EF4-FFF2-40B4-BE49-F238E27FC236}">
                <a16:creationId xmlns:a16="http://schemas.microsoft.com/office/drawing/2014/main" id="{BD012402-BDA1-460D-8C20-CA06924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6" name="domain-head-2">
            <a:extLst xmlns:a="http://schemas.openxmlformats.org/drawingml/2006/main">
              <a:ext uri="{FF2B5EF4-FFF2-40B4-BE49-F238E27FC236}">
                <a16:creationId xmlns:a16="http://schemas.microsoft.com/office/drawing/2014/main" id="{E030EA1D-B525-4C8B-B30C-8736876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171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STATUS</a:t>
            </a:r>
          </a:p>
        </p:txBody>
      </p:sp>
      <p:sp>
        <p:nvSpPr>
          <p:cNvPr id="17" name="domain-words-2">
            <a:extLst xmlns:a="http://schemas.openxmlformats.org/drawingml/2006/main">
              <a:ext uri="{FF2B5EF4-FFF2-40B4-BE49-F238E27FC236}">
                <a16:creationId xmlns:a16="http://schemas.microsoft.com/office/drawing/2014/main" id="{0D3FBE48-350E-4AC9-9043-1CAE10D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0035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noble · royal · servant</a:t>
            </a:r>
          </a:p>
        </p:txBody>
      </p:sp>
      <p:sp>
        <p:nvSpPr>
          <p:cNvPr id="18" name="domain-small-2">
            <a:extLst xmlns:a="http://schemas.openxmlformats.org/drawingml/2006/main">
              <a:ext uri="{FF2B5EF4-FFF2-40B4-BE49-F238E27FC236}">
                <a16:creationId xmlns:a16="http://schemas.microsoft.com/office/drawing/2014/main" id="{4A2F586A-ACDA-4B09-8B4D-7A364F6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481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Institutions spread words.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1BF59B68-CBAE-46B6-89B2-92158F9D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Borrowing followed power.</a:t>
            </a:r>
          </a:p>
        </p:txBody>
      </p:sp>
    </p:spTree>
    <p:extLst>
      <p:ext uri="{BB962C8B-B14F-4D97-AF65-F5344CB8AC3E}">
        <p14:creationId xmlns:p14="http://schemas.microsoft.com/office/powerpoint/2010/main" val="864263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F6E442BB-B630-4524-8078-E0F9F288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survived and mixed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879BF8-4707-4ACC-B376-EDCEF649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36402A38-6F83-4884-A497-D733889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03 / 07</a:t>
            </a:r>
          </a:p>
        </p:txBody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166873E4-E25F-406A-BD28-4EB85874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52750"/>
            <a:ext cx="853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FFCF14F2-FE7E-4D79-99CD-BC79E55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6" name="year-0">
            <a:extLst xmlns:a="http://schemas.openxmlformats.org/drawingml/2006/main">
              <a:ext uri="{FF2B5EF4-FFF2-40B4-BE49-F238E27FC236}">
                <a16:creationId xmlns:a16="http://schemas.microsoft.com/office/drawing/2014/main" id="{6100D427-F0ED-46B4-85AF-9E0F61F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800s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D4D9CACA-FBDB-4EC9-A33E-96839F8C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004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Norse contact</a:t>
            </a:r>
          </a:p>
        </p:txBody>
      </p:sp>
      <p:sp>
        <p:nvSpPr>
          <p:cNvPr id="8" name="dot-1">
            <a:extLst xmlns:a="http://schemas.openxmlformats.org/drawingml/2006/main">
              <a:ext uri="{FF2B5EF4-FFF2-40B4-BE49-F238E27FC236}">
                <a16:creationId xmlns:a16="http://schemas.microsoft.com/office/drawing/2014/main" id="{B18E433B-5536-409D-B53F-D4BD07A9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765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9" name="year-1">
            <a:extLst xmlns:a="http://schemas.openxmlformats.org/drawingml/2006/main">
              <a:ext uri="{FF2B5EF4-FFF2-40B4-BE49-F238E27FC236}">
                <a16:creationId xmlns:a16="http://schemas.microsoft.com/office/drawing/2014/main" id="{9C2D5710-BCAB-4A84-B268-ACBB1A61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1066</a:t>
            </a:r>
          </a:p>
        </p:txBody>
      </p:sp>
      <p:sp>
        <p:nvSpPr>
          <p:cNvPr id="10" name="label-1">
            <a:extLst xmlns:a="http://schemas.openxmlformats.org/drawingml/2006/main">
              <a:ext uri="{FF2B5EF4-FFF2-40B4-BE49-F238E27FC236}">
                <a16:creationId xmlns:a16="http://schemas.microsoft.com/office/drawing/2014/main" id="{7815EFA4-47A4-49BB-812C-4B09EBA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Norman conquest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AE3C169B-F007-48E8-ADB8-CB088B9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765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2" name="year-2">
            <a:extLst xmlns:a="http://schemas.openxmlformats.org/drawingml/2006/main">
              <a:ext uri="{FF2B5EF4-FFF2-40B4-BE49-F238E27FC236}">
                <a16:creationId xmlns:a16="http://schemas.microsoft.com/office/drawing/2014/main" id="{E28ECF1D-8F0F-407C-A78D-8BC57C11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526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1200s+</a:t>
            </a:r>
          </a:p>
        </p:txBody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87865048-811C-46A8-9DBB-D751424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Middle English</a:t>
            </a:r>
          </a:p>
        </p:txBody>
      </p:sp>
      <p:sp>
        <p:nvSpPr>
          <p:cNvPr id="14" name="survived">
            <a:extLst xmlns:a="http://schemas.openxmlformats.org/drawingml/2006/main">
              <a:ext uri="{FF2B5EF4-FFF2-40B4-BE49-F238E27FC236}">
                <a16:creationId xmlns:a16="http://schemas.microsoft.com/office/drawing/2014/main" id="{A21856A9-CF21-4C63-9F74-E15197B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was never replaced.</a:t>
            </a:r>
          </a:p>
        </p:txBody>
      </p:sp>
      <p:sp>
        <p:nvSpPr>
          <p:cNvPr id="15" name="limit">
            <a:extLst xmlns:a="http://schemas.openxmlformats.org/drawingml/2006/main">
              <a:ext uri="{FF2B5EF4-FFF2-40B4-BE49-F238E27FC236}">
                <a16:creationId xmlns:a16="http://schemas.microsoft.com/office/drawing/2014/main" id="{8EED3DDA-87C7-4461-A5AE-6539ADB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No single switch occurred.</a:t>
            </a:r>
          </a:p>
        </p:txBody>
      </p:sp>
    </p:spTree>
    <p:extLst>
      <p:ext uri="{BB962C8B-B14F-4D97-AF65-F5344CB8AC3E}">
        <p14:creationId xmlns:p14="http://schemas.microsoft.com/office/powerpoint/2010/main" val="1210824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2787711D-7F44-4C57-9B4B-F927B7F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Sources and limits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234492-4DAC-4DC3-BF7B-B6412ED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0014CBB8-0E8C-4602-A36A-AA41FBF4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03 / 08</a:t>
            </a:r>
          </a:p>
        </p:txBody>
      </p:sp>
      <p:sp>
        <p:nvSpPr>
          <p:cNvPr id="4" name="source-0">
            <a:extLst xmlns:a="http://schemas.openxmlformats.org/drawingml/2006/main">
              <a:ext uri="{FF2B5EF4-FFF2-40B4-BE49-F238E27FC236}">
                <a16:creationId xmlns:a16="http://schemas.microsoft.com/office/drawing/2014/main" id="{8E49E6B2-71DD-4B17-A32A-78A31E61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Gersum Project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9D5A04EB-FE03-43FC-AF4F-B3FF34E5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Norse word evidence</a:t>
            </a:r>
          </a:p>
        </p:txBody>
      </p:sp>
      <p:sp>
        <p:nvSpPr>
          <p:cNvPr id="6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F1A6248F-9349-45DC-A323-9CB8571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6BAE2FD2-0B79-425F-A489-EE27FE9A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Warner, 2017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2E7C4713-C919-4E1E-9495-39020E01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Grammar contact debate</a:t>
            </a:r>
          </a:p>
        </p:txBody>
      </p:sp>
      <p:sp>
        <p:nvSpPr>
          <p:cNvPr id="9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CDE9B687-FD8D-4DC1-AAF5-42B3440B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70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EBF995C8-0ACA-438B-B0FD-CDEFBCA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National Archives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F97344BE-989A-4B91-A57D-EDC8081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Domesday languages</a:t>
            </a:r>
          </a:p>
        </p:txBody>
      </p:sp>
      <p:sp>
        <p:nvSpPr>
          <p:cNvPr id="1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6A45F808-A84D-4F08-8174-D1B65380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08C20C85-7C9D-4338-9A97-B096E18E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Anglo-Norman Dictionary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1594E8C7-774D-4631-B8E9-7ABFF043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French source records</a:t>
            </a:r>
          </a:p>
        </p:txBody>
      </p:sp>
      <p:sp>
        <p:nvSpPr>
          <p:cNvPr id="15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FDE0AB0D-558B-4726-87D3-0715D1B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6" name="limit-card">
            <a:extLst xmlns:a="http://schemas.openxmlformats.org/drawingml/2006/main">
              <a:ext uri="{FF2B5EF4-FFF2-40B4-BE49-F238E27FC236}">
                <a16:creationId xmlns:a16="http://schemas.microsoft.com/office/drawing/2014/main" id="{A842303B-B891-4F7A-9EFE-BFFF8EF8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0239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17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AAD17732-49AC-40C1-8ED6-917BC470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910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</a:t>
            </a:r>
          </a:p>
        </p:txBody>
      </p:sp>
      <p:sp>
        <p:nvSpPr>
          <p:cNvPr id="18" name="inference-label">
            <a:extLst xmlns:a="http://schemas.openxmlformats.org/drawingml/2006/main">
              <a:ext uri="{FF2B5EF4-FFF2-40B4-BE49-F238E27FC236}">
                <a16:creationId xmlns:a16="http://schemas.microsoft.com/office/drawing/2014/main" id="{B9409858-2AFB-487A-8576-6073C0DF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9107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</a:t>
            </a:r>
          </a:p>
        </p:txBody>
      </p:sp>
      <p:sp>
        <p:nvSpPr>
          <p:cNvPr id="19" name="unproven-label">
            <a:extLst xmlns:a="http://schemas.openxmlformats.org/drawingml/2006/main">
              <a:ext uri="{FF2B5EF4-FFF2-40B4-BE49-F238E27FC236}">
                <a16:creationId xmlns:a16="http://schemas.microsoft.com/office/drawing/2014/main" id="{054F3262-5641-491B-AB69-2CAD7466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654DE50E-E704-4CC9-8D79-C3CCC15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NEXT: Printing and standards</a:t>
            </a:r>
          </a:p>
        </p:txBody>
      </p:sp>
    </p:spTree>
    <p:extLst>
      <p:ext uri="{BB962C8B-B14F-4D97-AF65-F5344CB8AC3E}">
        <p14:creationId xmlns:p14="http://schemas.microsoft.com/office/powerpoint/2010/main" val="1858558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2026-09-24T19:28:31.0970000Z</dcterms:created>
  <dcterms:modified xsi:type="dcterms:W3CDTF">2026-09-24T19:28:31.0970000Z</dcterms:modified>
</coreProperties>
</file>