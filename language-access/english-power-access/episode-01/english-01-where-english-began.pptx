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39b08a85594c48" /><Relationship Type="http://schemas.openxmlformats.org/officeDocument/2006/relationships/extended-properties" Target="/docProps/app.xml" Id="R826257ed52b8482c" /><Relationship Type="http://schemas.openxmlformats.org/officeDocument/2006/relationships/officeDocument" Target="/ppt/presentation.xml" Id="R762c62ec203e40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3a151e47554210"/>
  </p:sldMasterIdLst>
  <p:notesMasterIdLst>
    <p:notesMasterId xmlns:r="http://schemas.openxmlformats.org/officeDocument/2006/relationships" r:id="R3122257c42d745c6"/>
  </p:notesMasterIdLst>
  <p:sldIdLst>
    <p:sldId xmlns:r="http://schemas.openxmlformats.org/officeDocument/2006/relationships" id="256" r:id="R58036a418f134a32"/>
    <p:sldId xmlns:r="http://schemas.openxmlformats.org/officeDocument/2006/relationships" id="257" r:id="R42b519cb1e8c4931"/>
    <p:sldId xmlns:r="http://schemas.openxmlformats.org/officeDocument/2006/relationships" id="258" r:id="R952cec858079481e"/>
    <p:sldId xmlns:r="http://schemas.openxmlformats.org/officeDocument/2006/relationships" id="259" r:id="R817e690d75d943cd"/>
    <p:sldId xmlns:r="http://schemas.openxmlformats.org/officeDocument/2006/relationships" id="260" r:id="Ra2c17614bd7845fc"/>
    <p:sldId xmlns:r="http://schemas.openxmlformats.org/officeDocument/2006/relationships" id="261" r:id="Rbd89cbaad71149ef"/>
    <p:sldId xmlns:r="http://schemas.openxmlformats.org/officeDocument/2006/relationships" id="262" r:id="R880287266d4a426e"/>
    <p:sldId xmlns:r="http://schemas.openxmlformats.org/officeDocument/2006/relationships" id="263" r:id="R14ae61724bb047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1c4e749ea648d7" /><Relationship Type="http://schemas.openxmlformats.org/officeDocument/2006/relationships/slideMaster" Target="/ppt/slideMasters/slideMaster1.xml" Id="R143a151e47554210" /><Relationship Type="http://schemas.openxmlformats.org/officeDocument/2006/relationships/notesMaster" Target="/ppt/notesMasters/notesMaster1.xml" Id="R3122257c42d745c6" /><Relationship Type="http://schemas.openxmlformats.org/officeDocument/2006/relationships/presProps" Target="/ppt/presProps.xml" Id="R18f79ccc0f314ff7" /><Relationship Type="http://schemas.openxmlformats.org/officeDocument/2006/relationships/tableStyles" Target="/ppt/tableStyles.xml" Id="R00511cdc4a894b2b" /><Relationship Type="http://schemas.openxmlformats.org/officeDocument/2006/relationships/slide" Target="/ppt/slides/slide1.xml" Id="R58036a418f134a32" /><Relationship Type="http://schemas.openxmlformats.org/officeDocument/2006/relationships/slide" Target="/ppt/slides/slide2.xml" Id="R42b519cb1e8c4931" /><Relationship Type="http://schemas.openxmlformats.org/officeDocument/2006/relationships/slide" Target="/ppt/slides/slide3.xml" Id="R952cec858079481e" /><Relationship Type="http://schemas.openxmlformats.org/officeDocument/2006/relationships/slide" Target="/ppt/slides/slide4.xml" Id="R817e690d75d943cd" /><Relationship Type="http://schemas.openxmlformats.org/officeDocument/2006/relationships/slide" Target="/ppt/slides/slide5.xml" Id="Ra2c17614bd7845fc" /><Relationship Type="http://schemas.openxmlformats.org/officeDocument/2006/relationships/slide" Target="/ppt/slides/slide6.xml" Id="Rbd89cbaad71149ef" /><Relationship Type="http://schemas.openxmlformats.org/officeDocument/2006/relationships/slide" Target="/ppt/slides/slide7.xml" Id="R880287266d4a426e" /><Relationship Type="http://schemas.openxmlformats.org/officeDocument/2006/relationships/slide" Target="/ppt/slides/slide8.xml" Id="R14ae61724bb047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3355c5091e43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2037f7e13a421d" /><Relationship Type="http://schemas.openxmlformats.org/officeDocument/2006/relationships/notesMaster" Target="/ppt/notesMasters/notesMaster1.xml" Id="R4faa9b1a42e145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7c0bb361064e49" /><Relationship Type="http://schemas.openxmlformats.org/officeDocument/2006/relationships/notesMaster" Target="/ppt/notesMasters/notesMaster1.xml" Id="R1dd02c1fed9f4a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2b4f2dce5240c4" /><Relationship Type="http://schemas.openxmlformats.org/officeDocument/2006/relationships/notesMaster" Target="/ppt/notesMasters/notesMaster1.xml" Id="R32f1da09c72247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7cccee53f14b63" /><Relationship Type="http://schemas.openxmlformats.org/officeDocument/2006/relationships/notesMaster" Target="/ppt/notesMasters/notesMaster1.xml" Id="R5520cfa5f1f743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637fea42874d23" /><Relationship Type="http://schemas.openxmlformats.org/officeDocument/2006/relationships/notesMaster" Target="/ppt/notesMasters/notesMaster1.xml" Id="Rdabec81eb5ba4b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55967b6ef34600" /><Relationship Type="http://schemas.openxmlformats.org/officeDocument/2006/relationships/notesMaster" Target="/ppt/notesMasters/notesMaster1.xml" Id="Rf97bbc4c733a48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97a630fef540fd" /><Relationship Type="http://schemas.openxmlformats.org/officeDocument/2006/relationships/notesMaster" Target="/ppt/notesMasters/notesMaster1.xml" Id="Rde9d96ee35d04d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0fa68c7c864bb2" /><Relationship Type="http://schemas.openxmlformats.org/officeDocument/2006/relationships/notesMaster" Target="/ppt/notesMasters/notesMaster1.xml" Id="R09fc2ae9cfd541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opening image is an illustration. Settlement had no single language birth date.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https://lrc.la.utexas.edu/eieol/engol/0</a:t>
            </a:r>
          </a:p>
          <a:p xmlns:a="http://schemas.openxmlformats.org/drawingml/2006/main">
            <a:r>
              <a:t>https://www.cambridge.org/core/books/cambridge-history-of-the-english-language/460EF4D4F89505464299A52DFF1BA4F6</a:t>
            </a:r>
          </a:p>
          <a:p xmlns:a="http://schemas.openxmlformats.org/drawingml/2006/main">
            <a:r>
              <a:t>Artwork on slide 1 is an imagined scene. It is not a historical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fifth century gives an approximate settlement period. It is not a language birthday.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https://lrc.la.utexas.edu/eieol/engol/0</a:t>
            </a:r>
          </a:p>
          <a:p xmlns:a="http://schemas.openxmlformats.org/drawingml/2006/main">
            <a:r>
              <a:t>https://www.cambridge.org/core/books/cambridge-history-of-the-english-language/460EF4D4F89505464299A52DFF1BA4F6</a:t>
            </a:r>
          </a:p>
          <a:p xmlns:a="http://schemas.openxmlformats.org/drawingml/2006/main">
            <a:r>
              <a:t>Artwork on slide 1 is an imagined scene. It is not a historical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university lists West Germanic relatives. Related languages are not identical languages.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https://lrc.la.utexas.edu/eieol/engol/0</a:t>
            </a:r>
          </a:p>
          <a:p xmlns:a="http://schemas.openxmlformats.org/drawingml/2006/main">
            <a:r>
              <a:t>Artwork on slide 1 is an imagined scene. It is not a historical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Old English examples appear in the University of Texas glossary. Spelling alone does not establish unchanged pronunciation.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https://lrc.la.utexas.edu/eieol/engol/0</a:t>
            </a:r>
          </a:p>
          <a:p xmlns:a="http://schemas.openxmlformats.org/drawingml/2006/main">
            <a:r>
              <a:t>Artwork on slide 1 is an imagined scene. It is not a historical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Trinity describes the Rome manuscript. It is the third oldest surviving copy. This is not the oldest surviving English text overall.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https://www.tcd.ie/news_events/articles/2026/caedmons-hymn-discovery/</a:t>
            </a:r>
          </a:p>
          <a:p xmlns:a="http://schemas.openxmlformats.org/drawingml/2006/main">
            <a:r>
              <a:t>Artwork on slide 1 is an imagined scene. It is not a historical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University of Texas lists three dialect groupings. West Saxon is prominent in surviving texts.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https://lrc.la.utexas.edu/eieol/engol/0</a:t>
            </a:r>
          </a:p>
          <a:p xmlns:a="http://schemas.openxmlformats.org/drawingml/2006/main">
            <a:r>
              <a:t>Artwork on slide 1 is an imagined scene. It is not a historical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University of Texas notes Norman conquest and later French borrowing. It does not describe instant replacement.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https://lrc.la.utexas.edu/eieol/engol/0</a:t>
            </a:r>
          </a:p>
          <a:p xmlns:a="http://schemas.openxmlformats.org/drawingml/2006/main">
            <a:r>
              <a:t>Artwork on slide 1 is an imagined scene. It is not a historical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last claim is an inference. Surviving records cannot show the first spoken exchange.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https://lrc.la.utexas.edu/eieol/engol/0</a:t>
            </a:r>
          </a:p>
          <a:p xmlns:a="http://schemas.openxmlformats.org/drawingml/2006/main">
            <a:r>
              <a:t>https://www.tcd.ie/news_events/articles/2026/caedmons-hymn-discovery/</a:t>
            </a:r>
          </a:p>
          <a:p xmlns:a="http://schemas.openxmlformats.org/drawingml/2006/main">
            <a:r>
              <a:t>https://www.cambridge.org/core/books/cambridge-history-of-the-english-language/460EF4D4F89505464299A52DFF1BA4F6</a:t>
            </a:r>
          </a:p>
          <a:p xmlns:a="http://schemas.openxmlformats.org/drawingml/2006/main">
            <a:r>
              <a:t>Artwork on slide 1 is an imagined scene. It is not a historical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e514ef59449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671d92709242cc" /><Relationship Type="http://schemas.openxmlformats.org/officeDocument/2006/relationships/slideLayout" Target="/ppt/slideLayouts/slideLayout1.xml" Id="Rf261497b0bc347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61497b0bc347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b6e0e718f4b34" /><Relationship Type="http://schemas.openxmlformats.org/officeDocument/2006/relationships/image" Target="/ppt/media/image.jpeg" Id="R75cfd76896a247cd" /><Relationship Type="http://schemas.openxmlformats.org/officeDocument/2006/relationships/notesSlide" Target="/ppt/notesSlides/notesSlide1.xml" Id="R587e2b31847d46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2143e2559433d" /><Relationship Type="http://schemas.openxmlformats.org/officeDocument/2006/relationships/notesSlide" Target="/ppt/notesSlides/notesSlide2.xml" Id="R37e3aad86d7f46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4a1f5bfed4b4d" /><Relationship Type="http://schemas.openxmlformats.org/officeDocument/2006/relationships/notesSlide" Target="/ppt/notesSlides/notesSlide3.xml" Id="Rc7769b36eafd47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c482cd6134ff7" /><Relationship Type="http://schemas.openxmlformats.org/officeDocument/2006/relationships/notesSlide" Target="/ppt/notesSlides/notesSlide4.xml" Id="R12ce54e3685743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83f3ccee54c14" /><Relationship Type="http://schemas.openxmlformats.org/officeDocument/2006/relationships/notesSlide" Target="/ppt/notesSlides/notesSlide5.xml" Id="Rf1173b38ed6a49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74b61e82a430c" /><Relationship Type="http://schemas.openxmlformats.org/officeDocument/2006/relationships/notesSlide" Target="/ppt/notesSlides/notesSlide6.xml" Id="R2b458c9412ea4b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02a5f802a4c59" /><Relationship Type="http://schemas.openxmlformats.org/officeDocument/2006/relationships/notesSlide" Target="/ppt/notesSlides/notesSlide7.xml" Id="R9262919dee6044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c4e50ba484cff" /><Relationship Type="http://schemas.openxmlformats.org/officeDocument/2006/relationships/notesSlide" Target="/ppt/notesSlides/notesSlide8.xml" Id="R83e19735e86b48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fd76896a247c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209D0CF-B3D0-4D06-A7C7-A858C093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6191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4725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Where English</a:t>
            </a:r>
          </a:p>
          <a:p xmlns:a="http://schemas.openxmlformats.org/drawingml/2006/main">
            <a:pPr>
              <a:defRPr sz="4725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4725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began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6103A41-6719-48C0-9E62-62365ABD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581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ENGLISH, POWER, ACCESS</a:t>
            </a:r>
          </a:p>
        </p:txBody>
      </p:sp>
      <p:sp>
        <p:nvSpPr>
          <p:cNvPr id="4" name="cover-series">
            <a:extLst xmlns:a="http://schemas.openxmlformats.org/drawingml/2006/main">
              <a:ext uri="{FF2B5EF4-FFF2-40B4-BE49-F238E27FC236}">
                <a16:creationId xmlns:a16="http://schemas.microsoft.com/office/drawing/2014/main" id="{C910E3B6-CA2E-4495-A6C9-931A7F13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708641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6C1CD49-E245-486E-8C4A-4F0D4CCC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English has no birthday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EE71A34-DE95-4B50-B179-3DAF38BC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02</a:t>
            </a:r>
          </a:p>
        </p:txBody>
      </p:sp>
      <p:sp>
        <p:nvSpPr>
          <p:cNvPr id="3" name="fact1">
            <a:extLst xmlns:a="http://schemas.openxmlformats.org/drawingml/2006/main">
              <a:ext uri="{FF2B5EF4-FFF2-40B4-BE49-F238E27FC236}">
                <a16:creationId xmlns:a16="http://schemas.microsoft.com/office/drawing/2014/main" id="{DFE986AC-8DEE-474C-ADBB-4806A588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Germanic settlers crossed the sea.</a:t>
            </a:r>
          </a:p>
        </p:txBody>
      </p:sp>
      <p:sp>
        <p:nvSpPr>
          <p:cNvPr id="4" name="fact2">
            <a:extLst xmlns:a="http://schemas.openxmlformats.org/drawingml/2006/main">
              <a:ext uri="{FF2B5EF4-FFF2-40B4-BE49-F238E27FC236}">
                <a16:creationId xmlns:a16="http://schemas.microsoft.com/office/drawing/2014/main" id="{89FB6573-7F97-41EA-9CFD-8E405220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Their dialects shaped Old English.</a:t>
            </a:r>
          </a:p>
        </p:txBody>
      </p:sp>
      <p:sp>
        <p:nvSpPr>
          <p:cNvPr id="5" name="fact3">
            <a:extLst xmlns:a="http://schemas.openxmlformats.org/drawingml/2006/main">
              <a:ext uri="{FF2B5EF4-FFF2-40B4-BE49-F238E27FC236}">
                <a16:creationId xmlns:a16="http://schemas.microsoft.com/office/drawing/2014/main" id="{4ECD24FC-9C80-49D1-AA84-678E94A6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Settlement began in the 400s.</a:t>
            </a:r>
          </a:p>
        </p:txBody>
      </p:sp>
      <p:sp>
        <p:nvSpPr>
          <p:cNvPr id="6" name="qualifier">
            <a:extLst xmlns:a="http://schemas.openxmlformats.org/drawingml/2006/main">
              <a:ext uri="{FF2B5EF4-FFF2-40B4-BE49-F238E27FC236}">
                <a16:creationId xmlns:a16="http://schemas.microsoft.com/office/drawing/2014/main" id="{CA564FF2-F6C1-43E8-9199-9A3E0048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A process, over generations.</a:t>
            </a:r>
          </a:p>
        </p:txBody>
      </p:sp>
    </p:spTree>
    <p:extLst>
      <p:ext uri="{BB962C8B-B14F-4D97-AF65-F5344CB8AC3E}">
        <p14:creationId xmlns:p14="http://schemas.microsoft.com/office/powerpoint/2010/main" val="461397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CA92C1F-41DE-43C9-AD1C-D569A2E4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Old English was Germanic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5C5B349-108D-4127-98BF-E3DE36AF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E2FB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D8E2FB"/>
                </a:solidFill>
                <a:latin typeface="Nimbus Sans"/>
                <a:ea typeface="Nimbus Sans"/>
                <a:cs typeface="Nimbus Sans"/>
              </a:rPr>
              <a:t>ENGLISH / 03</a:t>
            </a:r>
          </a:p>
        </p:txBody>
      </p:sp>
      <p:sp>
        <p:nvSpPr>
          <p:cNvPr id="3" name="family">
            <a:extLst xmlns:a="http://schemas.openxmlformats.org/drawingml/2006/main">
              <a:ext uri="{FF2B5EF4-FFF2-40B4-BE49-F238E27FC236}">
                <a16:creationId xmlns:a16="http://schemas.microsoft.com/office/drawing/2014/main" id="{0E2ECF8B-5BCF-4F8A-AA78-61E3CF65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WEST GERMANIC</a:t>
            </a:r>
          </a:p>
        </p:txBody>
      </p:sp>
      <p:sp>
        <p:nvSpPr>
          <p:cNvPr id="4" name="relatives">
            <a:extLst xmlns:a="http://schemas.openxmlformats.org/drawingml/2006/main">
              <a:ext uri="{FF2B5EF4-FFF2-40B4-BE49-F238E27FC236}">
                <a16:creationId xmlns:a16="http://schemas.microsoft.com/office/drawing/2014/main" id="{A2487A43-A09C-451C-A659-A79EA44C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1019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8E2FB"/>
                </a:solidFill>
                <a:latin typeface="Nimbus Sans"/>
                <a:ea typeface="Nimbus Sans"/>
                <a:cs typeface="Nimbus Sans"/>
              </a:defRPr>
            </a:pPr>
            <a:r>
              <a:rPr sz="2925" b="0">
                <a:solidFill>
                  <a:srgbClr val="D8E2FB"/>
                </a:solidFill>
                <a:latin typeface="Nimbus Sans"/>
                <a:ea typeface="Nimbus Sans"/>
                <a:cs typeface="Nimbus Sans"/>
              </a:rPr>
              <a:t>Old Frisian. Old Saxon.</a:t>
            </a:r>
          </a:p>
        </p:txBody>
      </p:sp>
      <p:sp>
        <p:nvSpPr>
          <p:cNvPr id="5" name="core">
            <a:extLst xmlns:a="http://schemas.openxmlformats.org/drawingml/2006/main">
              <a:ext uri="{FF2B5EF4-FFF2-40B4-BE49-F238E27FC236}">
                <a16:creationId xmlns:a16="http://schemas.microsoft.com/office/drawing/2014/main" id="{49E835F1-77C4-4F81-9076-57DEBC5A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These languages shared ancestry.</a:t>
            </a:r>
          </a:p>
        </p:txBody>
      </p:sp>
    </p:spTree>
    <p:extLst>
      <p:ext uri="{BB962C8B-B14F-4D97-AF65-F5344CB8AC3E}">
        <p14:creationId xmlns:p14="http://schemas.microsoft.com/office/powerpoint/2010/main" val="1445026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6553D09-D8B7-4BFD-96D6-F2C0E5A8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Some words stayed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0DF85C0-8399-4B39-B617-03D482B7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04</a:t>
            </a:r>
          </a:p>
        </p:txBody>
      </p:sp>
      <p:sp>
        <p:nvSpPr>
          <p:cNvPr id="3" name="col1">
            <a:extLst xmlns:a="http://schemas.openxmlformats.org/drawingml/2006/main">
              <a:ext uri="{FF2B5EF4-FFF2-40B4-BE49-F238E27FC236}">
                <a16:creationId xmlns:a16="http://schemas.microsoft.com/office/drawing/2014/main" id="{C72FE05B-B736-43E3-B37D-882789FC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OLD ENGLISH</a:t>
            </a:r>
          </a:p>
        </p:txBody>
      </p:sp>
      <p:sp>
        <p:nvSpPr>
          <p:cNvPr id="4" name="col2">
            <a:extLst xmlns:a="http://schemas.openxmlformats.org/drawingml/2006/main">
              <a:ext uri="{FF2B5EF4-FFF2-40B4-BE49-F238E27FC236}">
                <a16:creationId xmlns:a16="http://schemas.microsoft.com/office/drawing/2014/main" id="{0E5684D7-C56B-4084-8CF0-FE11EAAF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TODAY</a:t>
            </a:r>
          </a:p>
        </p:txBody>
      </p:sp>
      <p:sp>
        <p:nvSpPr>
          <p:cNvPr id="5" name="word1">
            <a:extLst xmlns:a="http://schemas.openxmlformats.org/drawingml/2006/main">
              <a:ext uri="{FF2B5EF4-FFF2-40B4-BE49-F238E27FC236}">
                <a16:creationId xmlns:a16="http://schemas.microsoft.com/office/drawing/2014/main" id="{EB456757-530C-475B-9A48-8927395B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hand</a:t>
            </a:r>
          </a:p>
        </p:txBody>
      </p:sp>
      <p:sp>
        <p:nvSpPr>
          <p:cNvPr id="6" name="word2">
            <a:extLst xmlns:a="http://schemas.openxmlformats.org/drawingml/2006/main">
              <a:ext uri="{FF2B5EF4-FFF2-40B4-BE49-F238E27FC236}">
                <a16:creationId xmlns:a16="http://schemas.microsoft.com/office/drawing/2014/main" id="{19AB8D8A-38CA-4B4E-B53D-E2B96CDB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hand</a:t>
            </a:r>
          </a:p>
        </p:txBody>
      </p:sp>
      <p:sp>
        <p:nvSpPr>
          <p:cNvPr id="7" name="word3">
            <a:extLst xmlns:a="http://schemas.openxmlformats.org/drawingml/2006/main">
              <a:ext uri="{FF2B5EF4-FFF2-40B4-BE49-F238E27FC236}">
                <a16:creationId xmlns:a16="http://schemas.microsoft.com/office/drawing/2014/main" id="{15CE2597-D097-4A50-B5C8-9E98C419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word</a:t>
            </a:r>
          </a:p>
        </p:txBody>
      </p:sp>
      <p:sp>
        <p:nvSpPr>
          <p:cNvPr id="8" name="word4">
            <a:extLst xmlns:a="http://schemas.openxmlformats.org/drawingml/2006/main">
              <a:ext uri="{FF2B5EF4-FFF2-40B4-BE49-F238E27FC236}">
                <a16:creationId xmlns:a16="http://schemas.microsoft.com/office/drawing/2014/main" id="{BC7D1439-574A-42CB-AD3F-88E6A970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7088050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D7A4452-B4C8-4238-8C54-39A7059E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Writing came later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5C393B9-CBDF-4A79-973C-BE86B110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05</a:t>
            </a:r>
          </a:p>
        </p:txBody>
      </p:sp>
      <p:sp>
        <p:nvSpPr>
          <p:cNvPr id="3" name="fact1">
            <a:extLst xmlns:a="http://schemas.openxmlformats.org/drawingml/2006/main">
              <a:ext uri="{FF2B5EF4-FFF2-40B4-BE49-F238E27FC236}">
                <a16:creationId xmlns:a16="http://schemas.microsoft.com/office/drawing/2014/main" id="{92707578-B4E2-48AC-A6FA-75C61EB0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288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2775" b="0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Speech preceded surviving manuscripts.</a:t>
            </a:r>
          </a:p>
        </p:txBody>
      </p:sp>
      <p:sp>
        <p:nvSpPr>
          <p:cNvPr id="4" name="fact2">
            <a:extLst xmlns:a="http://schemas.openxmlformats.org/drawingml/2006/main">
              <a:ext uri="{FF2B5EF4-FFF2-40B4-BE49-F238E27FC236}">
                <a16:creationId xmlns:a16="http://schemas.microsoft.com/office/drawing/2014/main" id="{4B12A9BF-F6B3-4D5D-A3FD-5C69DF87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2775" b="0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Cædmon’s Hymn survives in copies.</a:t>
            </a:r>
          </a:p>
        </p:txBody>
      </p:sp>
      <p:sp>
        <p:nvSpPr>
          <p:cNvPr id="5" name="fact3">
            <a:extLst xmlns:a="http://schemas.openxmlformats.org/drawingml/2006/main">
              <a:ext uri="{FF2B5EF4-FFF2-40B4-BE49-F238E27FC236}">
                <a16:creationId xmlns:a16="http://schemas.microsoft.com/office/drawing/2014/main" id="{D5611313-6817-49DD-937C-15147310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338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2775" b="0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One copy dates to 800–830.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A81588D5-8E01-4E2A-A931-6B495A3E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Found in Rome in 2026.</a:t>
            </a:r>
          </a:p>
        </p:txBody>
      </p:sp>
    </p:spTree>
    <p:extLst>
      <p:ext uri="{BB962C8B-B14F-4D97-AF65-F5344CB8AC3E}">
        <p14:creationId xmlns:p14="http://schemas.microsoft.com/office/powerpoint/2010/main" val="2128716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C1CA6E1-3C89-40C7-94A4-F6C537F4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No single dialect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53DAE46-534A-472F-9605-43A43CC2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06</a:t>
            </a:r>
          </a:p>
        </p:txBody>
      </p:sp>
      <p:sp>
        <p:nvSpPr>
          <p:cNvPr id="3" name="dialects">
            <a:extLst xmlns:a="http://schemas.openxmlformats.org/drawingml/2006/main">
              <a:ext uri="{FF2B5EF4-FFF2-40B4-BE49-F238E27FC236}">
                <a16:creationId xmlns:a16="http://schemas.microsoft.com/office/drawing/2014/main" id="{9B529402-D2C2-4C44-91AD-5E62B62F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19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4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WEST SAXON</a:t>
            </a:r>
          </a:p>
        </p:txBody>
      </p:sp>
      <p:sp>
        <p:nvSpPr>
          <p:cNvPr id="4" name="dialects2">
            <a:extLst xmlns:a="http://schemas.openxmlformats.org/drawingml/2006/main">
              <a:ext uri="{FF2B5EF4-FFF2-40B4-BE49-F238E27FC236}">
                <a16:creationId xmlns:a16="http://schemas.microsoft.com/office/drawing/2014/main" id="{945E8143-F284-4B59-B9B6-D968E64C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KENTISH     ANGLIAN</a:t>
            </a:r>
          </a:p>
        </p:txBody>
      </p:sp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3D8A3E66-BCD0-4824-A413-41E4C460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2625" b="0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Surviving texts favor West Saxon.</a:t>
            </a:r>
          </a:p>
        </p:txBody>
      </p:sp>
      <p:sp>
        <p:nvSpPr>
          <p:cNvPr id="6" name="takeaway2">
            <a:extLst xmlns:a="http://schemas.openxmlformats.org/drawingml/2006/main">
              <a:ext uri="{FF2B5EF4-FFF2-40B4-BE49-F238E27FC236}">
                <a16:creationId xmlns:a16="http://schemas.microsoft.com/office/drawing/2014/main" id="{6FC72787-2E43-46CD-9AE2-DCC716B3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863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Scribes varied their spelling.</a:t>
            </a:r>
          </a:p>
        </p:txBody>
      </p:sp>
    </p:spTree>
    <p:extLst>
      <p:ext uri="{BB962C8B-B14F-4D97-AF65-F5344CB8AC3E}">
        <p14:creationId xmlns:p14="http://schemas.microsoft.com/office/powerpoint/2010/main" val="1928680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7461FE3-F92A-4E2B-ACE3-98D9CC72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French entered after conquest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55CC748-8AE0-4385-B108-0FCA9AEB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E2FB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D8E2FB"/>
                </a:solidFill>
                <a:latin typeface="Nimbus Sans"/>
                <a:ea typeface="Nimbus Sans"/>
                <a:cs typeface="Nimbus Sans"/>
              </a:rPr>
              <a:t>ENGLISH / 07</a:t>
            </a:r>
          </a:p>
        </p:txBody>
      </p:sp>
      <p:sp>
        <p:nvSpPr>
          <p:cNvPr id="3" name="year">
            <a:extLst xmlns:a="http://schemas.openxmlformats.org/drawingml/2006/main">
              <a:ext uri="{FF2B5EF4-FFF2-40B4-BE49-F238E27FC236}">
                <a16:creationId xmlns:a16="http://schemas.microsoft.com/office/drawing/2014/main" id="{830204E0-1733-4EFA-BDB0-8F9EB761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7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1066</a:t>
            </a:r>
          </a:p>
        </p:txBody>
      </p:sp>
      <p:sp>
        <p:nvSpPr>
          <p:cNvPr id="4" name="event">
            <a:extLst xmlns:a="http://schemas.openxmlformats.org/drawingml/2006/main">
              <a:ext uri="{FF2B5EF4-FFF2-40B4-BE49-F238E27FC236}">
                <a16:creationId xmlns:a16="http://schemas.microsoft.com/office/drawing/2014/main" id="{914446F0-DDEE-4531-A495-4C01D9ED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337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9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Normans conquered England.</a:t>
            </a:r>
          </a:p>
        </p:txBody>
      </p:sp>
      <p:sp>
        <p:nvSpPr>
          <p:cNvPr id="5" name="change">
            <a:extLst xmlns:a="http://schemas.openxmlformats.org/drawingml/2006/main">
              <a:ext uri="{FF2B5EF4-FFF2-40B4-BE49-F238E27FC236}">
                <a16:creationId xmlns:a16="http://schemas.microsoft.com/office/drawing/2014/main" id="{FE87B7C1-983D-4CE7-B371-3A1B1862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862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8E2FB"/>
                </a:solidFill>
                <a:latin typeface="Nimbus Sans"/>
                <a:ea typeface="Nimbus Sans"/>
                <a:cs typeface="Nimbus Sans"/>
              </a:defRPr>
            </a:pPr>
            <a:r>
              <a:rPr sz="2925" b="0">
                <a:solidFill>
                  <a:srgbClr val="D8E2FB"/>
                </a:solidFill>
                <a:latin typeface="Nimbus Sans"/>
                <a:ea typeface="Nimbus Sans"/>
                <a:cs typeface="Nimbus Sans"/>
              </a:rPr>
              <a:t>French words entered English.</a:t>
            </a:r>
          </a:p>
        </p:txBody>
      </p:sp>
      <p:sp>
        <p:nvSpPr>
          <p:cNvPr id="6" name="nuance">
            <a:extLst xmlns:a="http://schemas.openxmlformats.org/drawingml/2006/main">
              <a:ext uri="{FF2B5EF4-FFF2-40B4-BE49-F238E27FC236}">
                <a16:creationId xmlns:a16="http://schemas.microsoft.com/office/drawing/2014/main" id="{D92497C8-FAB9-4AEB-B69C-88F2E92D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01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Change took time.</a:t>
            </a:r>
          </a:p>
        </p:txBody>
      </p:sp>
    </p:spTree>
    <p:extLst>
      <p:ext uri="{BB962C8B-B14F-4D97-AF65-F5344CB8AC3E}">
        <p14:creationId xmlns:p14="http://schemas.microsoft.com/office/powerpoint/2010/main" val="7751312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C92B2D9-AC57-45B3-8309-377D9CBD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Sources and limits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82CE7D5-EB97-45DC-9C2E-ADCD46DD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08</a:t>
            </a:r>
          </a:p>
        </p:txBody>
      </p:sp>
      <p:sp>
        <p:nvSpPr>
          <p:cNvPr id="3" name="source1">
            <a:extLst xmlns:a="http://schemas.openxmlformats.org/drawingml/2006/main">
              <a:ext uri="{FF2B5EF4-FFF2-40B4-BE49-F238E27FC236}">
                <a16:creationId xmlns:a16="http://schemas.microsoft.com/office/drawing/2014/main" id="{C35EF566-B2A7-4D36-BFBA-F8D9A8C3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Texas Linguistics Research Center</a:t>
            </a:r>
          </a:p>
        </p:txBody>
      </p:sp>
      <p:sp>
        <p:nvSpPr>
          <p:cNvPr id="4" name="url1">
            <a:extLst xmlns:a="http://schemas.openxmlformats.org/drawingml/2006/main">
              <a:ext uri="{FF2B5EF4-FFF2-40B4-BE49-F238E27FC236}">
                <a16:creationId xmlns:a16="http://schemas.microsoft.com/office/drawing/2014/main" id="{76087A44-418D-4E8A-A099-C237D7F1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lrc.la.utexas.edu/eieol/engol/0</a:t>
            </a:r>
          </a:p>
        </p:txBody>
      </p:sp>
      <p:sp>
        <p:nvSpPr>
          <p:cNvPr id="5" name="source2">
            <a:extLst xmlns:a="http://schemas.openxmlformats.org/drawingml/2006/main">
              <a:ext uri="{FF2B5EF4-FFF2-40B4-BE49-F238E27FC236}">
                <a16:creationId xmlns:a16="http://schemas.microsoft.com/office/drawing/2014/main" id="{63353841-1A95-4E5D-BED9-82D9443D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527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Trinity College Dublin</a:t>
            </a:r>
          </a:p>
        </p:txBody>
      </p:sp>
      <p:sp>
        <p:nvSpPr>
          <p:cNvPr id="6" name="url2">
            <a:extLst xmlns:a="http://schemas.openxmlformats.org/drawingml/2006/main">
              <a:ext uri="{FF2B5EF4-FFF2-40B4-BE49-F238E27FC236}">
                <a16:creationId xmlns:a16="http://schemas.microsoft.com/office/drawing/2014/main" id="{A1AE36E5-EC66-44A6-B950-206755DC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tcd.ie/news_events/articles/2026/caedmons-hymn-discovery/</a:t>
            </a:r>
          </a:p>
        </p:txBody>
      </p:sp>
      <p:sp>
        <p:nvSpPr>
          <p:cNvPr id="7" name="limit">
            <a:extLst xmlns:a="http://schemas.openxmlformats.org/drawingml/2006/main">
              <a:ext uri="{FF2B5EF4-FFF2-40B4-BE49-F238E27FC236}">
                <a16:creationId xmlns:a16="http://schemas.microsoft.com/office/drawing/2014/main" id="{9247F7CF-E513-4AC4-98A4-B13C7514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22332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22332"/>
                </a:solidFill>
                <a:latin typeface="Nimbus Sans"/>
                <a:ea typeface="Nimbus Sans"/>
                <a:cs typeface="Nimbus Sans"/>
              </a:rPr>
              <a:t>Texts show survivors, not beginnings.</a:t>
            </a:r>
          </a:p>
        </p:txBody>
      </p:sp>
      <p:sp>
        <p:nvSpPr>
          <p:cNvPr id="8" name="next">
            <a:extLst xmlns:a="http://schemas.openxmlformats.org/drawingml/2006/main">
              <a:ext uri="{FF2B5EF4-FFF2-40B4-BE49-F238E27FC236}">
                <a16:creationId xmlns:a16="http://schemas.microsoft.com/office/drawing/2014/main" id="{55E7B1EF-C869-48D9-9E15-EB6BC4EF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NEXT: Ancient Britain before English</a:t>
            </a:r>
          </a:p>
        </p:txBody>
      </p:sp>
    </p:spTree>
    <p:extLst>
      <p:ext uri="{BB962C8B-B14F-4D97-AF65-F5344CB8AC3E}">
        <p14:creationId xmlns:p14="http://schemas.microsoft.com/office/powerpoint/2010/main" val="38935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2026-09-24T17:17:51.4550000Z</dcterms:created>
  <dcterms:modified xsi:type="dcterms:W3CDTF">2026-09-24T17:17:51.4550000Z</dcterms:modified>
</coreProperties>
</file>