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45c1b08a024b46" /><Relationship Type="http://schemas.openxmlformats.org/officeDocument/2006/relationships/extended-properties" Target="/docProps/app.xml" Id="Rf19e863c99e04d0d" /><Relationship Type="http://schemas.openxmlformats.org/officeDocument/2006/relationships/officeDocument" Target="/ppt/presentation.xml" Id="R9b3078f39a7d4c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f34874c3c594433"/>
  </p:sldMasterIdLst>
  <p:notesMasterIdLst>
    <p:notesMasterId xmlns:r="http://schemas.openxmlformats.org/officeDocument/2006/relationships" r:id="R0b6ca40369284883"/>
  </p:notesMasterIdLst>
  <p:sldIdLst>
    <p:sldId xmlns:r="http://schemas.openxmlformats.org/officeDocument/2006/relationships" id="256" r:id="Re23e8e9b642747a9"/>
    <p:sldId xmlns:r="http://schemas.openxmlformats.org/officeDocument/2006/relationships" id="257" r:id="R86c4e60fe1ab4bd5"/>
    <p:sldId xmlns:r="http://schemas.openxmlformats.org/officeDocument/2006/relationships" id="258" r:id="R6ca9edc5942b4f7a"/>
    <p:sldId xmlns:r="http://schemas.openxmlformats.org/officeDocument/2006/relationships" id="259" r:id="Rb0c62284dd464a2a"/>
    <p:sldId xmlns:r="http://schemas.openxmlformats.org/officeDocument/2006/relationships" id="260" r:id="R5da7081b67db4042"/>
    <p:sldId xmlns:r="http://schemas.openxmlformats.org/officeDocument/2006/relationships" id="261" r:id="Rae1cc57066ef402e"/>
    <p:sldId xmlns:r="http://schemas.openxmlformats.org/officeDocument/2006/relationships" id="262" r:id="R16e390fe627342ba"/>
    <p:sldId xmlns:r="http://schemas.openxmlformats.org/officeDocument/2006/relationships" id="263" r:id="Re895cbcbceef45f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61e45283cb4d1a" /><Relationship Type="http://schemas.openxmlformats.org/officeDocument/2006/relationships/slideMaster" Target="/ppt/slideMasters/slideMaster1.xml" Id="Rdf34874c3c594433" /><Relationship Type="http://schemas.openxmlformats.org/officeDocument/2006/relationships/notesMaster" Target="/ppt/notesMasters/notesMaster1.xml" Id="R0b6ca40369284883" /><Relationship Type="http://schemas.openxmlformats.org/officeDocument/2006/relationships/presProps" Target="/ppt/presProps.xml" Id="R9b82712348954526" /><Relationship Type="http://schemas.openxmlformats.org/officeDocument/2006/relationships/tableStyles" Target="/ppt/tableStyles.xml" Id="R546a59e021594c0d" /><Relationship Type="http://schemas.openxmlformats.org/officeDocument/2006/relationships/slide" Target="/ppt/slides/slide1.xml" Id="Re23e8e9b642747a9" /><Relationship Type="http://schemas.openxmlformats.org/officeDocument/2006/relationships/slide" Target="/ppt/slides/slide2.xml" Id="R86c4e60fe1ab4bd5" /><Relationship Type="http://schemas.openxmlformats.org/officeDocument/2006/relationships/slide" Target="/ppt/slides/slide3.xml" Id="R6ca9edc5942b4f7a" /><Relationship Type="http://schemas.openxmlformats.org/officeDocument/2006/relationships/slide" Target="/ppt/slides/slide4.xml" Id="Rb0c62284dd464a2a" /><Relationship Type="http://schemas.openxmlformats.org/officeDocument/2006/relationships/slide" Target="/ppt/slides/slide5.xml" Id="R5da7081b67db4042" /><Relationship Type="http://schemas.openxmlformats.org/officeDocument/2006/relationships/slide" Target="/ppt/slides/slide6.xml" Id="Rae1cc57066ef402e" /><Relationship Type="http://schemas.openxmlformats.org/officeDocument/2006/relationships/slide" Target="/ppt/slides/slide7.xml" Id="R16e390fe627342ba" /><Relationship Type="http://schemas.openxmlformats.org/officeDocument/2006/relationships/slide" Target="/ppt/slides/slide8.xml" Id="Re895cbcbceef45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bd8eb8a84947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5d9b729b2c480c" /><Relationship Type="http://schemas.openxmlformats.org/officeDocument/2006/relationships/notesMaster" Target="/ppt/notesMasters/notesMaster1.xml" Id="R8c581cad69a64d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19c5ac889e4920" /><Relationship Type="http://schemas.openxmlformats.org/officeDocument/2006/relationships/notesMaster" Target="/ppt/notesMasters/notesMaster1.xml" Id="Rb9a3387f065b45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7d0854f0924dad" /><Relationship Type="http://schemas.openxmlformats.org/officeDocument/2006/relationships/notesMaster" Target="/ppt/notesMasters/notesMaster1.xml" Id="Rc42478af00b446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c42b8c17a04931" /><Relationship Type="http://schemas.openxmlformats.org/officeDocument/2006/relationships/notesMaster" Target="/ppt/notesMasters/notesMaster1.xml" Id="Rc532022a34cc43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cc8700a20b42d1" /><Relationship Type="http://schemas.openxmlformats.org/officeDocument/2006/relationships/notesMaster" Target="/ppt/notesMasters/notesMaster1.xml" Id="R9b592e8e696944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212bfbc6b14f0e" /><Relationship Type="http://schemas.openxmlformats.org/officeDocument/2006/relationships/notesMaster" Target="/ppt/notesMasters/notesMaster1.xml" Id="Rb825ee6c112845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81e594b67440a2" /><Relationship Type="http://schemas.openxmlformats.org/officeDocument/2006/relationships/notesMaster" Target="/ppt/notesMasters/notesMaster1.xml" Id="R604d5babff7d41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70acfdc008e48d5" /><Relationship Type="http://schemas.openxmlformats.org/officeDocument/2006/relationships/notesMaster" Target="/ppt/notesMasters/notesMaster1.xml" Id="R8df680e4e6a141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Tests support decisions.</a:t>
            </a:r>
          </a:p>
          <a:p xmlns:a="http://schemas.openxmlformats.org/drawingml/2006/main">
            <a:r>
              <a:t>Evidence: Teaching earns income.</a:t>
            </a:r>
          </a:p>
          <a:p xmlns:a="http://schemas.openxmlformats.org/drawingml/2006/main">
            <a:r>
              <a:t>Inference: Access creates demand.</a:t>
            </a:r>
          </a:p>
          <a:p xmlns:a="http://schemas.openxmlformats.org/drawingml/2006/main">
            <a:r>
              <a:t>Unproven: One actor controls everything.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https://www.gov.uk/guidance/prove-your-english-language-abilities-with-a-secure-english-language-test-selt</a:t>
            </a:r>
          </a:p>
          <a:p xmlns:a="http://schemas.openxmlformats.org/drawingml/2006/main">
            <a:r>
              <a:t>https://www.britishcouncil.org/sites/default/files/britishcouncil_annualreport_2024-25.pdf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Providers sell named services.</a:t>
            </a:r>
          </a:p>
          <a:p xmlns:a="http://schemas.openxmlformats.org/drawingml/2006/main">
            <a:r>
              <a:t>Evidence: Institutions require evidence.</a:t>
            </a:r>
          </a:p>
          <a:p xmlns:a="http://schemas.openxmlformats.org/drawingml/2006/main">
            <a:r>
              <a:t>Inference: Requirements stabilise demand.</a:t>
            </a:r>
          </a:p>
          <a:p xmlns:a="http://schemas.openxmlformats.org/drawingml/2006/main">
            <a:r>
              <a:t>Unproven: Demand reflects learning quality.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https://www.gov.uk/guidance/prove-your-english-language-abilities-with-a-secure-english-language-test-selt</a:t>
            </a:r>
          </a:p>
          <a:p xmlns:a="http://schemas.openxmlformats.org/drawingml/2006/main">
            <a:r>
              <a:t>https://www.britishcouncil.org/sites/default/files/britishcouncil_annualreport_2024-25.pdf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Audited income was £702m.</a:t>
            </a:r>
          </a:p>
          <a:p xmlns:a="http://schemas.openxmlformats.org/drawingml/2006/main">
            <a:r>
              <a:t>Evidence: Income includes teaching.</a:t>
            </a:r>
          </a:p>
          <a:p xmlns:a="http://schemas.openxmlformats.org/drawingml/2006/main">
            <a:r>
              <a:t>Evidence: Income includes exams.</a:t>
            </a:r>
          </a:p>
          <a:p xmlns:a="http://schemas.openxmlformats.org/drawingml/2006/main">
            <a:r>
              <a:t>Inference: Public missions meet commerce.</a:t>
            </a:r>
          </a:p>
          <a:p xmlns:a="http://schemas.openxmlformats.org/drawingml/2006/main">
            <a:r>
              <a:t>Unproven: All income comes IELTS.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https://www.britishcouncil.org/sites/default/files/britishcouncil_annualreport_2024-25.pdf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UK routes set levels.</a:t>
            </a:r>
          </a:p>
          <a:p xmlns:a="http://schemas.openxmlformats.org/drawingml/2006/main">
            <a:r>
              <a:t>Evidence: Approved tests are named.</a:t>
            </a:r>
          </a:p>
          <a:p xmlns:a="http://schemas.openxmlformats.org/drawingml/2006/main">
            <a:r>
              <a:t>Evidence: Results expire after two years.</a:t>
            </a:r>
          </a:p>
          <a:p xmlns:a="http://schemas.openxmlformats.org/drawingml/2006/main">
            <a:r>
              <a:t>Evidence: Some candidates must travel.</a:t>
            </a:r>
          </a:p>
          <a:p xmlns:a="http://schemas.openxmlformats.org/drawingml/2006/main">
            <a:r>
              <a:t>Inference: Rules create strong incentives.</a:t>
            </a:r>
          </a:p>
          <a:p xmlns:a="http://schemas.openxmlformats.org/drawingml/2006/main">
            <a:r>
              <a:t>Unproven: Every applicant needs testing.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https://www.gov.uk/guidance/prove-your-english-language-abilities-with-a-secure-english-language-test-selt</a:t>
            </a:r>
          </a:p>
          <a:p xmlns:a="http://schemas.openxmlformats.org/drawingml/2006/main">
            <a:r>
              <a:t>https://www.gov.uk/student-visa/knowledge-of-english</a:t>
            </a:r>
          </a:p>
          <a:p xmlns:a="http://schemas.openxmlformats.org/drawingml/2006/main">
            <a:r>
              <a:t>https://www.gov.uk/skilled-worker-visa/knowledge-of-english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India study reports premiums.</a:t>
            </a:r>
          </a:p>
          <a:p xmlns:a="http://schemas.openxmlformats.org/drawingml/2006/main">
            <a:r>
              <a:t>Evidence: Immigrant study estimates gains.</a:t>
            </a:r>
          </a:p>
          <a:p xmlns:a="http://schemas.openxmlformats.org/drawingml/2006/main">
            <a:r>
              <a:t>Evidence: Returns vary by fluency.</a:t>
            </a:r>
          </a:p>
          <a:p xmlns:a="http://schemas.openxmlformats.org/drawingml/2006/main">
            <a:r>
              <a:t>Inference: Expected returns motivate purchases.</a:t>
            </a:r>
          </a:p>
          <a:p xmlns:a="http://schemas.openxmlformats.org/drawingml/2006/main">
            <a:r>
              <a:t>Unproven: English always raises pay.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https://doi.org/10.1086/668277</a:t>
            </a:r>
          </a:p>
          <a:p xmlns:a="http://schemas.openxmlformats.org/drawingml/2006/main">
            <a:r>
              <a:t>https://www.nber.org/papers/w8916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Publishers bundle materials.</a:t>
            </a:r>
          </a:p>
          <a:p xmlns:a="http://schemas.openxmlformats.org/drawingml/2006/main">
            <a:r>
              <a:t>Evidence: Free resources exist.</a:t>
            </a:r>
          </a:p>
          <a:p xmlns:a="http://schemas.openxmlformats.org/drawingml/2006/main">
            <a:r>
              <a:t>Inference: New editions repeat sales.</a:t>
            </a:r>
          </a:p>
          <a:p xmlns:a="http://schemas.openxmlformats.org/drawingml/2006/main">
            <a:r>
              <a:t>Unproven: New editions always improve learning.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https://www.britishcouncil.org/sites/default/files/britishcouncil_annualreport_2024-25.pdf</a:t>
            </a:r>
          </a:p>
          <a:p xmlns:a="http://schemas.openxmlformats.org/drawingml/2006/main">
            <a:r>
              <a:t>https://www.teachingenglish.org.uk/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Fees vary by provider.</a:t>
            </a:r>
          </a:p>
          <a:p xmlns:a="http://schemas.openxmlformats.org/drawingml/2006/main">
            <a:r>
              <a:t>Evidence: Travel can become necessary.</a:t>
            </a:r>
          </a:p>
          <a:p xmlns:a="http://schemas.openxmlformats.org/drawingml/2006/main">
            <a:r>
              <a:t>Evidence: Some components allow retakes.</a:t>
            </a:r>
          </a:p>
          <a:p xmlns:a="http://schemas.openxmlformats.org/drawingml/2006/main">
            <a:r>
              <a:t>Inference: Total costs exceed fees.</a:t>
            </a:r>
          </a:p>
          <a:p xmlns:a="http://schemas.openxmlformats.org/drawingml/2006/main">
            <a:r>
              <a:t>Unproven: Scores prove full competence.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https://www.gov.uk/guidance/prove-your-english-language-abilities-with-a-secure-english-language-test-selt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Evidence: Sources appear above.</a:t>
            </a:r>
          </a:p>
          <a:p xmlns:a="http://schemas.openxmlformats.org/drawingml/2006/main">
            <a:r>
              <a:t>Inference: Familiar brands reduce risk.</a:t>
            </a:r>
          </a:p>
          <a:p xmlns:a="http://schemas.openxmlformats.org/drawingml/2006/main">
            <a:r>
              <a:t>Unproven: Price measures learning.</a:t>
            </a:r>
          </a:p>
          <a:p xmlns:a="http://schemas.openxmlformats.org/drawingml/2006/main">
            <a:r>
              <a:t>Action: Publish accepted alternatives.</a:t>
            </a:r>
          </a:p>
          <a:p xmlns:a="http://schemas.openxmlformats.org/drawingml/2006/main">
            <a:r>
              <a:t>Action: Support learner costs.</a:t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https://www.gov.uk/guidance/prove-your-english-language-abilities-with-a-secure-english-language-test-selt</a:t>
            </a:r>
          </a:p>
          <a:p xmlns:a="http://schemas.openxmlformats.org/drawingml/2006/main">
            <a:r>
              <a:t>https://www.gov.uk/student-visa/knowledge-of-english</a:t>
            </a:r>
          </a:p>
          <a:p xmlns:a="http://schemas.openxmlformats.org/drawingml/2006/main">
            <a:r>
              <a:t>https://www.gov.uk/skilled-worker-visa/knowledge-of-english</a:t>
            </a:r>
          </a:p>
          <a:p xmlns:a="http://schemas.openxmlformats.org/drawingml/2006/main">
            <a:r>
              <a:t>https://www.britishcouncil.org/sites/default/files/britishcouncil_annualreport_2024-25.pdf</a:t>
            </a:r>
          </a:p>
          <a:p xmlns:a="http://schemas.openxmlformats.org/drawingml/2006/main">
            <a:r>
              <a:t>https://doi.org/10.1086/668277</a:t>
            </a:r>
          </a:p>
          <a:p xmlns:a="http://schemas.openxmlformats.org/drawingml/2006/main">
            <a:r>
              <a:t>https://www.nber.org/papers/w8916</a:t>
            </a:r>
          </a:p>
          <a:p xmlns:a="http://schemas.openxmlformats.org/drawingml/2006/main">
            <a:r>
              <a:t>https://www.teachingenglish.org.uk/</a:t>
            </a:r>
          </a:p>
          <a:p xmlns:a="http://schemas.openxmlformats.org/drawingml/2006/main">
            <a:r>
              <a:t>Artwork is illustrative.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eefd3510b548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1faa3326ca4cf3" /><Relationship Type="http://schemas.openxmlformats.org/officeDocument/2006/relationships/slideLayout" Target="/ppt/slideLayouts/slideLayout1.xml" Id="Rb8c296d050274ec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c296d050274ec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8a4330c864cbb" /><Relationship Type="http://schemas.openxmlformats.org/officeDocument/2006/relationships/image" Target="/ppt/media/image.png" Id="R8005a272be8c496a" /><Relationship Type="http://schemas.openxmlformats.org/officeDocument/2006/relationships/notesSlide" Target="/ppt/notesSlides/notesSlide1.xml" Id="R1403c0aa9cfb4c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30ae33bfc4b85" /><Relationship Type="http://schemas.openxmlformats.org/officeDocument/2006/relationships/notesSlide" Target="/ppt/notesSlides/notesSlide2.xml" Id="R7360ba08f70c4f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dba6894b041b1" /><Relationship Type="http://schemas.openxmlformats.org/officeDocument/2006/relationships/notesSlide" Target="/ppt/notesSlides/notesSlide3.xml" Id="R81a0b574654348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9676c9ff76473b" /><Relationship Type="http://schemas.openxmlformats.org/officeDocument/2006/relationships/notesSlide" Target="/ppt/notesSlides/notesSlide4.xml" Id="R4b614870674c47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1176ca6ef4a52" /><Relationship Type="http://schemas.openxmlformats.org/officeDocument/2006/relationships/notesSlide" Target="/ppt/notesSlides/notesSlide5.xml" Id="Raad30340def443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17cdf1a5a4e16" /><Relationship Type="http://schemas.openxmlformats.org/officeDocument/2006/relationships/notesSlide" Target="/ppt/notesSlides/notesSlide6.xml" Id="R8c9d66334c0f49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0c132604549df" /><Relationship Type="http://schemas.openxmlformats.org/officeDocument/2006/relationships/notesSlide" Target="/ppt/notesSlides/notesSlide7.xml" Id="Rff9f9ba7a3da48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02e300b684c0e" /><Relationship Type="http://schemas.openxmlformats.org/officeDocument/2006/relationships/notesSlide" Target="/ppt/notesSlides/notesSlide8.xml" Id="Rc7f8d032e7bc49e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5a272be8c496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C9075A9-B111-416F-A816-175EB74E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0075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ENGLISH, POWER, ACCESS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7CED09-95EC-43E3-871A-0E26C819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71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The English</a:t>
            </a:r>
          </a:p>
          <a:p xmlns:a="http://schemas.openxmlformats.org/drawingml/2006/main">
            <a:pPr algn="l">
              <a:def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Language</a:t>
            </a:r>
          </a:p>
          <a:p xmlns:a="http://schemas.openxmlformats.org/drawingml/2006/main">
            <a:pPr algn="l">
              <a:def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9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Business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CC109C-3C93-463A-ABD0-B4C4773F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ACCESS CREATES PAYING DEMAND</a:t>
            </a:r>
          </a:p>
        </p:txBody>
      </p:sp>
      <p:sp>
        <p:nvSpPr>
          <p:cNvPr id="5" name="tag">
            <a:extLst xmlns:a="http://schemas.openxmlformats.org/drawingml/2006/main">
              <a:ext uri="{FF2B5EF4-FFF2-40B4-BE49-F238E27FC236}">
                <a16:creationId xmlns:a16="http://schemas.microsoft.com/office/drawing/2014/main" id="{910DC05B-EB66-4D90-8F63-FADDAD6A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200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32331"/>
          </a:solidFill>
          <a:ln xmlns:a="http://schemas.openxmlformats.org/drawingml/2006/main" w="0">
            <a:noFill/>
          </a:ln>
        </p:spPr>
      </p:sp>
      <p:sp>
        <p:nvSpPr>
          <p:cNvPr id="6" name="series">
            <a:extLst xmlns:a="http://schemas.openxmlformats.org/drawingml/2006/main">
              <a:ext uri="{FF2B5EF4-FFF2-40B4-BE49-F238E27FC236}">
                <a16:creationId xmlns:a16="http://schemas.microsoft.com/office/drawing/2014/main" id="{B7AE97EB-FCF9-4A2B-BB4D-50659AEF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20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09 / 12</a:t>
            </a:r>
          </a:p>
        </p:txBody>
      </p:sp>
    </p:spTree>
    <p:extLst>
      <p:ext uri="{BB962C8B-B14F-4D97-AF65-F5344CB8AC3E}">
        <p14:creationId xmlns:p14="http://schemas.microsoft.com/office/powerpoint/2010/main" val="824923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itle">
            <a:extLst xmlns:a="http://schemas.openxmlformats.org/drawingml/2006/main">
              <a:ext uri="{FF2B5EF4-FFF2-40B4-BE49-F238E27FC236}">
                <a16:creationId xmlns:a16="http://schemas.microsoft.com/office/drawing/2014/main" id="{DC36A27A-B6C9-414A-AB07-B2227EC7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English access forms markets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924AD3F-CD4C-4EEF-9121-449EBFC8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137A2E7C-3E1E-4BF6-97FE-4DEDF678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09 / 02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C461F38B-EFC5-4976-9496-0C7C5FE3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38400" cy="28575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band-0">
            <a:extLst xmlns:a="http://schemas.openxmlformats.org/drawingml/2006/main">
              <a:ext uri="{FF2B5EF4-FFF2-40B4-BE49-F238E27FC236}">
                <a16:creationId xmlns:a16="http://schemas.microsoft.com/office/drawing/2014/main" id="{19D6F29C-CD16-4232-B94B-D4B63422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6" name="k-0">
            <a:extLst xmlns:a="http://schemas.openxmlformats.org/drawingml/2006/main">
              <a:ext uri="{FF2B5EF4-FFF2-40B4-BE49-F238E27FC236}">
                <a16:creationId xmlns:a16="http://schemas.microsoft.com/office/drawing/2014/main" id="{54F4F4BE-5AC5-48FB-B70B-12C5B11E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431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TESTS</a:t>
            </a:r>
          </a:p>
        </p:txBody>
      </p:sp>
      <p:sp>
        <p:nvSpPr>
          <p:cNvPr id="7" name="big-0">
            <a:extLst xmlns:a="http://schemas.openxmlformats.org/drawingml/2006/main">
              <a:ext uri="{FF2B5EF4-FFF2-40B4-BE49-F238E27FC236}">
                <a16:creationId xmlns:a16="http://schemas.microsoft.com/office/drawing/2014/main" id="{BEB626A4-EEAF-4DE6-9254-287FD5E6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9557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Sell scores</a:t>
            </a:r>
          </a:p>
        </p:txBody>
      </p:sp>
      <p:sp>
        <p:nvSpPr>
          <p:cNvPr id="8" name="rule-0">
            <a:extLst xmlns:a="http://schemas.openxmlformats.org/drawingml/2006/main">
              <a:ext uri="{FF2B5EF4-FFF2-40B4-BE49-F238E27FC236}">
                <a16:creationId xmlns:a16="http://schemas.microsoft.com/office/drawing/2014/main" id="{98EECB2A-E4CD-4370-AE02-CC48BB29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76625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9" name="small-0">
            <a:extLst xmlns:a="http://schemas.openxmlformats.org/drawingml/2006/main">
              <a:ext uri="{FF2B5EF4-FFF2-40B4-BE49-F238E27FC236}">
                <a16:creationId xmlns:a16="http://schemas.microsoft.com/office/drawing/2014/main" id="{EF175242-9A22-4756-B17E-A979D6EC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9525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Institutions compare applicants.</a:t>
            </a:r>
          </a:p>
        </p:txBody>
      </p:sp>
      <p:sp>
        <p:nvSpPr>
          <p:cNvPr id="10" name="card-1">
            <a:extLst xmlns:a="http://schemas.openxmlformats.org/drawingml/2006/main">
              <a:ext uri="{FF2B5EF4-FFF2-40B4-BE49-F238E27FC236}">
                <a16:creationId xmlns:a16="http://schemas.microsoft.com/office/drawing/2014/main" id="{65B4BAB5-E8B1-499F-BC6F-0BC698AC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09750"/>
            <a:ext cx="2438400" cy="28575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1" name="band-1">
            <a:extLst xmlns:a="http://schemas.openxmlformats.org/drawingml/2006/main">
              <a:ext uri="{FF2B5EF4-FFF2-40B4-BE49-F238E27FC236}">
                <a16:creationId xmlns:a16="http://schemas.microsoft.com/office/drawing/2014/main" id="{836CA67C-5380-490D-A22E-F137C758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809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2" name="k-1">
            <a:extLst xmlns:a="http://schemas.openxmlformats.org/drawingml/2006/main">
              <a:ext uri="{FF2B5EF4-FFF2-40B4-BE49-F238E27FC236}">
                <a16:creationId xmlns:a16="http://schemas.microsoft.com/office/drawing/2014/main" id="{0C00A571-2304-4CCA-AA42-A07436DE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431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COURSES</a:t>
            </a:r>
          </a:p>
        </p:txBody>
      </p:sp>
      <p:sp>
        <p:nvSpPr>
          <p:cNvPr id="13" name="big-1">
            <a:extLst xmlns:a="http://schemas.openxmlformats.org/drawingml/2006/main">
              <a:ext uri="{FF2B5EF4-FFF2-40B4-BE49-F238E27FC236}">
                <a16:creationId xmlns:a16="http://schemas.microsoft.com/office/drawing/2014/main" id="{D99BC4FD-D30B-4D9C-8410-521C0DAF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9557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Sell practice</a:t>
            </a:r>
          </a:p>
        </p:txBody>
      </p:sp>
      <p:sp>
        <p:nvSpPr>
          <p:cNvPr id="14" name="rule-1">
            <a:extLst xmlns:a="http://schemas.openxmlformats.org/drawingml/2006/main">
              <a:ext uri="{FF2B5EF4-FFF2-40B4-BE49-F238E27FC236}">
                <a16:creationId xmlns:a16="http://schemas.microsoft.com/office/drawing/2014/main" id="{24A70E82-D6D1-428F-AF76-EEDC9EAA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476625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5" name="small-1">
            <a:extLst xmlns:a="http://schemas.openxmlformats.org/drawingml/2006/main">
              <a:ext uri="{FF2B5EF4-FFF2-40B4-BE49-F238E27FC236}">
                <a16:creationId xmlns:a16="http://schemas.microsoft.com/office/drawing/2014/main" id="{9F6E2B0C-C99B-4DC6-96E0-DC7B161C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819525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Tutors guide preparation.</a:t>
            </a:r>
          </a:p>
        </p:txBody>
      </p:sp>
      <p:sp>
        <p:nvSpPr>
          <p:cNvPr id="16" name="card-2">
            <a:extLst xmlns:a="http://schemas.openxmlformats.org/drawingml/2006/main">
              <a:ext uri="{FF2B5EF4-FFF2-40B4-BE49-F238E27FC236}">
                <a16:creationId xmlns:a16="http://schemas.microsoft.com/office/drawing/2014/main" id="{38047A5C-4AAD-4045-97B9-47AE460D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38400" cy="28575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7" name="band-2">
            <a:extLst xmlns:a="http://schemas.openxmlformats.org/drawingml/2006/main">
              <a:ext uri="{FF2B5EF4-FFF2-40B4-BE49-F238E27FC236}">
                <a16:creationId xmlns:a16="http://schemas.microsoft.com/office/drawing/2014/main" id="{50E2D4D0-B0B5-41BD-A161-C14ED32F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8" name="k-2">
            <a:extLst xmlns:a="http://schemas.openxmlformats.org/drawingml/2006/main">
              <a:ext uri="{FF2B5EF4-FFF2-40B4-BE49-F238E27FC236}">
                <a16:creationId xmlns:a16="http://schemas.microsoft.com/office/drawing/2014/main" id="{96909D6C-6086-42F9-978D-E1249826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431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BOOKS</a:t>
            </a:r>
          </a:p>
        </p:txBody>
      </p:sp>
      <p:sp>
        <p:nvSpPr>
          <p:cNvPr id="19" name="big-2">
            <a:extLst xmlns:a="http://schemas.openxmlformats.org/drawingml/2006/main">
              <a:ext uri="{FF2B5EF4-FFF2-40B4-BE49-F238E27FC236}">
                <a16:creationId xmlns:a16="http://schemas.microsoft.com/office/drawing/2014/main" id="{EACCED1D-596D-41F2-AF15-48A0C643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Sell structure</a:t>
            </a:r>
          </a:p>
        </p:txBody>
      </p:sp>
      <p:sp>
        <p:nvSpPr>
          <p:cNvPr id="20" name="rule-2">
            <a:extLst xmlns:a="http://schemas.openxmlformats.org/drawingml/2006/main">
              <a:ext uri="{FF2B5EF4-FFF2-40B4-BE49-F238E27FC236}">
                <a16:creationId xmlns:a16="http://schemas.microsoft.com/office/drawing/2014/main" id="{326D2CF9-4116-44ED-9E04-2E361C63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476625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21" name="small-2">
            <a:extLst xmlns:a="http://schemas.openxmlformats.org/drawingml/2006/main">
              <a:ext uri="{FF2B5EF4-FFF2-40B4-BE49-F238E27FC236}">
                <a16:creationId xmlns:a16="http://schemas.microsoft.com/office/drawing/2014/main" id="{D6F551A9-BF32-4A87-89C7-232B685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19525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Curricula package lessons.</a:t>
            </a:r>
          </a:p>
        </p:txBody>
      </p:sp>
      <p:sp>
        <p:nvSpPr>
          <p:cNvPr id="22" name="card-3">
            <a:extLst xmlns:a="http://schemas.openxmlformats.org/drawingml/2006/main">
              <a:ext uri="{FF2B5EF4-FFF2-40B4-BE49-F238E27FC236}">
                <a16:creationId xmlns:a16="http://schemas.microsoft.com/office/drawing/2014/main" id="{096D382E-60AB-4652-B751-88A7559A6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09750"/>
            <a:ext cx="2438400" cy="28575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23" name="band-3">
            <a:extLst xmlns:a="http://schemas.openxmlformats.org/drawingml/2006/main">
              <a:ext uri="{FF2B5EF4-FFF2-40B4-BE49-F238E27FC236}">
                <a16:creationId xmlns:a16="http://schemas.microsoft.com/office/drawing/2014/main" id="{8BF0C0BF-548B-4D72-95B3-36898B63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09750"/>
            <a:ext cx="2438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24" name="k-3">
            <a:extLst xmlns:a="http://schemas.openxmlformats.org/drawingml/2006/main">
              <a:ext uri="{FF2B5EF4-FFF2-40B4-BE49-F238E27FC236}">
                <a16:creationId xmlns:a16="http://schemas.microsoft.com/office/drawing/2014/main" id="{07C96D5E-EA6C-4CDF-B20C-150A950F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4312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PLATFORMS</a:t>
            </a:r>
          </a:p>
        </p:txBody>
      </p:sp>
      <p:sp>
        <p:nvSpPr>
          <p:cNvPr id="25" name="big-3">
            <a:extLst xmlns:a="http://schemas.openxmlformats.org/drawingml/2006/main">
              <a:ext uri="{FF2B5EF4-FFF2-40B4-BE49-F238E27FC236}">
                <a16:creationId xmlns:a16="http://schemas.microsoft.com/office/drawing/2014/main" id="{EC036816-90ED-4A4C-A078-F19EED6A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695575"/>
            <a:ext cx="2095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Sell access</a:t>
            </a:r>
          </a:p>
        </p:txBody>
      </p:sp>
      <p:sp>
        <p:nvSpPr>
          <p:cNvPr id="26" name="rule-3">
            <a:extLst xmlns:a="http://schemas.openxmlformats.org/drawingml/2006/main">
              <a:ext uri="{FF2B5EF4-FFF2-40B4-BE49-F238E27FC236}">
                <a16:creationId xmlns:a16="http://schemas.microsoft.com/office/drawing/2014/main" id="{312FE04A-EBE9-4535-86F9-20C461A6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76625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27" name="small-3">
            <a:extLst xmlns:a="http://schemas.openxmlformats.org/drawingml/2006/main">
              <a:ext uri="{FF2B5EF4-FFF2-40B4-BE49-F238E27FC236}">
                <a16:creationId xmlns:a16="http://schemas.microsoft.com/office/drawing/2014/main" id="{8CF82B1D-3A23-42F1-B3EF-D6F5BD84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19525"/>
            <a:ext cx="2057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Subscriptions repeat payments.</a:t>
            </a:r>
          </a:p>
        </p:txBody>
      </p:sp>
      <p:sp>
        <p:nvSpPr>
          <p:cNvPr id="28" name="takeaway">
            <a:extLst xmlns:a="http://schemas.openxmlformats.org/drawingml/2006/main">
              <a:ext uri="{FF2B5EF4-FFF2-40B4-BE49-F238E27FC236}">
                <a16:creationId xmlns:a16="http://schemas.microsoft.com/office/drawing/2014/main" id="{67D6548B-A71D-4BD6-9748-46B1305F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Institutions create steady demand.</a:t>
            </a:r>
          </a:p>
        </p:txBody>
      </p:sp>
    </p:spTree>
    <p:extLst>
      <p:ext uri="{BB962C8B-B14F-4D97-AF65-F5344CB8AC3E}">
        <p14:creationId xmlns:p14="http://schemas.microsoft.com/office/powerpoint/2010/main" val="16280354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323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itle">
            <a:extLst xmlns:a="http://schemas.openxmlformats.org/drawingml/2006/main">
              <a:ext uri="{FF2B5EF4-FFF2-40B4-BE49-F238E27FC236}">
                <a16:creationId xmlns:a16="http://schemas.microsoft.com/office/drawing/2014/main" id="{665AFCAA-F0AC-4989-A50C-99F1D914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large income stream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717519F0-5624-4324-A687-B22F694F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ED405C12-37A9-40E4-9AF1-036C0C2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ENGLISH / 09 / 03</a:t>
            </a:r>
          </a:p>
        </p:txBody>
      </p:sp>
      <p:sp>
        <p:nvSpPr>
          <p:cNvPr id="4" name="number">
            <a:extLst xmlns:a="http://schemas.openxmlformats.org/drawingml/2006/main">
              <a:ext uri="{FF2B5EF4-FFF2-40B4-BE49-F238E27FC236}">
                <a16:creationId xmlns:a16="http://schemas.microsoft.com/office/drawing/2014/main" id="{2559C5C9-2C5F-402F-A366-6601E50D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45720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5" name="year">
            <a:extLst xmlns:a="http://schemas.openxmlformats.org/drawingml/2006/main">
              <a:ext uri="{FF2B5EF4-FFF2-40B4-BE49-F238E27FC236}">
                <a16:creationId xmlns:a16="http://schemas.microsoft.com/office/drawing/2014/main" id="{5E46CB06-085D-4B1D-BD70-0A9281F3D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9775"/>
            <a:ext cx="4019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BRITISH COUNCIL · 2024–25</a:t>
            </a:r>
          </a:p>
        </p:txBody>
      </p:sp>
      <p:sp>
        <p:nvSpPr>
          <p:cNvPr id="6" name="big">
            <a:extLst xmlns:a="http://schemas.openxmlformats.org/drawingml/2006/main">
              <a:ext uri="{FF2B5EF4-FFF2-40B4-BE49-F238E27FC236}">
                <a16:creationId xmlns:a16="http://schemas.microsoft.com/office/drawing/2014/main" id="{D619319E-96F8-445E-BC58-4448424E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571750"/>
            <a:ext cx="40195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47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7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£702m</a:t>
            </a:r>
          </a:p>
        </p:txBody>
      </p:sp>
      <p:sp>
        <p:nvSpPr>
          <p:cNvPr id="7" name="label">
            <a:extLst xmlns:a="http://schemas.openxmlformats.org/drawingml/2006/main">
              <a:ext uri="{FF2B5EF4-FFF2-40B4-BE49-F238E27FC236}">
                <a16:creationId xmlns:a16="http://schemas.microsoft.com/office/drawing/2014/main" id="{39D481A0-1233-4BE3-8C75-3D15FD6B4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10000"/>
            <a:ext cx="4019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Teaching and exams income</a:t>
            </a:r>
          </a:p>
        </p:txBody>
      </p:sp>
      <p:sp>
        <p:nvSpPr>
          <p:cNvPr id="8" name="change">
            <a:extLst xmlns:a="http://schemas.openxmlformats.org/drawingml/2006/main">
              <a:ext uri="{FF2B5EF4-FFF2-40B4-BE49-F238E27FC236}">
                <a16:creationId xmlns:a16="http://schemas.microsoft.com/office/drawing/2014/main" id="{8181190A-D075-4052-8EF4-67080544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0075"/>
            <a:ext cx="4019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Prior year: £704m</a:t>
            </a:r>
          </a:p>
        </p:txBody>
      </p:sp>
      <p:sp>
        <p:nvSpPr>
          <p:cNvPr id="9" name="row-0">
            <a:extLst xmlns:a="http://schemas.openxmlformats.org/drawingml/2006/main">
              <a:ext uri="{FF2B5EF4-FFF2-40B4-BE49-F238E27FC236}">
                <a16:creationId xmlns:a16="http://schemas.microsoft.com/office/drawing/2014/main" id="{68B17524-1319-4D5E-91BE-9771AFE4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28800"/>
            <a:ext cx="55816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10" name="label-0">
            <a:extLst xmlns:a="http://schemas.openxmlformats.org/drawingml/2006/main">
              <a:ext uri="{FF2B5EF4-FFF2-40B4-BE49-F238E27FC236}">
                <a16:creationId xmlns:a16="http://schemas.microsoft.com/office/drawing/2014/main" id="{DAE2CBE5-5E30-464F-B65D-59221832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288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11" name="k-0">
            <a:extLst xmlns:a="http://schemas.openxmlformats.org/drawingml/2006/main">
              <a:ext uri="{FF2B5EF4-FFF2-40B4-BE49-F238E27FC236}">
                <a16:creationId xmlns:a16="http://schemas.microsoft.com/office/drawing/2014/main" id="{4E447E14-06AD-4B11-8861-5B3475D6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28800"/>
            <a:ext cx="180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PUBLIC BODY</a:t>
            </a:r>
          </a:p>
        </p:txBody>
      </p:sp>
      <p:sp>
        <p:nvSpPr>
          <p:cNvPr id="12" name="v-0">
            <a:extLst xmlns:a="http://schemas.openxmlformats.org/drawingml/2006/main">
              <a:ext uri="{FF2B5EF4-FFF2-40B4-BE49-F238E27FC236}">
                <a16:creationId xmlns:a16="http://schemas.microsoft.com/office/drawing/2014/main" id="{4EFEE0AC-7D57-4AD1-81F5-94615B4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28800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Also receives government funds.</a:t>
            </a:r>
          </a:p>
        </p:txBody>
      </p:sp>
      <p:sp>
        <p:nvSpPr>
          <p:cNvPr id="13" name="row-1">
            <a:extLst xmlns:a="http://schemas.openxmlformats.org/drawingml/2006/main">
              <a:ext uri="{FF2B5EF4-FFF2-40B4-BE49-F238E27FC236}">
                <a16:creationId xmlns:a16="http://schemas.microsoft.com/office/drawing/2014/main" id="{FAC46BAD-D71A-4402-84F6-7A964E74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55816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14" name="label-1">
            <a:extLst xmlns:a="http://schemas.openxmlformats.org/drawingml/2006/main">
              <a:ext uri="{FF2B5EF4-FFF2-40B4-BE49-F238E27FC236}">
                <a16:creationId xmlns:a16="http://schemas.microsoft.com/office/drawing/2014/main" id="{D718C672-A903-4856-B5AE-744E555D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5" name="k-1">
            <a:extLst xmlns:a="http://schemas.openxmlformats.org/drawingml/2006/main">
              <a:ext uri="{FF2B5EF4-FFF2-40B4-BE49-F238E27FC236}">
                <a16:creationId xmlns:a16="http://schemas.microsoft.com/office/drawing/2014/main" id="{47B8CD82-92CC-4890-A2CA-E9A905CE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180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PAID SERVICES</a:t>
            </a:r>
          </a:p>
        </p:txBody>
      </p:sp>
      <p:sp>
        <p:nvSpPr>
          <p:cNvPr id="16" name="v-1">
            <a:extLst xmlns:a="http://schemas.openxmlformats.org/drawingml/2006/main">
              <a:ext uri="{FF2B5EF4-FFF2-40B4-BE49-F238E27FC236}">
                <a16:creationId xmlns:a16="http://schemas.microsoft.com/office/drawing/2014/main" id="{6DA60B8C-DB92-4333-824D-D544E0D9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Teaching funds operations.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0F1990EE-128E-406D-9CD9-8E000692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55816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C3141"/>
          </a:solidFill>
          <a:ln xmlns:a="http://schemas.openxmlformats.org/drawingml/2006/main" w="19050">
            <a:solidFill>
              <a:srgbClr val="516472"/>
            </a:solidFill>
          </a:ln>
        </p:spPr>
      </p:sp>
      <p:sp>
        <p:nvSpPr>
          <p:cNvPr id="18" name="label-2">
            <a:extLst xmlns:a="http://schemas.openxmlformats.org/drawingml/2006/main">
              <a:ext uri="{FF2B5EF4-FFF2-40B4-BE49-F238E27FC236}">
                <a16:creationId xmlns:a16="http://schemas.microsoft.com/office/drawing/2014/main" id="{E1AD6A03-0A5F-4C1E-B710-D1C12871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9" name="k-2">
            <a:extLst xmlns:a="http://schemas.openxmlformats.org/drawingml/2006/main">
              <a:ext uri="{FF2B5EF4-FFF2-40B4-BE49-F238E27FC236}">
                <a16:creationId xmlns:a16="http://schemas.microsoft.com/office/drawing/2014/main" id="{9DF2980F-08D3-47C3-8C23-435B6BD7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809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POLICY EFFECTS</a:t>
            </a:r>
          </a:p>
        </p:txBody>
      </p:sp>
      <p:sp>
        <p:nvSpPr>
          <p:cNvPr id="20" name="v-2">
            <a:extLst xmlns:a="http://schemas.openxmlformats.org/drawingml/2006/main">
              <a:ext uri="{FF2B5EF4-FFF2-40B4-BE49-F238E27FC236}">
                <a16:creationId xmlns:a16="http://schemas.microsoft.com/office/drawing/2014/main" id="{89A3AF9F-C53E-4763-9705-355FDEF7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86200"/>
            <a:ext cx="323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Mobility rules changed demand.</a:t>
            </a:r>
          </a:p>
        </p:txBody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B22401E3-7D47-48E5-A3D2-6629CE43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95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Language serves mixed missions.</a:t>
            </a:r>
          </a:p>
        </p:txBody>
      </p:sp>
    </p:spTree>
    <p:extLst>
      <p:ext uri="{BB962C8B-B14F-4D97-AF65-F5344CB8AC3E}">
        <p14:creationId xmlns:p14="http://schemas.microsoft.com/office/powerpoint/2010/main" val="20968660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itle">
            <a:extLst xmlns:a="http://schemas.openxmlformats.org/drawingml/2006/main">
              <a:ext uri="{FF2B5EF4-FFF2-40B4-BE49-F238E27FC236}">
                <a16:creationId xmlns:a16="http://schemas.microsoft.com/office/drawing/2014/main" id="{4B52C7B3-3813-4BAE-8292-9165E7E3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Visas sharpen demand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736F4835-6786-4AE7-B908-0E391237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9993678E-6DF2-4D88-9708-C0151754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09 / 04</a:t>
            </a:r>
          </a:p>
        </p:txBody>
      </p:sp>
      <p:sp>
        <p:nvSpPr>
          <p:cNvPr id="4" name="card-0">
            <a:extLst xmlns:a="http://schemas.openxmlformats.org/drawingml/2006/main">
              <a:ext uri="{FF2B5EF4-FFF2-40B4-BE49-F238E27FC236}">
                <a16:creationId xmlns:a16="http://schemas.microsoft.com/office/drawing/2014/main" id="{B6F1CA2C-4D16-4368-805A-D886B392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2438400" cy="3028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circle-0">
            <a:extLst xmlns:a="http://schemas.openxmlformats.org/drawingml/2006/main">
              <a:ext uri="{FF2B5EF4-FFF2-40B4-BE49-F238E27FC236}">
                <a16:creationId xmlns:a16="http://schemas.microsoft.com/office/drawing/2014/main" id="{7E51FC3F-005F-45D1-A001-1D2FF801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6" name="n-0">
            <a:extLst xmlns:a="http://schemas.openxmlformats.org/drawingml/2006/main">
              <a:ext uri="{FF2B5EF4-FFF2-40B4-BE49-F238E27FC236}">
                <a16:creationId xmlns:a16="http://schemas.microsoft.com/office/drawing/2014/main" id="{553B8B07-C7B5-42B6-B782-31363D79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01</a:t>
            </a:r>
          </a:p>
        </p:txBody>
      </p:sp>
      <p:sp>
        <p:nvSpPr>
          <p:cNvPr id="7" name="k-0">
            <a:extLst xmlns:a="http://schemas.openxmlformats.org/drawingml/2006/main">
              <a:ext uri="{FF2B5EF4-FFF2-40B4-BE49-F238E27FC236}">
                <a16:creationId xmlns:a16="http://schemas.microsoft.com/office/drawing/2014/main" id="{B4F14E3B-CDEE-4424-9055-76A1613A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ROUTE RULE</a:t>
            </a:r>
          </a:p>
        </p:txBody>
      </p:sp>
      <p:sp>
        <p:nvSpPr>
          <p:cNvPr id="8" name="v-0">
            <a:extLst xmlns:a="http://schemas.openxmlformats.org/drawingml/2006/main">
              <a:ext uri="{FF2B5EF4-FFF2-40B4-BE49-F238E27FC236}">
                <a16:creationId xmlns:a16="http://schemas.microsoft.com/office/drawing/2014/main" id="{321019E8-1BAB-45E1-9D8F-DA2B4855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33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Some routes require proof.</a:t>
            </a:r>
          </a:p>
        </p:txBody>
      </p:sp>
      <p:sp>
        <p:nvSpPr>
          <p:cNvPr id="9" name="card-1">
            <a:extLst xmlns:a="http://schemas.openxmlformats.org/drawingml/2006/main">
              <a:ext uri="{FF2B5EF4-FFF2-40B4-BE49-F238E27FC236}">
                <a16:creationId xmlns:a16="http://schemas.microsoft.com/office/drawing/2014/main" id="{FACFA2EC-6C29-44AA-9809-A9FD0CC2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790700"/>
            <a:ext cx="2438400" cy="3028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0" name="circle-1">
            <a:extLst xmlns:a="http://schemas.openxmlformats.org/drawingml/2006/main">
              <a:ext uri="{FF2B5EF4-FFF2-40B4-BE49-F238E27FC236}">
                <a16:creationId xmlns:a16="http://schemas.microsoft.com/office/drawing/2014/main" id="{6EE94A6A-C164-47B0-AEB7-24994C7A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0955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1" name="n-1">
            <a:extLst xmlns:a="http://schemas.openxmlformats.org/drawingml/2006/main">
              <a:ext uri="{FF2B5EF4-FFF2-40B4-BE49-F238E27FC236}">
                <a16:creationId xmlns:a16="http://schemas.microsoft.com/office/drawing/2014/main" id="{0B839F4C-8569-4056-9BBC-1C504757E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20955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12" name="k-1">
            <a:extLst xmlns:a="http://schemas.openxmlformats.org/drawingml/2006/main">
              <a:ext uri="{FF2B5EF4-FFF2-40B4-BE49-F238E27FC236}">
                <a16:creationId xmlns:a16="http://schemas.microsoft.com/office/drawing/2014/main" id="{5F561E38-DFE3-4E51-91C7-8AE4E0BD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71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APPROVED TEST</a:t>
            </a:r>
          </a:p>
        </p:txBody>
      </p:sp>
      <p:sp>
        <p:nvSpPr>
          <p:cNvPr id="13" name="v-1">
            <a:extLst xmlns:a="http://schemas.openxmlformats.org/drawingml/2006/main">
              <a:ext uri="{FF2B5EF4-FFF2-40B4-BE49-F238E27FC236}">
                <a16:creationId xmlns:a16="http://schemas.microsoft.com/office/drawing/2014/main" id="{58420B78-A964-4C73-B103-E6D183BB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433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Only listed tests qualify.</a:t>
            </a:r>
          </a:p>
        </p:txBody>
      </p:sp>
      <p:sp>
        <p:nvSpPr>
          <p:cNvPr id="14" name="card-2">
            <a:extLst xmlns:a="http://schemas.openxmlformats.org/drawingml/2006/main">
              <a:ext uri="{FF2B5EF4-FFF2-40B4-BE49-F238E27FC236}">
                <a16:creationId xmlns:a16="http://schemas.microsoft.com/office/drawing/2014/main" id="{734CFB95-6A21-46E9-9F70-270B66E3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2438400" cy="3028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5" name="circle-2">
            <a:extLst xmlns:a="http://schemas.openxmlformats.org/drawingml/2006/main">
              <a:ext uri="{FF2B5EF4-FFF2-40B4-BE49-F238E27FC236}">
                <a16:creationId xmlns:a16="http://schemas.microsoft.com/office/drawing/2014/main" id="{1778E0AF-94B3-4E0F-A3CC-AC7CB866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0955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6" name="n-2">
            <a:extLst xmlns:a="http://schemas.openxmlformats.org/drawingml/2006/main">
              <a:ext uri="{FF2B5EF4-FFF2-40B4-BE49-F238E27FC236}">
                <a16:creationId xmlns:a16="http://schemas.microsoft.com/office/drawing/2014/main" id="{6669E094-B515-45B1-A5B8-F2E41333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0955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17" name="k-2">
            <a:extLst xmlns:a="http://schemas.openxmlformats.org/drawingml/2006/main">
              <a:ext uri="{FF2B5EF4-FFF2-40B4-BE49-F238E27FC236}">
                <a16:creationId xmlns:a16="http://schemas.microsoft.com/office/drawing/2014/main" id="{F2A1497E-9033-4218-90DA-1262BA2F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RECENT RESULT</a:t>
            </a:r>
          </a:p>
        </p:txBody>
      </p:sp>
      <p:sp>
        <p:nvSpPr>
          <p:cNvPr id="18" name="v-2">
            <a:extLst xmlns:a="http://schemas.openxmlformats.org/drawingml/2006/main">
              <a:ext uri="{FF2B5EF4-FFF2-40B4-BE49-F238E27FC236}">
                <a16:creationId xmlns:a16="http://schemas.microsoft.com/office/drawing/2014/main" id="{3CBF7E01-874D-485F-ADFF-3F620D96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433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Results usually last two years.</a:t>
            </a:r>
          </a:p>
        </p:txBody>
      </p:sp>
      <p:sp>
        <p:nvSpPr>
          <p:cNvPr id="19" name="card-3">
            <a:extLst xmlns:a="http://schemas.openxmlformats.org/drawingml/2006/main">
              <a:ext uri="{FF2B5EF4-FFF2-40B4-BE49-F238E27FC236}">
                <a16:creationId xmlns:a16="http://schemas.microsoft.com/office/drawing/2014/main" id="{BC76CFD2-E06D-4844-BB9A-35F7EE1D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90700"/>
            <a:ext cx="2438400" cy="302895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20" name="circle-3">
            <a:extLst xmlns:a="http://schemas.openxmlformats.org/drawingml/2006/main">
              <a:ext uri="{FF2B5EF4-FFF2-40B4-BE49-F238E27FC236}">
                <a16:creationId xmlns:a16="http://schemas.microsoft.com/office/drawing/2014/main" id="{4750BBC7-3A77-40C5-B0FE-E7304BF0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95500"/>
            <a:ext cx="857250" cy="857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21" name="n-3">
            <a:extLst xmlns:a="http://schemas.openxmlformats.org/drawingml/2006/main">
              <a:ext uri="{FF2B5EF4-FFF2-40B4-BE49-F238E27FC236}">
                <a16:creationId xmlns:a16="http://schemas.microsoft.com/office/drawing/2014/main" id="{68D19478-730A-4483-8273-959F2ECA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0955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22" name="k-3">
            <a:extLst xmlns:a="http://schemas.openxmlformats.org/drawingml/2006/main">
              <a:ext uri="{FF2B5EF4-FFF2-40B4-BE49-F238E27FC236}">
                <a16:creationId xmlns:a16="http://schemas.microsoft.com/office/drawing/2014/main" id="{AE5F7A36-168E-485D-B5BF-7FF3C271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71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TRAVEL COST</a:t>
            </a:r>
          </a:p>
        </p:txBody>
      </p:sp>
      <p:sp>
        <p:nvSpPr>
          <p:cNvPr id="23" name="v-3">
            <a:extLst xmlns:a="http://schemas.openxmlformats.org/drawingml/2006/main">
              <a:ext uri="{FF2B5EF4-FFF2-40B4-BE49-F238E27FC236}">
                <a16:creationId xmlns:a16="http://schemas.microsoft.com/office/drawing/2014/main" id="{C668474A-F556-4D64-BE41-B0FF77B2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743325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Some candidates travel abroad.</a:t>
            </a:r>
          </a:p>
        </p:txBody>
      </p:sp>
      <p:sp>
        <p:nvSpPr>
          <p:cNvPr id="24" name="limit">
            <a:extLst xmlns:a="http://schemas.openxmlformats.org/drawingml/2006/main">
              <a:ext uri="{FF2B5EF4-FFF2-40B4-BE49-F238E27FC236}">
                <a16:creationId xmlns:a16="http://schemas.microsoft.com/office/drawing/2014/main" id="{350C91BE-BDBA-4A51-9A2C-1147F140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387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Exemptions still matter.</a:t>
            </a:r>
          </a:p>
        </p:txBody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8AE9BBFC-E9E7-4DB4-99E9-50A5A889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197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Government rules shape markets.</a:t>
            </a:r>
          </a:p>
        </p:txBody>
      </p:sp>
    </p:spTree>
    <p:extLst>
      <p:ext uri="{BB962C8B-B14F-4D97-AF65-F5344CB8AC3E}">
        <p14:creationId xmlns:p14="http://schemas.microsoft.com/office/powerpoint/2010/main" val="3407613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">
            <a:extLst xmlns:a="http://schemas.openxmlformats.org/drawingml/2006/main">
              <a:ext uri="{FF2B5EF4-FFF2-40B4-BE49-F238E27FC236}">
                <a16:creationId xmlns:a16="http://schemas.microsoft.com/office/drawing/2014/main" id="{0AA22BE7-F72A-4EF6-8743-E074AFA1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Jobs reward English unevenly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BD5F05ED-8E93-4C78-A6F9-913E56FEF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7DB946E9-77AB-4616-AF86-E3DF8509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09 / 05</a:t>
            </a:r>
          </a:p>
        </p:txBody>
      </p:sp>
      <p:sp>
        <p:nvSpPr>
          <p:cNvPr id="4" name="india">
            <a:extLst xmlns:a="http://schemas.openxmlformats.org/drawingml/2006/main">
              <a:ext uri="{FF2B5EF4-FFF2-40B4-BE49-F238E27FC236}">
                <a16:creationId xmlns:a16="http://schemas.microsoft.com/office/drawing/2014/main" id="{99E48807-6DF3-48BA-B59A-95DBF4B8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04825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india-k">
            <a:extLst xmlns:a="http://schemas.openxmlformats.org/drawingml/2006/main">
              <a:ext uri="{FF2B5EF4-FFF2-40B4-BE49-F238E27FC236}">
                <a16:creationId xmlns:a16="http://schemas.microsoft.com/office/drawing/2014/main" id="{5DE8C0B2-8181-4CB3-BA82-88722F8B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4476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INDIA · WAGE STUDY</a:t>
            </a:r>
          </a:p>
        </p:txBody>
      </p:sp>
      <p:sp>
        <p:nvSpPr>
          <p:cNvPr id="6" name="india-big">
            <a:extLst xmlns:a="http://schemas.openxmlformats.org/drawingml/2006/main">
              <a:ext uri="{FF2B5EF4-FFF2-40B4-BE49-F238E27FC236}">
                <a16:creationId xmlns:a16="http://schemas.microsoft.com/office/drawing/2014/main" id="{ECEEC029-F634-4146-8F3A-60FE6F94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19375"/>
            <a:ext cx="447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English skills showed premiums.</a:t>
            </a:r>
          </a:p>
        </p:txBody>
      </p:sp>
      <p:sp>
        <p:nvSpPr>
          <p:cNvPr id="7" name="india-rule">
            <a:extLst xmlns:a="http://schemas.openxmlformats.org/drawingml/2006/main">
              <a:ext uri="{FF2B5EF4-FFF2-40B4-BE49-F238E27FC236}">
                <a16:creationId xmlns:a16="http://schemas.microsoft.com/office/drawing/2014/main" id="{969449C7-2CE0-41F9-94CF-6FC73E9B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533775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8" name="india-small">
            <a:extLst xmlns:a="http://schemas.openxmlformats.org/drawingml/2006/main">
              <a:ext uri="{FF2B5EF4-FFF2-40B4-BE49-F238E27FC236}">
                <a16:creationId xmlns:a16="http://schemas.microsoft.com/office/drawing/2014/main" id="{3DC52E6A-D4A6-4F37-834D-75DC5080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671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Returns varied by fluency.</a:t>
            </a:r>
          </a:p>
        </p:txBody>
      </p:sp>
      <p:sp>
        <p:nvSpPr>
          <p:cNvPr id="9" name="india-limit">
            <a:extLst xmlns:a="http://schemas.openxmlformats.org/drawingml/2006/main">
              <a:ext uri="{FF2B5EF4-FFF2-40B4-BE49-F238E27FC236}">
                <a16:creationId xmlns:a16="http://schemas.microsoft.com/office/drawing/2014/main" id="{F5AA4CFE-83FC-479D-9544-C7154344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767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Association needs caution.</a:t>
            </a:r>
          </a:p>
        </p:txBody>
      </p:sp>
      <p:sp>
        <p:nvSpPr>
          <p:cNvPr id="10" name="immigrants">
            <a:extLst xmlns:a="http://schemas.openxmlformats.org/drawingml/2006/main">
              <a:ext uri="{FF2B5EF4-FFF2-40B4-BE49-F238E27FC236}">
                <a16:creationId xmlns:a16="http://schemas.microsoft.com/office/drawing/2014/main" id="{DC18D5CF-A72E-497C-A646-3D391D67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5410200" cy="338137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EEE5D7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1" name="imm-k">
            <a:extLst xmlns:a="http://schemas.openxmlformats.org/drawingml/2006/main">
              <a:ext uri="{FF2B5EF4-FFF2-40B4-BE49-F238E27FC236}">
                <a16:creationId xmlns:a16="http://schemas.microsoft.com/office/drawing/2014/main" id="{AD75F40D-A373-4A44-9A25-2BECA71C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383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UNITED STATES · IMMIGRANTS</a:t>
            </a:r>
          </a:p>
        </p:txBody>
      </p:sp>
      <p:sp>
        <p:nvSpPr>
          <p:cNvPr id="12" name="imm-big">
            <a:extLst xmlns:a="http://schemas.openxmlformats.org/drawingml/2006/main">
              <a:ext uri="{FF2B5EF4-FFF2-40B4-BE49-F238E27FC236}">
                <a16:creationId xmlns:a16="http://schemas.microsoft.com/office/drawing/2014/main" id="{180C5A6C-6302-47D5-93E1-FE9070D8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19375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Language gains raised earnings.</a:t>
            </a:r>
          </a:p>
        </p:txBody>
      </p:sp>
      <p:sp>
        <p:nvSpPr>
          <p:cNvPr id="13" name="imm-rule">
            <a:extLst xmlns:a="http://schemas.openxmlformats.org/drawingml/2006/main">
              <a:ext uri="{FF2B5EF4-FFF2-40B4-BE49-F238E27FC236}">
                <a16:creationId xmlns:a16="http://schemas.microsoft.com/office/drawing/2014/main" id="{80919B7C-720D-499F-A135-D7F83CFB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33775"/>
            <a:ext cx="171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4" name="imm-small">
            <a:extLst xmlns:a="http://schemas.openxmlformats.org/drawingml/2006/main">
              <a:ext uri="{FF2B5EF4-FFF2-40B4-BE49-F238E27FC236}">
                <a16:creationId xmlns:a16="http://schemas.microsoft.com/office/drawing/2014/main" id="{B5644919-A0E0-4AF2-B53A-E9FDFB95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Childhood arrival aided comparison.</a:t>
            </a:r>
          </a:p>
        </p:txBody>
      </p:sp>
      <p:sp>
        <p:nvSpPr>
          <p:cNvPr id="15" name="imm-limit">
            <a:extLst xmlns:a="http://schemas.openxmlformats.org/drawingml/2006/main">
              <a:ext uri="{FF2B5EF4-FFF2-40B4-BE49-F238E27FC236}">
                <a16:creationId xmlns:a16="http://schemas.microsoft.com/office/drawing/2014/main" id="{C95E4522-DB53-4D67-A8EA-684B60E2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767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Context limits transfer.</a:t>
            </a:r>
          </a:p>
        </p:txBody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AB5A0CFD-1773-4F33-B16F-61E9F88A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959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Expected returns drive spending.</a:t>
            </a:r>
          </a:p>
        </p:txBody>
      </p:sp>
    </p:spTree>
    <p:extLst>
      <p:ext uri="{BB962C8B-B14F-4D97-AF65-F5344CB8AC3E}">
        <p14:creationId xmlns:p14="http://schemas.microsoft.com/office/powerpoint/2010/main" val="1395022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323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itle">
            <a:extLst xmlns:a="http://schemas.openxmlformats.org/drawingml/2006/main">
              <a:ext uri="{FF2B5EF4-FFF2-40B4-BE49-F238E27FC236}">
                <a16:creationId xmlns:a16="http://schemas.microsoft.com/office/drawing/2014/main" id="{D5A13BB7-CED8-4B08-9756-37366C36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Textbooks extend the market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461B1710-1069-4F0D-BDC7-A8A2B1200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7F0FF335-0DCB-4ADA-85BD-54CF362B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ENGLISH / 09 / 06</a:t>
            </a:r>
          </a:p>
        </p:txBody>
      </p:sp>
      <p:sp>
        <p:nvSpPr>
          <p:cNvPr id="4" name="line">
            <a:extLst xmlns:a="http://schemas.openxmlformats.org/drawingml/2006/main">
              <a:ext uri="{FF2B5EF4-FFF2-40B4-BE49-F238E27FC236}">
                <a16:creationId xmlns:a16="http://schemas.microsoft.com/office/drawing/2014/main" id="{A5BCC949-8D5A-4B66-8ED2-5AF25B58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990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16472"/>
          </a:solidFill>
          <a:ln xmlns:a="http://schemas.openxmlformats.org/drawingml/2006/main" w="0">
            <a:noFill/>
          </a:ln>
        </p:spPr>
      </p:sp>
      <p:sp>
        <p:nvSpPr>
          <p:cNvPr id="5" name="dot-0">
            <a:extLst xmlns:a="http://schemas.openxmlformats.org/drawingml/2006/main">
              <a:ext uri="{FF2B5EF4-FFF2-40B4-BE49-F238E27FC236}">
                <a16:creationId xmlns:a16="http://schemas.microsoft.com/office/drawing/2014/main" id="{0192BB74-39F4-4165-9AB9-37656D88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52412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47625">
            <a:solidFill>
              <a:srgbClr val="132331"/>
            </a:solidFill>
          </a:ln>
        </p:spPr>
      </p:sp>
      <p:sp>
        <p:nvSpPr>
          <p:cNvPr id="6" name="num-0">
            <a:extLst xmlns:a="http://schemas.openxmlformats.org/drawingml/2006/main">
              <a:ext uri="{FF2B5EF4-FFF2-40B4-BE49-F238E27FC236}">
                <a16:creationId xmlns:a16="http://schemas.microsoft.com/office/drawing/2014/main" id="{7C462588-B72A-48AB-9532-203C934D3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524125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7" name="k-0">
            <a:extLst xmlns:a="http://schemas.openxmlformats.org/drawingml/2006/main">
              <a:ext uri="{FF2B5EF4-FFF2-40B4-BE49-F238E27FC236}">
                <a16:creationId xmlns:a16="http://schemas.microsoft.com/office/drawing/2014/main" id="{82C43C67-BFD6-48C8-891A-F1F1995BD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CURRICULUM</a:t>
            </a:r>
          </a:p>
        </p:txBody>
      </p:sp>
      <p:sp>
        <p:nvSpPr>
          <p:cNvPr id="8" name="v-0">
            <a:extLst xmlns:a="http://schemas.openxmlformats.org/drawingml/2006/main">
              <a:ext uri="{FF2B5EF4-FFF2-40B4-BE49-F238E27FC236}">
                <a16:creationId xmlns:a16="http://schemas.microsoft.com/office/drawing/2014/main" id="{F13B7FB3-2C3A-4291-A545-ED8E3D96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Sets sequence.</a:t>
            </a:r>
          </a:p>
        </p:txBody>
      </p:sp>
      <p:sp>
        <p:nvSpPr>
          <p:cNvPr id="9" name="dot-1">
            <a:extLst xmlns:a="http://schemas.openxmlformats.org/drawingml/2006/main">
              <a:ext uri="{FF2B5EF4-FFF2-40B4-BE49-F238E27FC236}">
                <a16:creationId xmlns:a16="http://schemas.microsoft.com/office/drawing/2014/main" id="{37EFF432-E9B2-468E-8793-4CC1507A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2412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47625">
            <a:solidFill>
              <a:srgbClr val="132331"/>
            </a:solidFill>
          </a:ln>
        </p:spPr>
      </p:sp>
      <p:sp>
        <p:nvSpPr>
          <p:cNvPr id="10" name="num-1">
            <a:extLst xmlns:a="http://schemas.openxmlformats.org/drawingml/2006/main">
              <a:ext uri="{FF2B5EF4-FFF2-40B4-BE49-F238E27FC236}">
                <a16:creationId xmlns:a16="http://schemas.microsoft.com/office/drawing/2014/main" id="{A26722DB-078D-4C5F-B1EB-452F6ECA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24125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1" name="k-1">
            <a:extLst xmlns:a="http://schemas.openxmlformats.org/drawingml/2006/main">
              <a:ext uri="{FF2B5EF4-FFF2-40B4-BE49-F238E27FC236}">
                <a16:creationId xmlns:a16="http://schemas.microsoft.com/office/drawing/2014/main" id="{C1C4E9B3-4BD3-4DBE-BCA8-F570C3DB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5623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TEXTBOOK</a:t>
            </a:r>
          </a:p>
        </p:txBody>
      </p:sp>
      <p:sp>
        <p:nvSpPr>
          <p:cNvPr id="12" name="v-1">
            <a:extLst xmlns:a="http://schemas.openxmlformats.org/drawingml/2006/main">
              <a:ext uri="{FF2B5EF4-FFF2-40B4-BE49-F238E27FC236}">
                <a16:creationId xmlns:a16="http://schemas.microsoft.com/office/drawing/2014/main" id="{92242E57-D18B-4870-92DD-35405404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0671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Packages lessons.</a:t>
            </a:r>
          </a:p>
        </p:txBody>
      </p:sp>
      <p:sp>
        <p:nvSpPr>
          <p:cNvPr id="13" name="dot-2">
            <a:extLst xmlns:a="http://schemas.openxmlformats.org/drawingml/2006/main">
              <a:ext uri="{FF2B5EF4-FFF2-40B4-BE49-F238E27FC236}">
                <a16:creationId xmlns:a16="http://schemas.microsoft.com/office/drawing/2014/main" id="{4072C9ED-8EE0-4D49-9839-53F13B9E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52412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47625">
            <a:solidFill>
              <a:srgbClr val="132331"/>
            </a:solidFill>
          </a:ln>
        </p:spPr>
      </p:sp>
      <p:sp>
        <p:nvSpPr>
          <p:cNvPr id="14" name="num-2">
            <a:extLst xmlns:a="http://schemas.openxmlformats.org/drawingml/2006/main">
              <a:ext uri="{FF2B5EF4-FFF2-40B4-BE49-F238E27FC236}">
                <a16:creationId xmlns:a16="http://schemas.microsoft.com/office/drawing/2014/main" id="{47491DA7-AF59-43EB-93C1-F8A01ADE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524125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k-2">
            <a:extLst xmlns:a="http://schemas.openxmlformats.org/drawingml/2006/main">
              <a:ext uri="{FF2B5EF4-FFF2-40B4-BE49-F238E27FC236}">
                <a16:creationId xmlns:a16="http://schemas.microsoft.com/office/drawing/2014/main" id="{6B1BDA6A-6480-4847-82DA-0AEF5C8C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623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WORKBOOK</a:t>
            </a:r>
          </a:p>
        </p:txBody>
      </p:sp>
      <p:sp>
        <p:nvSpPr>
          <p:cNvPr id="16" name="v-2">
            <a:extLst xmlns:a="http://schemas.openxmlformats.org/drawingml/2006/main">
              <a:ext uri="{FF2B5EF4-FFF2-40B4-BE49-F238E27FC236}">
                <a16:creationId xmlns:a16="http://schemas.microsoft.com/office/drawing/2014/main" id="{070C01E5-AD92-48C7-A167-766E6D32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0671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Adds practice.</a:t>
            </a:r>
          </a:p>
        </p:txBody>
      </p:sp>
      <p:sp>
        <p:nvSpPr>
          <p:cNvPr id="17" name="dot-3">
            <a:extLst xmlns:a="http://schemas.openxmlformats.org/drawingml/2006/main">
              <a:ext uri="{FF2B5EF4-FFF2-40B4-BE49-F238E27FC236}">
                <a16:creationId xmlns:a16="http://schemas.microsoft.com/office/drawing/2014/main" id="{6F509208-D130-4FE0-BD60-70552A55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2412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A04B"/>
          </a:solidFill>
          <a:ln xmlns:a="http://schemas.openxmlformats.org/drawingml/2006/main" w="47625">
            <a:solidFill>
              <a:srgbClr val="132331"/>
            </a:solidFill>
          </a:ln>
        </p:spPr>
      </p:sp>
      <p:sp>
        <p:nvSpPr>
          <p:cNvPr id="18" name="num-3">
            <a:extLst xmlns:a="http://schemas.openxmlformats.org/drawingml/2006/main">
              <a:ext uri="{FF2B5EF4-FFF2-40B4-BE49-F238E27FC236}">
                <a16:creationId xmlns:a16="http://schemas.microsoft.com/office/drawing/2014/main" id="{0B142846-5A3B-4A91-B308-2EAF483F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24125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9" name="k-3">
            <a:extLst xmlns:a="http://schemas.openxmlformats.org/drawingml/2006/main">
              <a:ext uri="{FF2B5EF4-FFF2-40B4-BE49-F238E27FC236}">
                <a16:creationId xmlns:a16="http://schemas.microsoft.com/office/drawing/2014/main" id="{D2DED7A2-C958-4FFE-AAD3-4E033BA9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623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PLATFORM</a:t>
            </a:r>
          </a:p>
        </p:txBody>
      </p:sp>
      <p:sp>
        <p:nvSpPr>
          <p:cNvPr id="20" name="v-3">
            <a:extLst xmlns:a="http://schemas.openxmlformats.org/drawingml/2006/main">
              <a:ext uri="{FF2B5EF4-FFF2-40B4-BE49-F238E27FC236}">
                <a16:creationId xmlns:a16="http://schemas.microsoft.com/office/drawing/2014/main" id="{062D15A4-4B80-400D-A097-04A4ED43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0671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Tracks usage.</a:t>
            </a:r>
          </a:p>
        </p:txBody>
      </p:sp>
      <p:sp>
        <p:nvSpPr>
          <p:cNvPr id="21" name="dot-4">
            <a:extLst xmlns:a="http://schemas.openxmlformats.org/drawingml/2006/main">
              <a:ext uri="{FF2B5EF4-FFF2-40B4-BE49-F238E27FC236}">
                <a16:creationId xmlns:a16="http://schemas.microsoft.com/office/drawing/2014/main" id="{7934B596-CB7B-463F-8A6D-E1C9DCB1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524125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47625">
            <a:solidFill>
              <a:srgbClr val="132331"/>
            </a:solidFill>
          </a:ln>
        </p:spPr>
      </p:sp>
      <p:sp>
        <p:nvSpPr>
          <p:cNvPr id="22" name="num-4">
            <a:extLst xmlns:a="http://schemas.openxmlformats.org/drawingml/2006/main">
              <a:ext uri="{FF2B5EF4-FFF2-40B4-BE49-F238E27FC236}">
                <a16:creationId xmlns:a16="http://schemas.microsoft.com/office/drawing/2014/main" id="{09E72091-DCE1-4A22-B1E1-ABF9045D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524125"/>
            <a:ext cx="781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23" name="k-4">
            <a:extLst xmlns:a="http://schemas.openxmlformats.org/drawingml/2006/main">
              <a:ext uri="{FF2B5EF4-FFF2-40B4-BE49-F238E27FC236}">
                <a16:creationId xmlns:a16="http://schemas.microsoft.com/office/drawing/2014/main" id="{E61DEB5D-746B-4018-A36F-0FCFC103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562350"/>
            <a:ext cx="1676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EDITION</a:t>
            </a:r>
          </a:p>
        </p:txBody>
      </p:sp>
      <p:sp>
        <p:nvSpPr>
          <p:cNvPr id="24" name="v-4">
            <a:extLst xmlns:a="http://schemas.openxmlformats.org/drawingml/2006/main">
              <a:ext uri="{FF2B5EF4-FFF2-40B4-BE49-F238E27FC236}">
                <a16:creationId xmlns:a16="http://schemas.microsoft.com/office/drawing/2014/main" id="{660BB691-46A8-42C0-B03C-A69F9E2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67175"/>
            <a:ext cx="1676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>
                <a:solidFill>
                  <a:srgbClr val="CFDAF3"/>
                </a:solidFill>
                <a:latin typeface="Nimbus Sans"/>
                <a:ea typeface="Nimbus Sans"/>
                <a:cs typeface="Nimbus Sans"/>
              </a:rPr>
              <a:t>Restarts sales.</a:t>
            </a:r>
          </a:p>
        </p:txBody>
      </p:sp>
      <p:sp>
        <p:nvSpPr>
          <p:cNvPr id="25" name="benefit">
            <a:extLst xmlns:a="http://schemas.openxmlformats.org/drawingml/2006/main">
              <a:ext uri="{FF2B5EF4-FFF2-40B4-BE49-F238E27FC236}">
                <a16:creationId xmlns:a16="http://schemas.microsoft.com/office/drawing/2014/main" id="{CAC7EE89-1DA5-43ED-A251-67514621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10150"/>
            <a:ext cx="5000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Teachers gain structure.</a:t>
            </a:r>
          </a:p>
        </p:txBody>
      </p:sp>
      <p:sp>
        <p:nvSpPr>
          <p:cNvPr id="26" name="cost">
            <a:extLst xmlns:a="http://schemas.openxmlformats.org/drawingml/2006/main">
              <a:ext uri="{FF2B5EF4-FFF2-40B4-BE49-F238E27FC236}">
                <a16:creationId xmlns:a16="http://schemas.microsoft.com/office/drawing/2014/main" id="{87A11851-80A8-4A3C-81DF-033F24E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10150"/>
            <a:ext cx="5000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Learners face repeated costs.</a:t>
            </a:r>
          </a:p>
        </p:txBody>
      </p:sp>
      <p:sp>
        <p:nvSpPr>
          <p:cNvPr id="27" name="alternative">
            <a:extLst xmlns:a="http://schemas.openxmlformats.org/drawingml/2006/main">
              <a:ext uri="{FF2B5EF4-FFF2-40B4-BE49-F238E27FC236}">
                <a16:creationId xmlns:a16="http://schemas.microsoft.com/office/drawing/2014/main" id="{01B6DF17-0F53-4123-A19F-2BB099D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6007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Free resources reduce costs.</a:t>
            </a:r>
          </a:p>
        </p:txBody>
      </p:sp>
    </p:spTree>
    <p:extLst>
      <p:ext uri="{BB962C8B-B14F-4D97-AF65-F5344CB8AC3E}">
        <p14:creationId xmlns:p14="http://schemas.microsoft.com/office/powerpoint/2010/main" val="8686965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itle">
            <a:extLst xmlns:a="http://schemas.openxmlformats.org/drawingml/2006/main">
              <a:ext uri="{FF2B5EF4-FFF2-40B4-BE49-F238E27FC236}">
                <a16:creationId xmlns:a16="http://schemas.microsoft.com/office/drawing/2014/main" id="{F68F5CC6-B426-4FE9-A0D2-6F22B476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Learners pay beyond fees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FA810A34-3CB2-4186-B8FA-A9958C88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392D0476-0663-4666-A84A-D7EBBAA6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09 / 07</a:t>
            </a:r>
          </a:p>
        </p:txBody>
      </p:sp>
      <p:sp>
        <p:nvSpPr>
          <p:cNvPr id="4" name="row-0">
            <a:extLst xmlns:a="http://schemas.openxmlformats.org/drawingml/2006/main">
              <a:ext uri="{FF2B5EF4-FFF2-40B4-BE49-F238E27FC236}">
                <a16:creationId xmlns:a16="http://schemas.microsoft.com/office/drawing/2014/main" id="{54BAB815-CB6B-4F3E-B3C8-F1AA21E2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534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label-0">
            <a:extLst xmlns:a="http://schemas.openxmlformats.org/drawingml/2006/main">
              <a:ext uri="{FF2B5EF4-FFF2-40B4-BE49-F238E27FC236}">
                <a16:creationId xmlns:a16="http://schemas.microsoft.com/office/drawing/2014/main" id="{C1E4F8AE-0210-4444-9E1A-94D272D9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2000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6" name="k-0">
            <a:extLst xmlns:a="http://schemas.openxmlformats.org/drawingml/2006/main">
              <a:ext uri="{FF2B5EF4-FFF2-40B4-BE49-F238E27FC236}">
                <a16:creationId xmlns:a16="http://schemas.microsoft.com/office/drawing/2014/main" id="{E8A437C7-50DC-4CC8-9B2E-666457BF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TEST FEE</a:t>
            </a:r>
          </a:p>
        </p:txBody>
      </p:sp>
      <p:sp>
        <p:nvSpPr>
          <p:cNvPr id="7" name="v-0">
            <a:extLst xmlns:a="http://schemas.openxmlformats.org/drawingml/2006/main">
              <a:ext uri="{FF2B5EF4-FFF2-40B4-BE49-F238E27FC236}">
                <a16:creationId xmlns:a16="http://schemas.microsoft.com/office/drawing/2014/main" id="{BF7EBE52-01BA-4558-8ADA-76C4E04C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638300"/>
            <a:ext cx="3924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Booking starts costs.</a:t>
            </a:r>
          </a:p>
        </p:txBody>
      </p:sp>
      <p:sp>
        <p:nvSpPr>
          <p:cNvPr id="8" name="row-1">
            <a:extLst xmlns:a="http://schemas.openxmlformats.org/drawingml/2006/main">
              <a:ext uri="{FF2B5EF4-FFF2-40B4-BE49-F238E27FC236}">
                <a16:creationId xmlns:a16="http://schemas.microsoft.com/office/drawing/2014/main" id="{C80504A2-9195-48BD-9874-2CEDBDBA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534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C23FBE90-55D4-4F34-B2F3-89A6BE2F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000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0" name="k-1">
            <a:extLst xmlns:a="http://schemas.openxmlformats.org/drawingml/2006/main">
              <a:ext uri="{FF2B5EF4-FFF2-40B4-BE49-F238E27FC236}">
                <a16:creationId xmlns:a16="http://schemas.microsoft.com/office/drawing/2014/main" id="{9F1991E2-1EFD-4993-93BF-26501532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PREPARATION</a:t>
            </a:r>
          </a:p>
        </p:txBody>
      </p:sp>
      <p:sp>
        <p:nvSpPr>
          <p:cNvPr id="11" name="v-1">
            <a:extLst xmlns:a="http://schemas.openxmlformats.org/drawingml/2006/main">
              <a:ext uri="{FF2B5EF4-FFF2-40B4-BE49-F238E27FC236}">
                <a16:creationId xmlns:a16="http://schemas.microsoft.com/office/drawing/2014/main" id="{3AB05961-A103-4EFB-A2F5-CF8D1D30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3924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Courses add spending.</a:t>
            </a:r>
          </a:p>
        </p:txBody>
      </p:sp>
      <p:sp>
        <p:nvSpPr>
          <p:cNvPr id="12" name="row-2">
            <a:extLst xmlns:a="http://schemas.openxmlformats.org/drawingml/2006/main">
              <a:ext uri="{FF2B5EF4-FFF2-40B4-BE49-F238E27FC236}">
                <a16:creationId xmlns:a16="http://schemas.microsoft.com/office/drawing/2014/main" id="{B30513BE-4EA7-4D1D-BBD5-57B4C59B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6534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3" name="label-2">
            <a:extLst xmlns:a="http://schemas.openxmlformats.org/drawingml/2006/main">
              <a:ext uri="{FF2B5EF4-FFF2-40B4-BE49-F238E27FC236}">
                <a16:creationId xmlns:a16="http://schemas.microsoft.com/office/drawing/2014/main" id="{DA5E3120-401E-4214-96B3-52F52DAB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2000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4" name="k-2">
            <a:extLst xmlns:a="http://schemas.openxmlformats.org/drawingml/2006/main">
              <a:ext uri="{FF2B5EF4-FFF2-40B4-BE49-F238E27FC236}">
                <a16:creationId xmlns:a16="http://schemas.microsoft.com/office/drawing/2014/main" id="{B37F74E6-9486-48C2-8B31-A6C27269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TRAVEL</a:t>
            </a:r>
          </a:p>
        </p:txBody>
      </p:sp>
      <p:sp>
        <p:nvSpPr>
          <p:cNvPr id="15" name="v-2">
            <a:extLst xmlns:a="http://schemas.openxmlformats.org/drawingml/2006/main">
              <a:ext uri="{FF2B5EF4-FFF2-40B4-BE49-F238E27FC236}">
                <a16:creationId xmlns:a16="http://schemas.microsoft.com/office/drawing/2014/main" id="{2784D6FC-DEAB-4B1C-A63E-F7CE56BE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124200"/>
            <a:ext cx="3924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Centres may be distant.</a:t>
            </a:r>
          </a:p>
        </p:txBody>
      </p:sp>
      <p:sp>
        <p:nvSpPr>
          <p:cNvPr id="16" name="row-3">
            <a:extLst xmlns:a="http://schemas.openxmlformats.org/drawingml/2006/main">
              <a:ext uri="{FF2B5EF4-FFF2-40B4-BE49-F238E27FC236}">
                <a16:creationId xmlns:a16="http://schemas.microsoft.com/office/drawing/2014/main" id="{04ED3F75-31D2-4058-ABE2-40BA4115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6534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7" name="label-3">
            <a:extLst xmlns:a="http://schemas.openxmlformats.org/drawingml/2006/main">
              <a:ext uri="{FF2B5EF4-FFF2-40B4-BE49-F238E27FC236}">
                <a16:creationId xmlns:a16="http://schemas.microsoft.com/office/drawing/2014/main" id="{3CDFCC6D-5582-45CA-8691-FB053949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000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1A04B"/>
          </a:solidFill>
          <a:ln xmlns:a="http://schemas.openxmlformats.org/drawingml/2006/main" w="0">
            <a:noFill/>
          </a:ln>
        </p:spPr>
      </p:sp>
      <p:sp>
        <p:nvSpPr>
          <p:cNvPr id="18" name="k-3">
            <a:extLst xmlns:a="http://schemas.openxmlformats.org/drawingml/2006/main">
              <a:ext uri="{FF2B5EF4-FFF2-40B4-BE49-F238E27FC236}">
                <a16:creationId xmlns:a16="http://schemas.microsoft.com/office/drawing/2014/main" id="{592DC2EF-F5B7-4A00-B12A-84B07030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RETAKES</a:t>
            </a:r>
          </a:p>
        </p:txBody>
      </p:sp>
      <p:sp>
        <p:nvSpPr>
          <p:cNvPr id="19" name="v-3">
            <a:extLst xmlns:a="http://schemas.openxmlformats.org/drawingml/2006/main">
              <a:ext uri="{FF2B5EF4-FFF2-40B4-BE49-F238E27FC236}">
                <a16:creationId xmlns:a16="http://schemas.microsoft.com/office/drawing/2014/main" id="{5E565AAF-EC56-4759-AB6C-7DFFBA1A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67150"/>
            <a:ext cx="3924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Failure can repeat costs.</a:t>
            </a:r>
          </a:p>
        </p:txBody>
      </p:sp>
      <p:sp>
        <p:nvSpPr>
          <p:cNvPr id="20" name="row-4">
            <a:extLst xmlns:a="http://schemas.openxmlformats.org/drawingml/2006/main">
              <a:ext uri="{FF2B5EF4-FFF2-40B4-BE49-F238E27FC236}">
                <a16:creationId xmlns:a16="http://schemas.microsoft.com/office/drawing/2014/main" id="{FEC6EC71-7430-45E3-949D-09D2CE5C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65341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21" name="label-4">
            <a:extLst xmlns:a="http://schemas.openxmlformats.org/drawingml/2006/main">
              <a:ext uri="{FF2B5EF4-FFF2-40B4-BE49-F238E27FC236}">
                <a16:creationId xmlns:a16="http://schemas.microsoft.com/office/drawing/2014/main" id="{4AB29ADD-0D28-4502-A755-08F0774C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2000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22" name="k-4">
            <a:extLst xmlns:a="http://schemas.openxmlformats.org/drawingml/2006/main">
              <a:ext uri="{FF2B5EF4-FFF2-40B4-BE49-F238E27FC236}">
                <a16:creationId xmlns:a16="http://schemas.microsoft.com/office/drawing/2014/main" id="{3F14F8C6-54E3-47E8-AD14-87EB9938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TIME</a:t>
            </a:r>
          </a:p>
        </p:txBody>
      </p:sp>
      <p:sp>
        <p:nvSpPr>
          <p:cNvPr id="23" name="v-4">
            <a:extLst xmlns:a="http://schemas.openxmlformats.org/drawingml/2006/main">
              <a:ext uri="{FF2B5EF4-FFF2-40B4-BE49-F238E27FC236}">
                <a16:creationId xmlns:a16="http://schemas.microsoft.com/office/drawing/2014/main" id="{A334103D-E282-4F51-9655-10FF3867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10100"/>
            <a:ext cx="3924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Study replaces paid hours.</a:t>
            </a:r>
          </a:p>
        </p:txBody>
      </p:sp>
      <p:sp>
        <p:nvSpPr>
          <p:cNvPr id="24" name="limit">
            <a:extLst xmlns:a="http://schemas.openxmlformats.org/drawingml/2006/main">
              <a:ext uri="{FF2B5EF4-FFF2-40B4-BE49-F238E27FC236}">
                <a16:creationId xmlns:a16="http://schemas.microsoft.com/office/drawing/2014/main" id="{D7E52B3F-4B78-4504-85C6-8E95F9F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638300"/>
            <a:ext cx="3619500" cy="35433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EEE5D7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25" name="limit-k">
            <a:extLst xmlns:a="http://schemas.openxmlformats.org/drawingml/2006/main">
              <a:ext uri="{FF2B5EF4-FFF2-40B4-BE49-F238E27FC236}">
                <a16:creationId xmlns:a16="http://schemas.microsoft.com/office/drawing/2014/main" id="{DA2BB523-6E7E-4A47-B06A-A5AF2115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33575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WHAT SCORES MISS</a:t>
            </a:r>
          </a:p>
        </p:txBody>
      </p:sp>
      <p:sp>
        <p:nvSpPr>
          <p:cNvPr id="26" name="limit-one">
            <a:extLst xmlns:a="http://schemas.openxmlformats.org/drawingml/2006/main">
              <a:ext uri="{FF2B5EF4-FFF2-40B4-BE49-F238E27FC236}">
                <a16:creationId xmlns:a16="http://schemas.microsoft.com/office/drawing/2014/main" id="{D77C26FF-F59A-4E1B-80B9-7138F1F9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622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Workplace judgment</a:t>
            </a:r>
          </a:p>
        </p:txBody>
      </p:sp>
      <p:sp>
        <p:nvSpPr>
          <p:cNvPr id="27" name="limit-two">
            <a:extLst xmlns:a="http://schemas.openxmlformats.org/drawingml/2006/main">
              <a:ext uri="{FF2B5EF4-FFF2-40B4-BE49-F238E27FC236}">
                <a16:creationId xmlns:a16="http://schemas.microsoft.com/office/drawing/2014/main" id="{27EBC792-32A2-4F7E-8214-2207E36A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861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Specialist vocabulary</a:t>
            </a:r>
          </a:p>
        </p:txBody>
      </p:sp>
      <p:sp>
        <p:nvSpPr>
          <p:cNvPr id="28" name="limit-three">
            <a:extLst xmlns:a="http://schemas.openxmlformats.org/drawingml/2006/main">
              <a:ext uri="{FF2B5EF4-FFF2-40B4-BE49-F238E27FC236}">
                <a16:creationId xmlns:a16="http://schemas.microsoft.com/office/drawing/2014/main" id="{51E41652-3E50-467F-8686-76D7657F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100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Live collaboration</a:t>
            </a:r>
          </a:p>
        </p:txBody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F04E0F1F-5264-47C1-B483-3D308A24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72125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21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Access costs accumulate.</a:t>
            </a:r>
          </a:p>
        </p:txBody>
      </p:sp>
    </p:spTree>
    <p:extLst>
      <p:ext uri="{BB962C8B-B14F-4D97-AF65-F5344CB8AC3E}">
        <p14:creationId xmlns:p14="http://schemas.microsoft.com/office/powerpoint/2010/main" val="15856866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title">
            <a:extLst xmlns:a="http://schemas.openxmlformats.org/drawingml/2006/main">
              <a:ext uri="{FF2B5EF4-FFF2-40B4-BE49-F238E27FC236}">
                <a16:creationId xmlns:a16="http://schemas.microsoft.com/office/drawing/2014/main" id="{7ABA6E92-5915-43F1-99B4-B41F393C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76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34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Evidence supports fairer access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DE8353B0-737A-4248-A614-2FF227E7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819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3" name="series">
            <a:extLst xmlns:a="http://schemas.openxmlformats.org/drawingml/2006/main">
              <a:ext uri="{FF2B5EF4-FFF2-40B4-BE49-F238E27FC236}">
                <a16:creationId xmlns:a16="http://schemas.microsoft.com/office/drawing/2014/main" id="{4CCBF728-997B-4913-A4C2-C0F9ACBF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15075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ENGLISH / 09 / 08</a:t>
            </a:r>
          </a:p>
        </p:txBody>
      </p:sp>
      <p:sp>
        <p:nvSpPr>
          <p:cNvPr id="4" name="col-0">
            <a:extLst xmlns:a="http://schemas.openxmlformats.org/drawingml/2006/main">
              <a:ext uri="{FF2B5EF4-FFF2-40B4-BE49-F238E27FC236}">
                <a16:creationId xmlns:a16="http://schemas.microsoft.com/office/drawing/2014/main" id="{9B09562F-2FB7-430A-AC60-887149E9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333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5" name="head-0">
            <a:extLst xmlns:a="http://schemas.openxmlformats.org/drawingml/2006/main">
              <a:ext uri="{FF2B5EF4-FFF2-40B4-BE49-F238E27FC236}">
                <a16:creationId xmlns:a16="http://schemas.microsoft.com/office/drawing/2014/main" id="{202B3E31-1B93-4334-8382-6B705A12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6" name="k-0">
            <a:extLst xmlns:a="http://schemas.openxmlformats.org/drawingml/2006/main">
              <a:ext uri="{FF2B5EF4-FFF2-40B4-BE49-F238E27FC236}">
                <a16:creationId xmlns:a16="http://schemas.microsoft.com/office/drawing/2014/main" id="{BD10CD09-A757-4424-9AB1-94805D38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EVIDENCE</a:t>
            </a:r>
          </a:p>
        </p:txBody>
      </p:sp>
      <p:sp>
        <p:nvSpPr>
          <p:cNvPr id="7" name="dot-0-0">
            <a:extLst xmlns:a="http://schemas.openxmlformats.org/drawingml/2006/main">
              <a:ext uri="{FF2B5EF4-FFF2-40B4-BE49-F238E27FC236}">
                <a16:creationId xmlns:a16="http://schemas.microsoft.com/office/drawing/2014/main" id="{7375AEC3-FCB9-4373-8D20-C736DABB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8" name="item-0-0">
            <a:extLst xmlns:a="http://schemas.openxmlformats.org/drawingml/2006/main">
              <a:ext uri="{FF2B5EF4-FFF2-40B4-BE49-F238E27FC236}">
                <a16:creationId xmlns:a16="http://schemas.microsoft.com/office/drawing/2014/main" id="{0DCF8C9A-5C22-4260-B7B6-B6E7E483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717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Published requirements</a:t>
            </a:r>
          </a:p>
        </p:txBody>
      </p:sp>
      <p:sp>
        <p:nvSpPr>
          <p:cNvPr id="9" name="dot-0-1">
            <a:extLst xmlns:a="http://schemas.openxmlformats.org/drawingml/2006/main">
              <a:ext uri="{FF2B5EF4-FFF2-40B4-BE49-F238E27FC236}">
                <a16:creationId xmlns:a16="http://schemas.microsoft.com/office/drawing/2014/main" id="{0B4A72DB-D3B6-47AF-97F5-A9849D0A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95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0" name="item-0-1">
            <a:extLst xmlns:a="http://schemas.openxmlformats.org/drawingml/2006/main">
              <a:ext uri="{FF2B5EF4-FFF2-40B4-BE49-F238E27FC236}">
                <a16:creationId xmlns:a16="http://schemas.microsoft.com/office/drawing/2014/main" id="{40D3E362-ECB9-4643-8232-DF47C9A3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Audited income</a:t>
            </a:r>
          </a:p>
        </p:txBody>
      </p:sp>
      <p:sp>
        <p:nvSpPr>
          <p:cNvPr id="11" name="dot-0-2">
            <a:extLst xmlns:a="http://schemas.openxmlformats.org/drawingml/2006/main">
              <a:ext uri="{FF2B5EF4-FFF2-40B4-BE49-F238E27FC236}">
                <a16:creationId xmlns:a16="http://schemas.microsoft.com/office/drawing/2014/main" id="{7A2E30D8-A4A0-4424-B580-A7684DD9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6657"/>
          </a:solidFill>
          <a:ln xmlns:a="http://schemas.openxmlformats.org/drawingml/2006/main" w="0">
            <a:noFill/>
          </a:ln>
        </p:spPr>
      </p:sp>
      <p:sp>
        <p:nvSpPr>
          <p:cNvPr id="12" name="item-0-2">
            <a:extLst xmlns:a="http://schemas.openxmlformats.org/drawingml/2006/main">
              <a:ext uri="{FF2B5EF4-FFF2-40B4-BE49-F238E27FC236}">
                <a16:creationId xmlns:a16="http://schemas.microsoft.com/office/drawing/2014/main" id="{ED15923C-AA09-4758-A32D-C2362354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3377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Peer reviewed studies</a:t>
            </a:r>
          </a:p>
        </p:txBody>
      </p:sp>
      <p:sp>
        <p:nvSpPr>
          <p:cNvPr id="13" name="col-1">
            <a:extLst xmlns:a="http://schemas.openxmlformats.org/drawingml/2006/main">
              <a:ext uri="{FF2B5EF4-FFF2-40B4-BE49-F238E27FC236}">
                <a16:creationId xmlns:a16="http://schemas.microsoft.com/office/drawing/2014/main" id="{9B34B40B-F37D-466A-A21C-6311B31F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95450"/>
            <a:ext cx="3333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14" name="head-1">
            <a:extLst xmlns:a="http://schemas.openxmlformats.org/drawingml/2006/main">
              <a:ext uri="{FF2B5EF4-FFF2-40B4-BE49-F238E27FC236}">
                <a16:creationId xmlns:a16="http://schemas.microsoft.com/office/drawing/2014/main" id="{E20BC90F-F516-4B3D-8788-DAD34FEB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95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5" name="k-1">
            <a:extLst xmlns:a="http://schemas.openxmlformats.org/drawingml/2006/main">
              <a:ext uri="{FF2B5EF4-FFF2-40B4-BE49-F238E27FC236}">
                <a16:creationId xmlns:a16="http://schemas.microsoft.com/office/drawing/2014/main" id="{CB0DB3FF-7A68-416E-A3EC-33324BEC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695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INFERENCE</a:t>
            </a:r>
          </a:p>
        </p:txBody>
      </p:sp>
      <p:sp>
        <p:nvSpPr>
          <p:cNvPr id="16" name="dot-1-0">
            <a:extLst xmlns:a="http://schemas.openxmlformats.org/drawingml/2006/main">
              <a:ext uri="{FF2B5EF4-FFF2-40B4-BE49-F238E27FC236}">
                <a16:creationId xmlns:a16="http://schemas.microsoft.com/office/drawing/2014/main" id="{58C7FAD7-D458-4FE9-B701-F78B0ECF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514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7" name="item-1-0">
            <a:extLst xmlns:a="http://schemas.openxmlformats.org/drawingml/2006/main">
              <a:ext uri="{FF2B5EF4-FFF2-40B4-BE49-F238E27FC236}">
                <a16:creationId xmlns:a16="http://schemas.microsoft.com/office/drawing/2014/main" id="{13F04EC0-FE9A-4571-9879-40252956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3717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Brands reduce uncertainty</a:t>
            </a:r>
          </a:p>
        </p:txBody>
      </p:sp>
      <p:sp>
        <p:nvSpPr>
          <p:cNvPr id="18" name="dot-1-1">
            <a:extLst xmlns:a="http://schemas.openxmlformats.org/drawingml/2006/main">
              <a:ext uri="{FF2B5EF4-FFF2-40B4-BE49-F238E27FC236}">
                <a16:creationId xmlns:a16="http://schemas.microsoft.com/office/drawing/2014/main" id="{0BC7832B-A0D1-4F75-BF59-03AD49A3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95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19" name="item-1-1">
            <a:extLst xmlns:a="http://schemas.openxmlformats.org/drawingml/2006/main">
              <a:ext uri="{FF2B5EF4-FFF2-40B4-BE49-F238E27FC236}">
                <a16:creationId xmlns:a16="http://schemas.microsoft.com/office/drawing/2014/main" id="{C19ABDF0-88B0-4A86-8FE6-4C2A902B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9527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Requirements protect demand</a:t>
            </a:r>
          </a:p>
        </p:txBody>
      </p:sp>
      <p:sp>
        <p:nvSpPr>
          <p:cNvPr id="20" name="dot-1-2">
            <a:extLst xmlns:a="http://schemas.openxmlformats.org/drawingml/2006/main">
              <a:ext uri="{FF2B5EF4-FFF2-40B4-BE49-F238E27FC236}">
                <a16:creationId xmlns:a16="http://schemas.microsoft.com/office/drawing/2014/main" id="{B7EDB4BE-189F-4EF4-A5A0-B0DF0A73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4CB7"/>
          </a:solidFill>
          <a:ln xmlns:a="http://schemas.openxmlformats.org/drawingml/2006/main" w="0">
            <a:noFill/>
          </a:ln>
        </p:spPr>
      </p:sp>
      <p:sp>
        <p:nvSpPr>
          <p:cNvPr id="21" name="item-1-2">
            <a:extLst xmlns:a="http://schemas.openxmlformats.org/drawingml/2006/main">
              <a:ext uri="{FF2B5EF4-FFF2-40B4-BE49-F238E27FC236}">
                <a16:creationId xmlns:a16="http://schemas.microsoft.com/office/drawing/2014/main" id="{D2DA44B4-D11E-4A60-BA54-BC560028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53377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Costs deter learners</a:t>
            </a:r>
          </a:p>
        </p:txBody>
      </p:sp>
      <p:sp>
        <p:nvSpPr>
          <p:cNvPr id="22" name="col-2">
            <a:extLst xmlns:a="http://schemas.openxmlformats.org/drawingml/2006/main">
              <a:ext uri="{FF2B5EF4-FFF2-40B4-BE49-F238E27FC236}">
                <a16:creationId xmlns:a16="http://schemas.microsoft.com/office/drawing/2014/main" id="{DAB7B42A-54F4-43B5-891F-4861E240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333375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CEBE"/>
            </a:solidFill>
          </a:ln>
        </p:spPr>
      </p:sp>
      <p:sp>
        <p:nvSpPr>
          <p:cNvPr id="23" name="head-2">
            <a:extLst xmlns:a="http://schemas.openxmlformats.org/drawingml/2006/main">
              <a:ext uri="{FF2B5EF4-FFF2-40B4-BE49-F238E27FC236}">
                <a16:creationId xmlns:a16="http://schemas.microsoft.com/office/drawing/2014/main" id="{FE174C88-43FA-4BB1-8E12-84B77B42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333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24" name="k-2">
            <a:extLst xmlns:a="http://schemas.openxmlformats.org/drawingml/2006/main">
              <a:ext uri="{FF2B5EF4-FFF2-40B4-BE49-F238E27FC236}">
                <a16:creationId xmlns:a16="http://schemas.microsoft.com/office/drawing/2014/main" id="{30841F68-AC36-4271-BD78-477708F7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UNPROVEN</a:t>
            </a:r>
          </a:p>
        </p:txBody>
      </p:sp>
      <p:sp>
        <p:nvSpPr>
          <p:cNvPr id="25" name="dot-2-0">
            <a:extLst xmlns:a="http://schemas.openxmlformats.org/drawingml/2006/main">
              <a:ext uri="{FF2B5EF4-FFF2-40B4-BE49-F238E27FC236}">
                <a16:creationId xmlns:a16="http://schemas.microsoft.com/office/drawing/2014/main" id="{68B51924-70A1-4EC0-A749-2D68148A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14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26" name="item-2-0">
            <a:extLst xmlns:a="http://schemas.openxmlformats.org/drawingml/2006/main">
              <a:ext uri="{FF2B5EF4-FFF2-40B4-BE49-F238E27FC236}">
                <a16:creationId xmlns:a16="http://schemas.microsoft.com/office/drawing/2014/main" id="{17F24972-4366-41DC-B91F-BE24FC4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7172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Price proves quality</a:t>
            </a:r>
          </a:p>
        </p:txBody>
      </p:sp>
      <p:sp>
        <p:nvSpPr>
          <p:cNvPr id="27" name="dot-2-1">
            <a:extLst xmlns:a="http://schemas.openxmlformats.org/drawingml/2006/main">
              <a:ext uri="{FF2B5EF4-FFF2-40B4-BE49-F238E27FC236}">
                <a16:creationId xmlns:a16="http://schemas.microsoft.com/office/drawing/2014/main" id="{CB61BB29-FB8D-4364-B3D4-A2402C8F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956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28" name="item-2-1">
            <a:extLst xmlns:a="http://schemas.openxmlformats.org/drawingml/2006/main">
              <a:ext uri="{FF2B5EF4-FFF2-40B4-BE49-F238E27FC236}">
                <a16:creationId xmlns:a16="http://schemas.microsoft.com/office/drawing/2014/main" id="{3A1E9976-FED0-47C9-A980-FCC642E1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527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One score proves competence</a:t>
            </a:r>
          </a:p>
        </p:txBody>
      </p:sp>
      <p:sp>
        <p:nvSpPr>
          <p:cNvPr id="29" name="dot-2-2">
            <a:extLst xmlns:a="http://schemas.openxmlformats.org/drawingml/2006/main">
              <a:ext uri="{FF2B5EF4-FFF2-40B4-BE49-F238E27FC236}">
                <a16:creationId xmlns:a16="http://schemas.microsoft.com/office/drawing/2014/main" id="{6E5BB36C-D582-49FA-8E9A-828A26344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482C"/>
          </a:solidFill>
          <a:ln xmlns:a="http://schemas.openxmlformats.org/drawingml/2006/main" w="0">
            <a:noFill/>
          </a:ln>
        </p:spPr>
      </p:sp>
      <p:sp>
        <p:nvSpPr>
          <p:cNvPr id="30" name="item-2-2">
            <a:extLst xmlns:a="http://schemas.openxmlformats.org/drawingml/2006/main">
              <a:ext uri="{FF2B5EF4-FFF2-40B4-BE49-F238E27FC236}">
                <a16:creationId xmlns:a16="http://schemas.microsoft.com/office/drawing/2014/main" id="{7367251C-4BA2-4850-B3EE-22BB5A8E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33775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132331"/>
                </a:solidFill>
                <a:latin typeface="Nimbus Sans"/>
                <a:ea typeface="Nimbus Sans"/>
                <a:cs typeface="Nimbus Sans"/>
              </a:rPr>
              <a:t>Secret control explains growth</a:t>
            </a:r>
          </a:p>
        </p:txBody>
      </p:sp>
      <p:sp>
        <p:nvSpPr>
          <p:cNvPr id="31" name="actions">
            <a:extLst xmlns:a="http://schemas.openxmlformats.org/drawingml/2006/main">
              <a:ext uri="{FF2B5EF4-FFF2-40B4-BE49-F238E27FC236}">
                <a16:creationId xmlns:a16="http://schemas.microsoft.com/office/drawing/2014/main" id="{F8258944-8FDB-436E-959B-D95BC244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06299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E5D7"/>
          </a:solidFill>
          <a:ln xmlns:a="http://schemas.openxmlformats.org/drawingml/2006/main" w="0">
            <a:noFill/>
          </a:ln>
        </p:spPr>
      </p:sp>
      <p:sp>
        <p:nvSpPr>
          <p:cNvPr id="32" name="a1">
            <a:extLst xmlns:a="http://schemas.openxmlformats.org/drawingml/2006/main">
              <a:ext uri="{FF2B5EF4-FFF2-40B4-BE49-F238E27FC236}">
                <a16:creationId xmlns:a16="http://schemas.microsoft.com/office/drawing/2014/main" id="{BA9EA68C-F219-45A7-AE06-F0458681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815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D6657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4D6657"/>
                </a:solidFill>
                <a:latin typeface="Nimbus Sans"/>
                <a:ea typeface="Nimbus Sans"/>
                <a:cs typeface="Nimbus Sans"/>
              </a:rPr>
              <a:t>Publish alternatives.</a:t>
            </a:r>
          </a:p>
        </p:txBody>
      </p:sp>
      <p:sp>
        <p:nvSpPr>
          <p:cNvPr id="33" name="a2">
            <a:extLst xmlns:a="http://schemas.openxmlformats.org/drawingml/2006/main">
              <a:ext uri="{FF2B5EF4-FFF2-40B4-BE49-F238E27FC236}">
                <a16:creationId xmlns:a16="http://schemas.microsoft.com/office/drawing/2014/main" id="{8ECA03A8-EFEF-4564-AEAB-D9816F61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7815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14CB7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214CB7"/>
                </a:solidFill>
                <a:latin typeface="Nimbus Sans"/>
                <a:ea typeface="Nimbus Sans"/>
                <a:cs typeface="Nimbus Sans"/>
              </a:rPr>
              <a:t>Fund fee waivers.</a:t>
            </a:r>
          </a:p>
        </p:txBody>
      </p:sp>
      <p:sp>
        <p:nvSpPr>
          <p:cNvPr id="34" name="a3">
            <a:extLst xmlns:a="http://schemas.openxmlformats.org/drawingml/2006/main">
              <a:ext uri="{FF2B5EF4-FFF2-40B4-BE49-F238E27FC236}">
                <a16:creationId xmlns:a16="http://schemas.microsoft.com/office/drawing/2014/main" id="{4A1A394C-15D7-46FD-A8F9-6657B830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78155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Accept task evidence.</a:t>
            </a:r>
          </a:p>
        </p:txBody>
      </p:sp>
      <p:sp>
        <p:nvSpPr>
          <p:cNvPr id="35" name="a4">
            <a:extLst xmlns:a="http://schemas.openxmlformats.org/drawingml/2006/main">
              <a:ext uri="{FF2B5EF4-FFF2-40B4-BE49-F238E27FC236}">
                <a16:creationId xmlns:a16="http://schemas.microsoft.com/office/drawing/2014/main" id="{9F445718-929B-4B06-B9D3-F2F72305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7815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>
                <a:solidFill>
                  <a:srgbClr val="D1A04B"/>
                </a:solidFill>
                <a:latin typeface="Nimbus Sans"/>
                <a:ea typeface="Nimbus Sans"/>
                <a:cs typeface="Nimbus Sans"/>
              </a:rPr>
              <a:t>Explain score limits.</a:t>
            </a:r>
          </a:p>
        </p:txBody>
      </p:sp>
      <p:sp>
        <p:nvSpPr>
          <p:cNvPr id="36" name="next">
            <a:extLst xmlns:a="http://schemas.openxmlformats.org/drawingml/2006/main">
              <a:ext uri="{FF2B5EF4-FFF2-40B4-BE49-F238E27FC236}">
                <a16:creationId xmlns:a16="http://schemas.microsoft.com/office/drawing/2014/main" id="{2D0516A3-11D4-4754-8FD0-D6D9FA06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29300"/>
            <a:ext cx="1019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1482C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>
                <a:solidFill>
                  <a:srgbClr val="A1482C"/>
                </a:solidFill>
                <a:latin typeface="Nimbus Sans"/>
                <a:ea typeface="Nimbus Sans"/>
                <a:cs typeface="Nimbus Sans"/>
              </a:rPr>
              <a:t>NEXT: Certificates and competence</a:t>
            </a:r>
          </a:p>
        </p:txBody>
      </p:sp>
    </p:spTree>
    <p:extLst>
      <p:ext uri="{BB962C8B-B14F-4D97-AF65-F5344CB8AC3E}">
        <p14:creationId xmlns:p14="http://schemas.microsoft.com/office/powerpoint/2010/main" val="6997530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2026-09-25T01:30:38.2320000Z</dcterms:created>
  <dcterms:modified xsi:type="dcterms:W3CDTF">2026-09-25T01:30:38.2330000Z</dcterms:modified>
</coreProperties>
</file>